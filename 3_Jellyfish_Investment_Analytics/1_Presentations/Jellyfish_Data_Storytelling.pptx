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($M)</c:v>
                </c:pt>
              </c:strCache>
            </c:strRef>
          </c:tx>
          <c:spPr>
            <a:solidFill>
              <a:srgbClr val="1B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F27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146.5</c:v>
                </c:pt>
                <c:pt idx="1">
                  <c:v>175.5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F27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rgbClr val="1B3A5F"/>
            </a:solidFill>
            <a:ln w="50800" cap="flat">
              <a:solidFill>
                <a:srgbClr val="1B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B3A5F"/>
              </a:solidFill>
              <a:ln w="9525" cap="flat">
                <a:solidFill>
                  <a:srgbClr val="1B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119.7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CPM (cost per 1,000 impr.)</c:v>
                </c:pt>
              </c:strCache>
            </c:strRef>
          </c:tx>
          <c:spPr>
            <a:solidFill>
              <a:srgbClr val="F4795B"/>
            </a:solidFill>
            <a:ln w="50800" cap="flat">
              <a:solidFill>
                <a:srgbClr val="F479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4795B"/>
              </a:solidFill>
              <a:ln w="9525" cap="flat">
                <a:solidFill>
                  <a:srgbClr val="F479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119.3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5B6B7F"/>
            </a:solidFill>
            <a:ln w="50800" cap="flat">
              <a:solidFill>
                <a:srgbClr val="5B6B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B6B7F"/>
              </a:solidFill>
              <a:ln w="9525" cap="flat">
                <a:solidFill>
                  <a:srgbClr val="5B6B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100</c:v>
                </c:pt>
                <c:pt idx="1">
                  <c:v>100.4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95"/>
        </c:scaling>
        <c:delete val="0"/>
        <c:axPos val="l"/>
        <c:majorGridlines>
          <c:spPr>
            <a:ln w="6350" cap="flat">
              <a:solidFill>
                <a:srgbClr val="EAEF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2742"/>
              </a:solidFill>
              <a:effectLst/>
            </c:spPr>
          </c:dPt>
          <c:dPt>
            <c:idx val="1"/>
            <c:bubble3D val="0"/>
            <c:spPr>
              <a:solidFill>
                <a:srgbClr val="13B5A6"/>
              </a:solidFill>
              <a:effectLst/>
            </c:spPr>
          </c:dPt>
          <c:dPt>
            <c:idx val="2"/>
            <c:bubble3D val="0"/>
            <c:spPr>
              <a:solidFill>
                <a:srgbClr val="5BA4B8"/>
              </a:solidFill>
              <a:effectLst/>
            </c:spPr>
          </c:dPt>
          <c:dPt>
            <c:idx val="3"/>
            <c:bubble3D val="0"/>
            <c:spPr>
              <a:solidFill>
                <a:srgbClr val="CFE0F0"/>
              </a:solidFill>
              <a:effectLst/>
            </c:spPr>
          </c:dPt>
          <c:dPt>
            <c:idx val="4"/>
            <c:bubble3D val="0"/>
            <c:spPr>
              <a:solidFill>
                <a:srgbClr val="F4795B"/>
              </a:solidFill>
              <a:effectLst/>
            </c:spPr>
          </c:dPt>
          <c:dPt>
            <c:idx val="5"/>
            <c:bubble3D val="0"/>
            <c:spPr>
              <a:solidFill>
                <a:srgbClr val="C9D4D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Meta</c:v>
                </c:pt>
                <c:pt idx="1">
                  <c:v>TikTok</c:v>
                </c:pt>
                <c:pt idx="2">
                  <c:v>Google Ads</c:v>
                </c:pt>
                <c:pt idx="3">
                  <c:v>YouTube</c:v>
                </c:pt>
                <c:pt idx="4">
                  <c:v>DV360</c:v>
                </c:pt>
                <c:pt idx="5">
                  <c:v>Pinterest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45.5</c:v>
                </c:pt>
                <c:pt idx="1">
                  <c:v>22.7</c:v>
                </c:pt>
                <c:pt idx="2">
                  <c:v>17.5</c:v>
                </c:pt>
                <c:pt idx="3">
                  <c:v>11</c:v>
                </c:pt>
                <c:pt idx="4">
                  <c:v>3.4</c:v>
                </c:pt>
                <c:pt idx="5">
                  <c:v>0.02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rgbClr val="13B5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B5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B5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3A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3A5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795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YouTube</c:v>
                  </c:pt>
                  <c:pt idx="1">
                    <c:v>Google Ads</c:v>
                  </c:pt>
                  <c:pt idx="2">
                    <c:v>Meta</c:v>
                  </c:pt>
                  <c:pt idx="3">
                    <c:v>TikTok</c:v>
                  </c:pt>
                  <c:pt idx="4">
                    <c:v>DV360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15.8</c:v>
                </c:pt>
                <c:pt idx="1">
                  <c:v>13.3</c:v>
                </c:pt>
                <c:pt idx="2">
                  <c:v>7.6</c:v>
                </c:pt>
                <c:pt idx="3">
                  <c:v>5.5</c:v>
                </c:pt>
                <c:pt idx="4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JELLYFISH CASE  ·  DATA STORYTELLING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" y="17830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spend. Same reach.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$322M across six digital channels actually bought over two years — and where the next dollar should go.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685800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(assumed): </a:t>
            </a:r>
            <a:pPr indent="0" marL="0">
              <a:buNone/>
            </a:pPr>
            <a:r>
              <a:rPr lang="en-US" sz="13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Health / OTC   |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pPr indent="0" marL="0">
              <a:buNone/>
            </a:pPr>
            <a:r>
              <a:rPr lang="en-US" sz="13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FY2023–FY2024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David Adrián González Molina  ·  Synthetic / demonstration data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one-page read for senior leaders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371600"/>
            <a:ext cx="6583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assignment: a single-page dashboard for CMOs and above — category demand, competitors, and top-level channel performance — built to surface an unexpected pattern worth investigating further. The raw material: 45,567 campaign-day records across six platforms and two years.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2788920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EEF3F8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94436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$322M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96112" y="3611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media spend, 2 yrs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2424" y="2788920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EEF3F8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75304" y="294436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75304" y="3611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in the mix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71616" y="2788920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EEF3F8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294436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~19.9B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54496" y="3611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per year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50808" y="2788920"/>
            <a:ext cx="2542032" cy="1417320"/>
          </a:xfrm>
          <a:prstGeom prst="roundRect">
            <a:avLst>
              <a:gd name="adj" fmla="val 5806"/>
            </a:avLst>
          </a:prstGeom>
          <a:solidFill>
            <a:srgbClr val="EEF3F8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33688" y="294436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45,567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933688" y="3611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campaign-day records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4617720"/>
            <a:ext cx="10744200" cy="1417320"/>
          </a:xfrm>
          <a:prstGeom prst="roundRect">
            <a:avLst>
              <a:gd name="adj" fmla="val 5806"/>
            </a:avLst>
          </a:prstGeom>
          <a:solidFill>
            <a:srgbClr val="0F2742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ON THE TABLE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51206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grew the budget by roughly 20% year-on-year. The obvious belief: more investment, more impact. Is that what the data actually shows?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— THE PLAN WORKED… ON PAPER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grew exactly as designed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+19.7%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749808" y="3154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increase in media spend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$146.5M</a:t>
            </a:r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2023   →   </a:t>
            </a:r>
            <a:pPr indent="0" marL="0">
              <a:buNone/>
            </a:pPr>
            <a:r>
              <a:rPr lang="en-US" sz="17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$175.5M</a:t>
            </a:r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2024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43891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rose across the board. By the only metric most reviews lead with — investment — the program looked like a success.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07492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spend by year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583680" y="2194560"/>
          <a:ext cx="4709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— THE TWIST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 audience never grew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" y="1554480"/>
            <a:ext cx="653796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to 2023 = 100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68680" y="2148840"/>
          <a:ext cx="62636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360920" y="1554480"/>
            <a:ext cx="4114800" cy="4526280"/>
          </a:xfrm>
          <a:prstGeom prst="roundRect">
            <a:avLst>
              <a:gd name="adj" fmla="val 2000"/>
            </a:avLst>
          </a:prstGeom>
          <a:solidFill>
            <a:srgbClr val="0F2742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Impressions: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58952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CPM: </a:t>
            </a:r>
            <a:pPr indent="0" marL="0">
              <a:buNone/>
            </a:pPr>
            <a:r>
              <a:rPr lang="en-US" sz="2000" b="1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+19.3%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589520" y="3337560"/>
            <a:ext cx="365760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35204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20% of budget bought 20% more-expensive impressions — not 20% more audience.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89520" y="5029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CPM rose in lock-step while reach flat-lined. That gap is the whole story.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— FOLLOW THE MONEY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did the $322M go?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" y="1554480"/>
            <a:ext cx="566928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68680" y="178308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Concentration, not balance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7512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channels absorb </a:t>
            </a:r>
            <a:pPr indent="0" marL="0">
              <a:buNone/>
            </a:pPr>
            <a:r>
              <a:rPr lang="en-US" sz="1700" b="1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pPr indent="0" marL="0">
              <a:buNone/>
            </a:pPr>
            <a:r>
              <a:rPr lang="en-US" sz="170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every media dollar: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12280" y="301752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45.5%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— 22.7%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— 17.5%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— 11.0%</a:t>
            </a:r>
            <a:endParaRPr lang="en-US" sz="14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DV360 — 3.4%   ·   Pinterest — &lt;0.1%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75120" y="5303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assumption: the biggest line items must be the best performers. Act 4 tests that.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— THE REVEAL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budget ignores efficiency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26187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is a channel. Left = its rank by spend. Right = its rank by efficiency (value returned per $1). Lines that cross are money in the wrong place.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SPEND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EFFICIENCY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2267712"/>
            <a:ext cx="4754880" cy="1316736"/>
          </a:xfrm>
          <a:prstGeom prst="line">
            <a:avLst/>
          </a:prstGeom>
          <a:noFill/>
          <a:ln w="31750">
            <a:solidFill>
              <a:srgbClr val="F479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2926080"/>
            <a:ext cx="4754880" cy="1316736"/>
          </a:xfrm>
          <a:prstGeom prst="line">
            <a:avLst/>
          </a:prstGeom>
          <a:noFill/>
          <a:ln w="31750">
            <a:solidFill>
              <a:srgbClr val="F479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584448"/>
            <a:ext cx="4754880" cy="-658368"/>
          </a:xfrm>
          <a:prstGeom prst="line">
            <a:avLst/>
          </a:prstGeom>
          <a:noFill/>
          <a:ln w="31750">
            <a:solidFill>
              <a:srgbClr val="13B5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4242816"/>
            <a:ext cx="4754880" cy="-1975104"/>
          </a:xfrm>
          <a:prstGeom prst="line">
            <a:avLst/>
          </a:prstGeom>
          <a:noFill/>
          <a:ln w="31750">
            <a:solidFill>
              <a:srgbClr val="13B5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4901184"/>
            <a:ext cx="4754880" cy="658368"/>
          </a:xfrm>
          <a:prstGeom prst="line">
            <a:avLst/>
          </a:prstGeom>
          <a:noFill/>
          <a:ln w="31750">
            <a:solidFill>
              <a:srgbClr val="F479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5559552"/>
            <a:ext cx="4754880" cy="-658368"/>
          </a:xfrm>
          <a:prstGeom prst="line">
            <a:avLst/>
          </a:prstGeom>
          <a:noFill/>
          <a:ln w="31750">
            <a:solidFill>
              <a:srgbClr val="13B5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48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Meta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962656" y="2185416"/>
            <a:ext cx="164592" cy="164592"/>
          </a:xfrm>
          <a:prstGeom prst="ellipse">
            <a:avLst/>
          </a:prstGeom>
          <a:solidFill>
            <a:srgbClr val="F4795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072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TikTok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962656" y="2843784"/>
            <a:ext cx="164592" cy="164592"/>
          </a:xfrm>
          <a:prstGeom prst="ellipse">
            <a:avLst/>
          </a:prstGeom>
          <a:solidFill>
            <a:srgbClr val="F4795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65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Google Ads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962656" y="3502152"/>
            <a:ext cx="164592" cy="16459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239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YouTube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962656" y="4160520"/>
            <a:ext cx="164592" cy="16459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782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DV360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962656" y="4818888"/>
            <a:ext cx="164592" cy="164592"/>
          </a:xfrm>
          <a:prstGeom prst="ellipse">
            <a:avLst/>
          </a:prstGeom>
          <a:solidFill>
            <a:srgbClr val="F4795B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440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Pinterest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962656" y="5477256"/>
            <a:ext cx="164592" cy="16459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2148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YouTube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54112" y="2185416"/>
            <a:ext cx="164592" cy="16459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2807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Google Ads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754112" y="2843784"/>
            <a:ext cx="164592" cy="16459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34655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Meta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754112" y="3502152"/>
            <a:ext cx="164592" cy="164592"/>
          </a:xfrm>
          <a:prstGeom prst="ellipse">
            <a:avLst/>
          </a:prstGeom>
          <a:solidFill>
            <a:srgbClr val="F4795B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4123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TikTok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754112" y="4160520"/>
            <a:ext cx="164592" cy="164592"/>
          </a:xfrm>
          <a:prstGeom prst="ellipse">
            <a:avLst/>
          </a:prstGeom>
          <a:solidFill>
            <a:srgbClr val="F4795B"/>
          </a:solidFill>
          <a:ln/>
        </p:spPr>
      </p:sp>
      <p:sp>
        <p:nvSpPr>
          <p:cNvPr id="34" name="Text 32"/>
          <p:cNvSpPr/>
          <p:nvPr/>
        </p:nvSpPr>
        <p:spPr>
          <a:xfrm>
            <a:off x="8092440" y="47823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Pinterest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754112" y="4818888"/>
            <a:ext cx="164592" cy="16459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36" name="Text 34"/>
          <p:cNvSpPr/>
          <p:nvPr/>
        </p:nvSpPr>
        <p:spPr>
          <a:xfrm>
            <a:off x="8092440" y="5440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DV360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754112" y="5477256"/>
            <a:ext cx="164592" cy="164592"/>
          </a:xfrm>
          <a:prstGeom prst="ellipse">
            <a:avLst/>
          </a:prstGeom>
          <a:solidFill>
            <a:srgbClr val="F4795B"/>
          </a:solidFill>
          <a:ln/>
        </p:spPr>
      </p:sp>
      <p:sp>
        <p:nvSpPr>
          <p:cNvPr id="38" name="Shape 36"/>
          <p:cNvSpPr/>
          <p:nvPr/>
        </p:nvSpPr>
        <p:spPr>
          <a:xfrm>
            <a:off x="713232" y="5806440"/>
            <a:ext cx="10744200" cy="777240"/>
          </a:xfrm>
          <a:prstGeom prst="roundRect">
            <a:avLst>
              <a:gd name="adj" fmla="val 10588"/>
            </a:avLst>
          </a:prstGeom>
          <a:solidFill>
            <a:srgbClr val="EEF3F8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14400" y="5897880"/>
            <a:ext cx="10424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reveal: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and Google Ads are the most efficient channels but receive only 28% of spend, while Meta and TikTok — the two biggest line items — rank mid and low.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Index = Weighted Score ÷ Spend  (Weighted Score = Clicks×1 + Video Views×0.1 + Engagements×0.5).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 — THE MONEY PIT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DV360: $10.8M in, almost nothing back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479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1.71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749808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index over two years — the lowest of any channel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6118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is getting worse: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47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 in 2024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For every $1 spent on DV360, the program recovered about one unit of weighted value — versus ~16 on YouTube the same year.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52120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$10.8M of media spend sits in the single worst-performing line item — the clearest, fastest place to act.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index by channel — 2024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217920" y="2194560"/>
          <a:ext cx="5074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— SO WHAT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82296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budget. More value.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3258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increase didn't fail because it was too small — it failed because it flowed to the wrong places. None of these moves require a bigger budget.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3232" y="2057400"/>
            <a:ext cx="3474720" cy="384048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2331720"/>
            <a:ext cx="868680" cy="868680"/>
          </a:xfrm>
          <a:prstGeom prst="ellipse">
            <a:avLst/>
          </a:prstGeom>
          <a:solidFill>
            <a:srgbClr val="EEF3F8"/>
          </a:solidFill>
          <a:ln w="19050">
            <a:solidFill>
              <a:srgbClr val="13B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331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87552" y="34290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to proven performers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42519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incremental dollars from low-efficiency line items into YouTube and Google Ads, where each $1 returns ~11–16× the weighted value.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43400" y="2057400"/>
            <a:ext cx="3474720" cy="384048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331720"/>
            <a:ext cx="868680" cy="868680"/>
          </a:xfrm>
          <a:prstGeom prst="ellipse">
            <a:avLst/>
          </a:prstGeom>
          <a:solidFill>
            <a:srgbClr val="EEF3F8"/>
          </a:solidFill>
          <a:ln w="19050">
            <a:solidFill>
              <a:srgbClr val="13B5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331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laggards on a watchlist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42519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efficiency floor. Cut or restructure DV360 (1.71 → 0.91) and pressure-test TikTok's high CPM before renewing always-on budgets.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73568" y="2057400"/>
            <a:ext cx="3474720" cy="384048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47888" y="2331720"/>
            <a:ext cx="868680" cy="868680"/>
          </a:xfrm>
          <a:prstGeom prst="ellipse">
            <a:avLst/>
          </a:prstGeom>
          <a:solidFill>
            <a:srgbClr val="EEF3F8"/>
          </a:solidFill>
          <a:ln w="19050">
            <a:solidFill>
              <a:srgbClr val="13B5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2331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47888" y="34290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CPM, not just spend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47888" y="42519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is flat — the increase is being eaten by rising CPM. Track cost-per-thousand as a first-class KPI, not an afterthought.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FROM BRIEF TO ONE PAGE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04672" y="8686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page built to surface the unexpected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for CMOs and above — category demand, competitive share and top-level channel performance — designed so a pattern like “spend up, reach flat” is obvious in five seconds, with no drill into practitioner-level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1B3A5F"/>
          </a:solidFill>
          <a:ln w="12700">
            <a:solidFill>
              <a:srgbClr val="2A48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2542032"/>
            <a:ext cx="73152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8" name="Text 6"/>
          <p:cNvSpPr/>
          <p:nvPr/>
        </p:nvSpPr>
        <p:spPr>
          <a:xfrm>
            <a:off x="1225296" y="24871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audience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225296" y="2962656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CMO-level. Market demand and competitor share sit beside channel performance, so leaders see the whole picture — not just media metrics in isolation.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1B3A5F"/>
          </a:solidFill>
          <a:ln w="12700">
            <a:solidFill>
              <a:srgbClr val="2A48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37376" y="2542032"/>
            <a:ext cx="73152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2" name="Text 10"/>
          <p:cNvSpPr/>
          <p:nvPr/>
        </p:nvSpPr>
        <p:spPr>
          <a:xfrm>
            <a:off x="6620256" y="24871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620256" y="2962656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Vertical: Consumer Health / OTC. Market demand and competitive share modelled from category benchmarks (flagged as assumptions); channel metrics come from the campaign extract.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16052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1B3A5F"/>
          </a:solidFill>
          <a:ln w="12700">
            <a:solidFill>
              <a:srgbClr val="2A48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" y="4416552"/>
            <a:ext cx="73152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6" name="Text 14"/>
          <p:cNvSpPr/>
          <p:nvPr/>
        </p:nvSpPr>
        <p:spPr>
          <a:xfrm>
            <a:off x="1225296" y="43616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BigQuery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225296" y="4837176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curated view as the single source of truth: additive metrics via COALESCE, ratios via SAFE_DIVIDE, a weighted CPM (Σspend÷Σimpr×1000) and one Efficiency Index.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16052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1B3A5F"/>
          </a:solidFill>
          <a:ln w="12700">
            <a:solidFill>
              <a:srgbClr val="2A48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7376" y="4416552"/>
            <a:ext cx="73152" cy="31089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0" name="Text 18"/>
          <p:cNvSpPr/>
          <p:nvPr/>
        </p:nvSpPr>
        <p:spPr>
          <a:xfrm>
            <a:off x="6620256" y="43616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— Looker Studio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620256" y="4837176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scorecards, a spend-vs-reach trend and channel mix on one canvas, with period and channel filters — tuned for a five-second executive read, not analyst drill-downs.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0533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dashboard delivers exactly what the brief asked for — a top-level view that makes an unexpected, investigate-further pattern obvious to leadership.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795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8745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stopped growing — but the budget didn't notice.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were never hidden — they were just spread across 45,567 rows. The job of analytics is to compress them into a story a CMO can act on in five seconds: spend is up, reach is flat, and the budget is pointed away from the channels that work.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5486400"/>
            <a:ext cx="685800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Jellyfish case · Media Efficiency vs Spend  |  David Adrián González Molina  |  Synthetic / demonstration data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 Efficiency vs Spend — A Data Story (Jellyfish case)</dc:title>
  <dc:subject>PptxGenJS Presentation</dc:subject>
  <dc:creator>David Adrián González Molina</dc:creator>
  <cp:lastModifiedBy>David Adrián González Molina</cp:lastModifiedBy>
  <cp:revision>1</cp:revision>
  <dcterms:created xsi:type="dcterms:W3CDTF">2026-06-03T06:49:11Z</dcterms:created>
  <dcterms:modified xsi:type="dcterms:W3CDTF">2026-06-03T06:49:11Z</dcterms:modified>
</cp:coreProperties>
</file>