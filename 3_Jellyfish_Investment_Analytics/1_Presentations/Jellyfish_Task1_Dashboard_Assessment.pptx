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(indexed)</c:v>
                </c:pt>
              </c:strCache>
            </c:strRef>
          </c:tx>
          <c:spPr>
            <a:solidFill>
              <a:srgbClr val="13B5A6"/>
            </a:solidFill>
            <a:ln w="38100" cap="flat">
              <a:solidFill>
                <a:srgbClr val="13B5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3B5A6"/>
              </a:solidFill>
              <a:ln w="9525" cap="flat">
                <a:solidFill>
                  <a:srgbClr val="13B5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108</c:v>
                </c:pt>
                <c:pt idx="2">
                  <c:v>115</c:v>
                </c:pt>
                <c:pt idx="3">
                  <c:v>124</c:v>
                </c:pt>
                <c:pt idx="4">
                  <c:v>133</c:v>
                </c:pt>
                <c:pt idx="5">
                  <c:v>141</c:v>
                </c:pt>
                <c:pt idx="6">
                  <c:v>150</c:v>
                </c:pt>
                <c:pt idx="7">
                  <c:v>162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Impressions (indexed)</c:v>
                </c:pt>
              </c:strCache>
            </c:strRef>
          </c:tx>
          <c:spPr>
            <a:solidFill>
              <a:srgbClr val="5B6B7F"/>
            </a:solidFill>
            <a:ln w="38100" cap="flat">
              <a:solidFill>
                <a:srgbClr val="5B6B7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B6B7F"/>
              </a:solidFill>
              <a:ln w="9525" cap="flat">
                <a:solidFill>
                  <a:srgbClr val="5B6B7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100</c:v>
                </c:pt>
                <c:pt idx="1">
                  <c:v>101</c:v>
                </c:pt>
                <c:pt idx="2">
                  <c:v>99</c:v>
                </c:pt>
                <c:pt idx="3">
                  <c:v>102</c:v>
                </c:pt>
                <c:pt idx="4">
                  <c:v>100</c:v>
                </c:pt>
                <c:pt idx="5">
                  <c:v>98</c:v>
                </c:pt>
                <c:pt idx="6">
                  <c:v>101</c:v>
                </c:pt>
                <c:pt idx="7">
                  <c:v>99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CPM (indexed)</c:v>
                </c:pt>
              </c:strCache>
            </c:strRef>
          </c:tx>
          <c:spPr>
            <a:solidFill>
              <a:srgbClr val="F4795B"/>
            </a:solidFill>
            <a:ln w="38100" cap="flat">
              <a:solidFill>
                <a:srgbClr val="F479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4795B"/>
              </a:solidFill>
              <a:ln w="9525" cap="flat">
                <a:solidFill>
                  <a:srgbClr val="F479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100</c:v>
                </c:pt>
                <c:pt idx="1">
                  <c:v>107</c:v>
                </c:pt>
                <c:pt idx="2">
                  <c:v>116</c:v>
                </c:pt>
                <c:pt idx="3">
                  <c:v>122</c:v>
                </c:pt>
                <c:pt idx="4">
                  <c:v>133</c:v>
                </c:pt>
                <c:pt idx="5">
                  <c:v>144</c:v>
                </c:pt>
                <c:pt idx="6">
                  <c:v>149</c:v>
                </c:pt>
                <c:pt idx="7">
                  <c:v>164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F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ANALYTICS MANAGER  ·  INTERVIEW ASSESSMENT — TASK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182880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Channel Performance Dashboard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one-page, executive view of market demand, competitive position and channel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— built to surface the unexpected before it costs budget.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5212080"/>
            <a:ext cx="6858000" cy="0"/>
          </a:xfrm>
          <a:prstGeom prst="line">
            <a:avLst/>
          </a:prstGeom>
          <a:noFill/>
          <a:ln w="12700">
            <a:solidFill>
              <a:srgbClr val="3350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</a:t>
            </a:r>
            <a:pPr indent="0" marL="0">
              <a:buNone/>
            </a:pPr>
            <a:r>
              <a:rPr lang="en-US" sz="13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 and above   |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</a:t>
            </a:r>
            <a:pPr indent="0" marL="0">
              <a:buNone/>
            </a:pPr>
            <a:r>
              <a:rPr lang="en-US" sz="13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page   |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(assumed): </a:t>
            </a:r>
            <a:pPr indent="0" marL="0">
              <a:buNone/>
            </a:pPr>
            <a:r>
              <a:rPr lang="en-US" sz="13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Health / OTC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David Adrián González Molina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310896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brief, and how I read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212080" cy="4480560"/>
          </a:xfrm>
          <a:prstGeom prst="roundRect">
            <a:avLst>
              <a:gd name="adj" fmla="val 1837"/>
            </a:avLst>
          </a:prstGeom>
          <a:solidFill>
            <a:srgbClr val="0F2742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54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4617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senior marketers a top-level read of how digital channels are performing — so they can spot a pattern that looks wrong and escalate to the right team or agency.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3246120"/>
            <a:ext cx="4572000" cy="0"/>
          </a:xfrm>
          <a:prstGeom prst="line">
            <a:avLst/>
          </a:prstGeom>
          <a:noFill/>
          <a:ln w="12700">
            <a:solidFill>
              <a:srgbClr val="3350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383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47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CANONICAL RED FLAG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703320"/>
            <a:ext cx="4617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Paid-search spend climbs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impressions, clicks and engagements stay flat.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makes that divergence impossible to miss — without drowning a CMO in granular data.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618488"/>
            <a:ext cx="777240" cy="777240"/>
          </a:xfrm>
          <a:prstGeom prst="ellipse">
            <a:avLst/>
          </a:prstGeom>
          <a:solidFill>
            <a:srgbClr val="EEF3F8"/>
          </a:solidFill>
          <a:ln w="19050">
            <a:solidFill>
              <a:srgbClr val="13B5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61848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B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223760" y="15087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&amp; assume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223760" y="1892808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vertical, market and competitive set as documented assumptions, so the view tells a coherent business story.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0" y="2834640"/>
            <a:ext cx="55778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3127248"/>
            <a:ext cx="777240" cy="777240"/>
          </a:xfrm>
          <a:prstGeom prst="ellipse">
            <a:avLst/>
          </a:prstGeom>
          <a:solidFill>
            <a:srgbClr val="EEF3F8"/>
          </a:solidFill>
          <a:ln w="19050">
            <a:solidFill>
              <a:srgbClr val="13B5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312724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B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223760" y="3017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for signal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223760" y="3401568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45.6K campaign-day rows to a handful of decision metrics: spend, demand, share, CPM and a blended efficiency score.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35040" y="4343400"/>
            <a:ext cx="55778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63640" y="4636008"/>
            <a:ext cx="777240" cy="777240"/>
          </a:xfrm>
          <a:prstGeom prst="ellipse">
            <a:avLst/>
          </a:prstGeom>
          <a:solidFill>
            <a:srgbClr val="EEF3F8"/>
          </a:solidFill>
          <a:ln w="19050">
            <a:solidFill>
              <a:srgbClr val="13B5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463600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B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223760" y="45262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escalation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223760" y="4910328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tile answers “is this normal?” at a glance and links to the granular layer practitioners own.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310896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Documented assumptions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960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extract is channel-level spend and engagement only; everything below is stated so the reader knows what is real data vs. framing.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11880" cy="429768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3611880" cy="640080"/>
          </a:xfrm>
          <a:prstGeom prst="rect">
            <a:avLst/>
          </a:prstGeom>
          <a:solidFill>
            <a:srgbClr val="0F274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002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&amp; vertical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2423160"/>
            <a:ext cx="31546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Health / OTC brand inside a global pharma group (chosen to mirror the H4H / Lilly context).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digital portfolio; no single seasonal spike drives the year.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compete on availability + share of attention, not price.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70832" y="1600200"/>
            <a:ext cx="3611880" cy="429768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70832" y="1600200"/>
            <a:ext cx="3611880" cy="640080"/>
          </a:xfrm>
          <a:prstGeom prst="rect">
            <a:avLst/>
          </a:prstGeom>
          <a:solidFill>
            <a:srgbClr val="0F2742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16002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&amp; market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26864" y="2423160"/>
            <a:ext cx="31546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Category demand are assumptions, proxied by an indexed search-interest trend.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defined competitive set (3–4 named rivals) for share-of-voice / share-of-spend.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FY2023 vs FY2024 so every metric carries a YoY read.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93024" y="1600200"/>
            <a:ext cx="3611880" cy="429768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93024" y="1600200"/>
            <a:ext cx="3611880" cy="640080"/>
          </a:xfrm>
          <a:prstGeom prst="rect">
            <a:avLst/>
          </a:prstGeom>
          <a:solidFill>
            <a:srgbClr val="0F2742"/>
          </a:solidFill>
          <a:ln/>
        </p:spPr>
      </p:sp>
      <p:sp>
        <p:nvSpPr>
          <p:cNvPr id="15" name="Text 13"/>
          <p:cNvSpPr/>
          <p:nvPr/>
        </p:nvSpPr>
        <p:spPr>
          <a:xfrm>
            <a:off x="8421624" y="16002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49056" y="2423160"/>
            <a:ext cx="31546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&amp; delivery: the MKT Digital extract (6 channels, ~45.6K campaign-day rows).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Demand: Google Trends / category panel (assumed feed).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Competitive: Pathmatics / similar SOV estimate (assumed feed).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are synthetic / demonstration data — brands and competitors are illustrative business context only.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310896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One-page wireframe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Target-state design. Tiles marked “roadmap” need external feeds; the delivered MVP covers the channel-performance core. Numbers illustrative.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75320" y="960120"/>
            <a:ext cx="137160" cy="137160"/>
          </a:xfrm>
          <a:prstGeom prst="ellipse">
            <a:avLst/>
          </a:prstGeom>
          <a:solidFill>
            <a:srgbClr val="13B5A6"/>
          </a:solidFill>
          <a:ln/>
        </p:spPr>
      </p:sp>
      <p:sp>
        <p:nvSpPr>
          <p:cNvPr id="6" name="Text 4"/>
          <p:cNvSpPr/>
          <p:nvPr/>
        </p:nvSpPr>
        <p:spPr>
          <a:xfrm>
            <a:off x="8476488" y="8869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MVP dashboard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75320" y="1234440"/>
            <a:ext cx="137160" cy="137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479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76488" y="116128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Target-state (roadmap)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11064240" cy="5074920"/>
          </a:xfrm>
          <a:prstGeom prst="roundRect">
            <a:avLst>
              <a:gd name="adj" fmla="val 1081"/>
            </a:avLst>
          </a:prstGeom>
          <a:solidFill>
            <a:srgbClr val="EEF3F8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solidFill>
            <a:srgbClr val="0F274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3716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Channel Performance  ·  Consumer Health LATAM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0" y="1490472"/>
            <a:ext cx="1143000" cy="274320"/>
          </a:xfrm>
          <a:prstGeom prst="roundRect">
            <a:avLst>
              <a:gd name="adj" fmla="val 13333"/>
            </a:avLst>
          </a:prstGeom>
          <a:solidFill>
            <a:srgbClr val="1B3A5F"/>
          </a:solidFill>
          <a:ln w="9525">
            <a:solidFill>
              <a:srgbClr val="13B5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49047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  ▾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818120" y="1490472"/>
            <a:ext cx="1143000" cy="274320"/>
          </a:xfrm>
          <a:prstGeom prst="roundRect">
            <a:avLst>
              <a:gd name="adj" fmla="val 13333"/>
            </a:avLst>
          </a:prstGeom>
          <a:solidFill>
            <a:srgbClr val="1B3A5F"/>
          </a:solidFill>
          <a:ln w="9525">
            <a:solidFill>
              <a:srgbClr val="13B5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18120" y="149047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 ▾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052560" y="1490472"/>
            <a:ext cx="1143000" cy="274320"/>
          </a:xfrm>
          <a:prstGeom prst="roundRect">
            <a:avLst>
              <a:gd name="adj" fmla="val 13333"/>
            </a:avLst>
          </a:prstGeom>
          <a:solidFill>
            <a:srgbClr val="1B3A5F"/>
          </a:solidFill>
          <a:ln w="9525">
            <a:solidFill>
              <a:srgbClr val="13B5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0" y="149047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 ▾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287000" y="1490472"/>
            <a:ext cx="1143000" cy="274320"/>
          </a:xfrm>
          <a:prstGeom prst="roundRect">
            <a:avLst>
              <a:gd name="adj" fmla="val 13333"/>
            </a:avLst>
          </a:prstGeom>
          <a:solidFill>
            <a:srgbClr val="1B3A5F"/>
          </a:solidFill>
          <a:ln w="9525">
            <a:solidFill>
              <a:srgbClr val="13B5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87000" y="149047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 ▾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2029968"/>
            <a:ext cx="204825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2029968"/>
            <a:ext cx="64008" cy="914400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2121408"/>
            <a:ext cx="1819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77824" y="2304288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$175.5M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96112" y="2706624"/>
            <a:ext cx="1819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19.7% YoY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898648" y="2029968"/>
            <a:ext cx="204825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98648" y="2029968"/>
            <a:ext cx="64008" cy="914400"/>
          </a:xfrm>
          <a:prstGeom prst="rect">
            <a:avLst/>
          </a:prstGeom>
          <a:solidFill>
            <a:srgbClr val="5B6B7F"/>
          </a:solidFill>
          <a:ln/>
        </p:spPr>
      </p:sp>
      <p:sp>
        <p:nvSpPr>
          <p:cNvPr id="27" name="Text 25"/>
          <p:cNvSpPr/>
          <p:nvPr/>
        </p:nvSpPr>
        <p:spPr>
          <a:xfrm>
            <a:off x="3063240" y="2121408"/>
            <a:ext cx="1819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044952" y="2304288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19.9B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063240" y="2706624"/>
            <a:ext cx="1819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0.3% YoY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65776" y="2029968"/>
            <a:ext cx="204825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65776" y="2029968"/>
            <a:ext cx="64008" cy="914400"/>
          </a:xfrm>
          <a:prstGeom prst="rect">
            <a:avLst/>
          </a:prstGeom>
          <a:solidFill>
            <a:srgbClr val="F4795B"/>
          </a:solidFill>
          <a:ln/>
        </p:spPr>
      </p:sp>
      <p:sp>
        <p:nvSpPr>
          <p:cNvPr id="32" name="Text 30"/>
          <p:cNvSpPr/>
          <p:nvPr/>
        </p:nvSpPr>
        <p:spPr>
          <a:xfrm>
            <a:off x="5230368" y="2121408"/>
            <a:ext cx="1819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CPM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212080" y="2304288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$8.8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230368" y="2706624"/>
            <a:ext cx="1819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7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19.3% YoY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232904" y="2029968"/>
            <a:ext cx="204825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32904" y="2029968"/>
            <a:ext cx="64008" cy="914400"/>
          </a:xfrm>
          <a:prstGeom prst="rect">
            <a:avLst/>
          </a:prstGeom>
          <a:solidFill>
            <a:srgbClr val="F4795B"/>
          </a:solidFill>
          <a:ln/>
        </p:spPr>
      </p:sp>
      <p:sp>
        <p:nvSpPr>
          <p:cNvPr id="37" name="Text 35"/>
          <p:cNvSpPr/>
          <p:nvPr/>
        </p:nvSpPr>
        <p:spPr>
          <a:xfrm>
            <a:off x="7397496" y="2121408"/>
            <a:ext cx="1819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RATE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379208" y="2304288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2.4%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397496" y="2706624"/>
            <a:ext cx="1819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7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0.5pp YoY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400032" y="2029968"/>
            <a:ext cx="204825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400032" y="2029968"/>
            <a:ext cx="64008" cy="914400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42" name="Text 40"/>
          <p:cNvSpPr/>
          <p:nvPr/>
        </p:nvSpPr>
        <p:spPr>
          <a:xfrm>
            <a:off x="9564624" y="2121408"/>
            <a:ext cx="1819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INDEX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9546336" y="2304288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8.7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9564624" y="2706624"/>
            <a:ext cx="1819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÷ Spend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31520" y="3081528"/>
            <a:ext cx="3429000" cy="2121408"/>
          </a:xfrm>
          <a:prstGeom prst="roundRect">
            <a:avLst>
              <a:gd name="adj" fmla="val 2155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96112" y="319125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Category Demand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96112" y="3447288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search interest vs. spend · assumption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051560" y="3794760"/>
            <a:ext cx="548640" cy="150876"/>
          </a:xfrm>
          <a:prstGeom prst="line">
            <a:avLst/>
          </a:prstGeom>
          <a:noFill/>
          <a:ln w="25400">
            <a:solidFill>
              <a:srgbClr val="13B5A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600200" y="3945636"/>
            <a:ext cx="548640" cy="-75438"/>
          </a:xfrm>
          <a:prstGeom prst="line">
            <a:avLst/>
          </a:prstGeom>
          <a:noFill/>
          <a:ln w="25400">
            <a:solidFill>
              <a:srgbClr val="13B5A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148840" y="3870198"/>
            <a:ext cx="548640" cy="226314"/>
          </a:xfrm>
          <a:prstGeom prst="line">
            <a:avLst/>
          </a:prstGeom>
          <a:noFill/>
          <a:ln w="25400">
            <a:solidFill>
              <a:srgbClr val="13B5A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697480" y="4096512"/>
            <a:ext cx="548640" cy="-50292"/>
          </a:xfrm>
          <a:prstGeom prst="line">
            <a:avLst/>
          </a:prstGeom>
          <a:noFill/>
          <a:ln w="25400">
            <a:solidFill>
              <a:srgbClr val="13B5A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46120" y="4046220"/>
            <a:ext cx="548640" cy="201168"/>
          </a:xfrm>
          <a:prstGeom prst="line">
            <a:avLst/>
          </a:prstGeom>
          <a:noFill/>
          <a:ln w="25400">
            <a:solidFill>
              <a:srgbClr val="13B5A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51560" y="3995928"/>
            <a:ext cx="548640" cy="-75438"/>
          </a:xfrm>
          <a:prstGeom prst="line">
            <a:avLst/>
          </a:prstGeom>
          <a:noFill/>
          <a:ln w="19050">
            <a:solidFill>
              <a:srgbClr val="5B6B7F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1600200" y="3920490"/>
            <a:ext cx="548640" cy="75438"/>
          </a:xfrm>
          <a:prstGeom prst="line">
            <a:avLst/>
          </a:prstGeom>
          <a:noFill/>
          <a:ln w="19050">
            <a:solidFill>
              <a:srgbClr val="5B6B7F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2148840" y="3995928"/>
            <a:ext cx="548640" cy="-100584"/>
          </a:xfrm>
          <a:prstGeom prst="line">
            <a:avLst/>
          </a:prstGeom>
          <a:noFill/>
          <a:ln w="19050">
            <a:solidFill>
              <a:srgbClr val="5B6B7F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2697480" y="3895344"/>
            <a:ext cx="548640" cy="75438"/>
          </a:xfrm>
          <a:prstGeom prst="line">
            <a:avLst/>
          </a:prstGeom>
          <a:noFill/>
          <a:ln w="19050">
            <a:solidFill>
              <a:srgbClr val="5B6B7F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3246120" y="3970782"/>
            <a:ext cx="548640" cy="-100584"/>
          </a:xfrm>
          <a:prstGeom prst="line">
            <a:avLst/>
          </a:prstGeom>
          <a:noFill/>
          <a:ln w="19050">
            <a:solidFill>
              <a:srgbClr val="5B6B7F"/>
            </a:solidFill>
            <a:prstDash val="dash"/>
          </a:ln>
        </p:spPr>
      </p:sp>
      <p:sp>
        <p:nvSpPr>
          <p:cNvPr id="58" name="Text 56"/>
          <p:cNvSpPr/>
          <p:nvPr/>
        </p:nvSpPr>
        <p:spPr>
          <a:xfrm>
            <a:off x="896112" y="481888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47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softening while spend holds — a margin-risk signal.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297680" y="3081528"/>
            <a:ext cx="3383280" cy="2121408"/>
          </a:xfrm>
          <a:prstGeom prst="roundRect">
            <a:avLst>
              <a:gd name="adj" fmla="val 2155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462272" y="319125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Share of Voice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4462272" y="344728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brand vs. set · assumption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663440" y="4059936"/>
            <a:ext cx="502920" cy="576072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63" name="Text 61"/>
          <p:cNvSpPr/>
          <p:nvPr/>
        </p:nvSpPr>
        <p:spPr>
          <a:xfrm>
            <a:off x="4617720" y="4654296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5413248" y="3899916"/>
            <a:ext cx="502920" cy="736092"/>
          </a:xfrm>
          <a:prstGeom prst="rect">
            <a:avLst/>
          </a:prstGeom>
          <a:solidFill>
            <a:srgbClr val="5B6B7F"/>
          </a:solidFill>
          <a:ln/>
        </p:spPr>
      </p:sp>
      <p:sp>
        <p:nvSpPr>
          <p:cNvPr id="65" name="Text 63"/>
          <p:cNvSpPr/>
          <p:nvPr/>
        </p:nvSpPr>
        <p:spPr>
          <a:xfrm>
            <a:off x="5367528" y="4654296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 A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163056" y="4187952"/>
            <a:ext cx="502920" cy="448056"/>
          </a:xfrm>
          <a:prstGeom prst="rect">
            <a:avLst/>
          </a:prstGeom>
          <a:solidFill>
            <a:srgbClr val="5B6B7F"/>
          </a:solidFill>
          <a:ln/>
        </p:spPr>
      </p:sp>
      <p:sp>
        <p:nvSpPr>
          <p:cNvPr id="67" name="Text 65"/>
          <p:cNvSpPr/>
          <p:nvPr/>
        </p:nvSpPr>
        <p:spPr>
          <a:xfrm>
            <a:off x="6117336" y="4654296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 B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912864" y="4315968"/>
            <a:ext cx="502920" cy="320040"/>
          </a:xfrm>
          <a:prstGeom prst="rect">
            <a:avLst/>
          </a:prstGeom>
          <a:solidFill>
            <a:srgbClr val="5B6B7F"/>
          </a:solidFill>
          <a:ln/>
        </p:spPr>
      </p:sp>
      <p:sp>
        <p:nvSpPr>
          <p:cNvPr id="69" name="Text 67"/>
          <p:cNvSpPr/>
          <p:nvPr/>
        </p:nvSpPr>
        <p:spPr>
          <a:xfrm>
            <a:off x="6867144" y="4654296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 C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7818120" y="3081528"/>
            <a:ext cx="3611880" cy="2121408"/>
          </a:xfrm>
          <a:prstGeom prst="roundRect">
            <a:avLst>
              <a:gd name="adj" fmla="val 2155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982712" y="319125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Performance — Spend vs CPM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7982712" y="3447288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· the core diagnostic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8138160" y="4251960"/>
            <a:ext cx="365760" cy="384048"/>
          </a:xfrm>
          <a:prstGeom prst="rect">
            <a:avLst/>
          </a:prstGeom>
          <a:solidFill>
            <a:srgbClr val="CFE0F0"/>
          </a:solidFill>
          <a:ln/>
        </p:spPr>
      </p:sp>
      <p:sp>
        <p:nvSpPr>
          <p:cNvPr id="74" name="Shape 72"/>
          <p:cNvSpPr/>
          <p:nvPr/>
        </p:nvSpPr>
        <p:spPr>
          <a:xfrm>
            <a:off x="8668512" y="4087368"/>
            <a:ext cx="365760" cy="548640"/>
          </a:xfrm>
          <a:prstGeom prst="rect">
            <a:avLst/>
          </a:prstGeom>
          <a:solidFill>
            <a:srgbClr val="CFE0F0"/>
          </a:solidFill>
          <a:ln/>
        </p:spPr>
      </p:sp>
      <p:sp>
        <p:nvSpPr>
          <p:cNvPr id="75" name="Shape 73"/>
          <p:cNvSpPr/>
          <p:nvPr/>
        </p:nvSpPr>
        <p:spPr>
          <a:xfrm>
            <a:off x="9198864" y="4169664"/>
            <a:ext cx="365760" cy="466344"/>
          </a:xfrm>
          <a:prstGeom prst="rect">
            <a:avLst/>
          </a:prstGeom>
          <a:solidFill>
            <a:srgbClr val="CFE0F0"/>
          </a:solidFill>
          <a:ln/>
        </p:spPr>
      </p:sp>
      <p:sp>
        <p:nvSpPr>
          <p:cNvPr id="76" name="Shape 74"/>
          <p:cNvSpPr/>
          <p:nvPr/>
        </p:nvSpPr>
        <p:spPr>
          <a:xfrm>
            <a:off x="9729216" y="3950208"/>
            <a:ext cx="365760" cy="685800"/>
          </a:xfrm>
          <a:prstGeom prst="rect">
            <a:avLst/>
          </a:prstGeom>
          <a:solidFill>
            <a:srgbClr val="CFE0F0"/>
          </a:solidFill>
          <a:ln/>
        </p:spPr>
      </p:sp>
      <p:sp>
        <p:nvSpPr>
          <p:cNvPr id="77" name="Shape 75"/>
          <p:cNvSpPr/>
          <p:nvPr/>
        </p:nvSpPr>
        <p:spPr>
          <a:xfrm>
            <a:off x="10259568" y="4032504"/>
            <a:ext cx="365760" cy="603504"/>
          </a:xfrm>
          <a:prstGeom prst="rect">
            <a:avLst/>
          </a:prstGeom>
          <a:solidFill>
            <a:srgbClr val="CFE0F0"/>
          </a:solidFill>
          <a:ln/>
        </p:spPr>
      </p:sp>
      <p:sp>
        <p:nvSpPr>
          <p:cNvPr id="78" name="Shape 76"/>
          <p:cNvSpPr/>
          <p:nvPr/>
        </p:nvSpPr>
        <p:spPr>
          <a:xfrm>
            <a:off x="10789920" y="3867912"/>
            <a:ext cx="365760" cy="768096"/>
          </a:xfrm>
          <a:prstGeom prst="rect">
            <a:avLst/>
          </a:prstGeom>
          <a:solidFill>
            <a:srgbClr val="CFE0F0"/>
          </a:solidFill>
          <a:ln/>
        </p:spPr>
      </p:sp>
      <p:sp>
        <p:nvSpPr>
          <p:cNvPr id="79" name="Shape 77"/>
          <p:cNvSpPr/>
          <p:nvPr/>
        </p:nvSpPr>
        <p:spPr>
          <a:xfrm>
            <a:off x="8183880" y="4032504"/>
            <a:ext cx="530352" cy="82296"/>
          </a:xfrm>
          <a:prstGeom prst="line">
            <a:avLst/>
          </a:prstGeom>
          <a:noFill/>
          <a:ln w="25400">
            <a:solidFill>
              <a:srgbClr val="F4795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714232" y="4114800"/>
            <a:ext cx="530352" cy="-27432"/>
          </a:xfrm>
          <a:prstGeom prst="line">
            <a:avLst/>
          </a:prstGeom>
          <a:noFill/>
          <a:ln w="25400">
            <a:solidFill>
              <a:srgbClr val="F4795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244584" y="4087368"/>
            <a:ext cx="530352" cy="164592"/>
          </a:xfrm>
          <a:prstGeom prst="line">
            <a:avLst/>
          </a:prstGeom>
          <a:noFill/>
          <a:ln w="25400">
            <a:solidFill>
              <a:srgbClr val="F4795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774936" y="4251960"/>
            <a:ext cx="530352" cy="-82296"/>
          </a:xfrm>
          <a:prstGeom prst="line">
            <a:avLst/>
          </a:prstGeom>
          <a:noFill/>
          <a:ln w="25400">
            <a:solidFill>
              <a:srgbClr val="F4795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305288" y="4169664"/>
            <a:ext cx="530352" cy="164592"/>
          </a:xfrm>
          <a:prstGeom prst="line">
            <a:avLst/>
          </a:prstGeom>
          <a:noFill/>
          <a:ln w="25400">
            <a:solidFill>
              <a:srgbClr val="F4795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982712" y="4910328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= spend  ·  line = CPM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731520" y="5321808"/>
            <a:ext cx="530352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96112" y="541324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Mix — monthly spend by channel</a:t>
            </a:r>
            <a:endParaRPr lang="en-US" sz="1200" dirty="0"/>
          </a:p>
        </p:txBody>
      </p:sp>
      <p:sp>
        <p:nvSpPr>
          <p:cNvPr id="87" name="Text 85"/>
          <p:cNvSpPr/>
          <p:nvPr/>
        </p:nvSpPr>
        <p:spPr>
          <a:xfrm>
            <a:off x="896112" y="565099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bar · 6 channels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1234440" y="6144768"/>
            <a:ext cx="384048" cy="91440"/>
          </a:xfrm>
          <a:prstGeom prst="rect">
            <a:avLst/>
          </a:prstGeom>
          <a:solidFill>
            <a:srgbClr val="0F2742"/>
          </a:solidFill>
          <a:ln/>
        </p:spPr>
      </p:sp>
      <p:sp>
        <p:nvSpPr>
          <p:cNvPr id="89" name="Shape 87"/>
          <p:cNvSpPr/>
          <p:nvPr/>
        </p:nvSpPr>
        <p:spPr>
          <a:xfrm>
            <a:off x="1234440" y="6067044"/>
            <a:ext cx="384048" cy="77724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90" name="Shape 88"/>
          <p:cNvSpPr/>
          <p:nvPr/>
        </p:nvSpPr>
        <p:spPr>
          <a:xfrm>
            <a:off x="1234440" y="6003036"/>
            <a:ext cx="384048" cy="64008"/>
          </a:xfrm>
          <a:prstGeom prst="rect">
            <a:avLst/>
          </a:prstGeom>
          <a:solidFill>
            <a:srgbClr val="CFE0F0"/>
          </a:solidFill>
          <a:ln/>
        </p:spPr>
      </p:sp>
      <p:sp>
        <p:nvSpPr>
          <p:cNvPr id="91" name="Shape 89"/>
          <p:cNvSpPr/>
          <p:nvPr/>
        </p:nvSpPr>
        <p:spPr>
          <a:xfrm>
            <a:off x="1234440" y="5952744"/>
            <a:ext cx="384048" cy="50292"/>
          </a:xfrm>
          <a:prstGeom prst="rect">
            <a:avLst/>
          </a:prstGeom>
          <a:solidFill>
            <a:srgbClr val="F4795B"/>
          </a:solidFill>
          <a:ln/>
        </p:spPr>
      </p:sp>
      <p:sp>
        <p:nvSpPr>
          <p:cNvPr id="92" name="Shape 90"/>
          <p:cNvSpPr/>
          <p:nvPr/>
        </p:nvSpPr>
        <p:spPr>
          <a:xfrm>
            <a:off x="1234440" y="5916168"/>
            <a:ext cx="384048" cy="36576"/>
          </a:xfrm>
          <a:prstGeom prst="rect">
            <a:avLst/>
          </a:prstGeom>
          <a:solidFill>
            <a:srgbClr val="5B6B7F"/>
          </a:solidFill>
          <a:ln/>
        </p:spPr>
      </p:sp>
      <p:sp>
        <p:nvSpPr>
          <p:cNvPr id="93" name="Shape 91"/>
          <p:cNvSpPr/>
          <p:nvPr/>
        </p:nvSpPr>
        <p:spPr>
          <a:xfrm>
            <a:off x="1234440" y="5888736"/>
            <a:ext cx="384048" cy="27432"/>
          </a:xfrm>
          <a:prstGeom prst="rect">
            <a:avLst/>
          </a:prstGeom>
          <a:solidFill>
            <a:srgbClr val="9FB4C7"/>
          </a:solidFill>
          <a:ln/>
        </p:spPr>
      </p:sp>
      <p:sp>
        <p:nvSpPr>
          <p:cNvPr id="94" name="Shape 92"/>
          <p:cNvSpPr/>
          <p:nvPr/>
        </p:nvSpPr>
        <p:spPr>
          <a:xfrm>
            <a:off x="1801368" y="6144768"/>
            <a:ext cx="384048" cy="91440"/>
          </a:xfrm>
          <a:prstGeom prst="rect">
            <a:avLst/>
          </a:prstGeom>
          <a:solidFill>
            <a:srgbClr val="0F2742"/>
          </a:solidFill>
          <a:ln/>
        </p:spPr>
      </p:sp>
      <p:sp>
        <p:nvSpPr>
          <p:cNvPr id="95" name="Shape 93"/>
          <p:cNvSpPr/>
          <p:nvPr/>
        </p:nvSpPr>
        <p:spPr>
          <a:xfrm>
            <a:off x="1801368" y="6067044"/>
            <a:ext cx="384048" cy="77724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96" name="Shape 94"/>
          <p:cNvSpPr/>
          <p:nvPr/>
        </p:nvSpPr>
        <p:spPr>
          <a:xfrm>
            <a:off x="1801368" y="6003036"/>
            <a:ext cx="384048" cy="64008"/>
          </a:xfrm>
          <a:prstGeom prst="rect">
            <a:avLst/>
          </a:prstGeom>
          <a:solidFill>
            <a:srgbClr val="CFE0F0"/>
          </a:solidFill>
          <a:ln/>
        </p:spPr>
      </p:sp>
      <p:sp>
        <p:nvSpPr>
          <p:cNvPr id="97" name="Shape 95"/>
          <p:cNvSpPr/>
          <p:nvPr/>
        </p:nvSpPr>
        <p:spPr>
          <a:xfrm>
            <a:off x="1801368" y="5952744"/>
            <a:ext cx="384048" cy="50292"/>
          </a:xfrm>
          <a:prstGeom prst="rect">
            <a:avLst/>
          </a:prstGeom>
          <a:solidFill>
            <a:srgbClr val="F4795B"/>
          </a:solidFill>
          <a:ln/>
        </p:spPr>
      </p:sp>
      <p:sp>
        <p:nvSpPr>
          <p:cNvPr id="98" name="Shape 96"/>
          <p:cNvSpPr/>
          <p:nvPr/>
        </p:nvSpPr>
        <p:spPr>
          <a:xfrm>
            <a:off x="1801368" y="5916168"/>
            <a:ext cx="384048" cy="36576"/>
          </a:xfrm>
          <a:prstGeom prst="rect">
            <a:avLst/>
          </a:prstGeom>
          <a:solidFill>
            <a:srgbClr val="5B6B7F"/>
          </a:solidFill>
          <a:ln/>
        </p:spPr>
      </p:sp>
      <p:sp>
        <p:nvSpPr>
          <p:cNvPr id="99" name="Shape 97"/>
          <p:cNvSpPr/>
          <p:nvPr/>
        </p:nvSpPr>
        <p:spPr>
          <a:xfrm>
            <a:off x="1801368" y="5888736"/>
            <a:ext cx="384048" cy="27432"/>
          </a:xfrm>
          <a:prstGeom prst="rect">
            <a:avLst/>
          </a:prstGeom>
          <a:solidFill>
            <a:srgbClr val="9FB4C7"/>
          </a:solidFill>
          <a:ln/>
        </p:spPr>
      </p:sp>
      <p:sp>
        <p:nvSpPr>
          <p:cNvPr id="100" name="Shape 98"/>
          <p:cNvSpPr/>
          <p:nvPr/>
        </p:nvSpPr>
        <p:spPr>
          <a:xfrm>
            <a:off x="2368296" y="6144768"/>
            <a:ext cx="384048" cy="91440"/>
          </a:xfrm>
          <a:prstGeom prst="rect">
            <a:avLst/>
          </a:prstGeom>
          <a:solidFill>
            <a:srgbClr val="0F2742"/>
          </a:solidFill>
          <a:ln/>
        </p:spPr>
      </p:sp>
      <p:sp>
        <p:nvSpPr>
          <p:cNvPr id="101" name="Shape 99"/>
          <p:cNvSpPr/>
          <p:nvPr/>
        </p:nvSpPr>
        <p:spPr>
          <a:xfrm>
            <a:off x="2368296" y="6067044"/>
            <a:ext cx="384048" cy="77724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102" name="Shape 100"/>
          <p:cNvSpPr/>
          <p:nvPr/>
        </p:nvSpPr>
        <p:spPr>
          <a:xfrm>
            <a:off x="2368296" y="6003036"/>
            <a:ext cx="384048" cy="64008"/>
          </a:xfrm>
          <a:prstGeom prst="rect">
            <a:avLst/>
          </a:prstGeom>
          <a:solidFill>
            <a:srgbClr val="CFE0F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2368296" y="5952744"/>
            <a:ext cx="384048" cy="50292"/>
          </a:xfrm>
          <a:prstGeom prst="rect">
            <a:avLst/>
          </a:prstGeom>
          <a:solidFill>
            <a:srgbClr val="F4795B"/>
          </a:solidFill>
          <a:ln/>
        </p:spPr>
      </p:sp>
      <p:sp>
        <p:nvSpPr>
          <p:cNvPr id="104" name="Shape 102"/>
          <p:cNvSpPr/>
          <p:nvPr/>
        </p:nvSpPr>
        <p:spPr>
          <a:xfrm>
            <a:off x="2368296" y="5916168"/>
            <a:ext cx="384048" cy="36576"/>
          </a:xfrm>
          <a:prstGeom prst="rect">
            <a:avLst/>
          </a:prstGeom>
          <a:solidFill>
            <a:srgbClr val="5B6B7F"/>
          </a:solidFill>
          <a:ln/>
        </p:spPr>
      </p:sp>
      <p:sp>
        <p:nvSpPr>
          <p:cNvPr id="105" name="Shape 103"/>
          <p:cNvSpPr/>
          <p:nvPr/>
        </p:nvSpPr>
        <p:spPr>
          <a:xfrm>
            <a:off x="2368296" y="5888736"/>
            <a:ext cx="384048" cy="27432"/>
          </a:xfrm>
          <a:prstGeom prst="rect">
            <a:avLst/>
          </a:prstGeom>
          <a:solidFill>
            <a:srgbClr val="9FB4C7"/>
          </a:solidFill>
          <a:ln/>
        </p:spPr>
      </p:sp>
      <p:sp>
        <p:nvSpPr>
          <p:cNvPr id="106" name="Shape 104"/>
          <p:cNvSpPr/>
          <p:nvPr/>
        </p:nvSpPr>
        <p:spPr>
          <a:xfrm>
            <a:off x="2935224" y="6144768"/>
            <a:ext cx="384048" cy="91440"/>
          </a:xfrm>
          <a:prstGeom prst="rect">
            <a:avLst/>
          </a:prstGeom>
          <a:solidFill>
            <a:srgbClr val="0F2742"/>
          </a:solidFill>
          <a:ln/>
        </p:spPr>
      </p:sp>
      <p:sp>
        <p:nvSpPr>
          <p:cNvPr id="107" name="Shape 105"/>
          <p:cNvSpPr/>
          <p:nvPr/>
        </p:nvSpPr>
        <p:spPr>
          <a:xfrm>
            <a:off x="2935224" y="6067044"/>
            <a:ext cx="384048" cy="77724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108" name="Shape 106"/>
          <p:cNvSpPr/>
          <p:nvPr/>
        </p:nvSpPr>
        <p:spPr>
          <a:xfrm>
            <a:off x="2935224" y="6003036"/>
            <a:ext cx="384048" cy="64008"/>
          </a:xfrm>
          <a:prstGeom prst="rect">
            <a:avLst/>
          </a:prstGeom>
          <a:solidFill>
            <a:srgbClr val="CFE0F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2935224" y="5952744"/>
            <a:ext cx="384048" cy="50292"/>
          </a:xfrm>
          <a:prstGeom prst="rect">
            <a:avLst/>
          </a:prstGeom>
          <a:solidFill>
            <a:srgbClr val="F4795B"/>
          </a:solidFill>
          <a:ln/>
        </p:spPr>
      </p:sp>
      <p:sp>
        <p:nvSpPr>
          <p:cNvPr id="110" name="Shape 108"/>
          <p:cNvSpPr/>
          <p:nvPr/>
        </p:nvSpPr>
        <p:spPr>
          <a:xfrm>
            <a:off x="2935224" y="5916168"/>
            <a:ext cx="384048" cy="36576"/>
          </a:xfrm>
          <a:prstGeom prst="rect">
            <a:avLst/>
          </a:prstGeom>
          <a:solidFill>
            <a:srgbClr val="5B6B7F"/>
          </a:solidFill>
          <a:ln/>
        </p:spPr>
      </p:sp>
      <p:sp>
        <p:nvSpPr>
          <p:cNvPr id="111" name="Shape 109"/>
          <p:cNvSpPr/>
          <p:nvPr/>
        </p:nvSpPr>
        <p:spPr>
          <a:xfrm>
            <a:off x="2935224" y="5888736"/>
            <a:ext cx="384048" cy="27432"/>
          </a:xfrm>
          <a:prstGeom prst="rect">
            <a:avLst/>
          </a:prstGeom>
          <a:solidFill>
            <a:srgbClr val="9FB4C7"/>
          </a:solidFill>
          <a:ln/>
        </p:spPr>
      </p:sp>
      <p:sp>
        <p:nvSpPr>
          <p:cNvPr id="112" name="Shape 110"/>
          <p:cNvSpPr/>
          <p:nvPr/>
        </p:nvSpPr>
        <p:spPr>
          <a:xfrm>
            <a:off x="3502152" y="6144768"/>
            <a:ext cx="384048" cy="91440"/>
          </a:xfrm>
          <a:prstGeom prst="rect">
            <a:avLst/>
          </a:prstGeom>
          <a:solidFill>
            <a:srgbClr val="0F2742"/>
          </a:solidFill>
          <a:ln/>
        </p:spPr>
      </p:sp>
      <p:sp>
        <p:nvSpPr>
          <p:cNvPr id="113" name="Shape 111"/>
          <p:cNvSpPr/>
          <p:nvPr/>
        </p:nvSpPr>
        <p:spPr>
          <a:xfrm>
            <a:off x="3502152" y="6067044"/>
            <a:ext cx="384048" cy="77724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114" name="Shape 112"/>
          <p:cNvSpPr/>
          <p:nvPr/>
        </p:nvSpPr>
        <p:spPr>
          <a:xfrm>
            <a:off x="3502152" y="6003036"/>
            <a:ext cx="384048" cy="64008"/>
          </a:xfrm>
          <a:prstGeom prst="rect">
            <a:avLst/>
          </a:prstGeom>
          <a:solidFill>
            <a:srgbClr val="CFE0F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3502152" y="5952744"/>
            <a:ext cx="384048" cy="50292"/>
          </a:xfrm>
          <a:prstGeom prst="rect">
            <a:avLst/>
          </a:prstGeom>
          <a:solidFill>
            <a:srgbClr val="F4795B"/>
          </a:solidFill>
          <a:ln/>
        </p:spPr>
      </p:sp>
      <p:sp>
        <p:nvSpPr>
          <p:cNvPr id="116" name="Shape 114"/>
          <p:cNvSpPr/>
          <p:nvPr/>
        </p:nvSpPr>
        <p:spPr>
          <a:xfrm>
            <a:off x="3502152" y="5916168"/>
            <a:ext cx="384048" cy="36576"/>
          </a:xfrm>
          <a:prstGeom prst="rect">
            <a:avLst/>
          </a:prstGeom>
          <a:solidFill>
            <a:srgbClr val="5B6B7F"/>
          </a:solidFill>
          <a:ln/>
        </p:spPr>
      </p:sp>
      <p:sp>
        <p:nvSpPr>
          <p:cNvPr id="117" name="Shape 115"/>
          <p:cNvSpPr/>
          <p:nvPr/>
        </p:nvSpPr>
        <p:spPr>
          <a:xfrm>
            <a:off x="3502152" y="5888736"/>
            <a:ext cx="384048" cy="27432"/>
          </a:xfrm>
          <a:prstGeom prst="rect">
            <a:avLst/>
          </a:prstGeom>
          <a:solidFill>
            <a:srgbClr val="9FB4C7"/>
          </a:solidFill>
          <a:ln/>
        </p:spPr>
      </p:sp>
      <p:sp>
        <p:nvSpPr>
          <p:cNvPr id="118" name="Shape 116"/>
          <p:cNvSpPr/>
          <p:nvPr/>
        </p:nvSpPr>
        <p:spPr>
          <a:xfrm>
            <a:off x="4069080" y="6144768"/>
            <a:ext cx="384048" cy="91440"/>
          </a:xfrm>
          <a:prstGeom prst="rect">
            <a:avLst/>
          </a:prstGeom>
          <a:solidFill>
            <a:srgbClr val="0F2742"/>
          </a:solidFill>
          <a:ln/>
        </p:spPr>
      </p:sp>
      <p:sp>
        <p:nvSpPr>
          <p:cNvPr id="119" name="Shape 117"/>
          <p:cNvSpPr/>
          <p:nvPr/>
        </p:nvSpPr>
        <p:spPr>
          <a:xfrm>
            <a:off x="4069080" y="6067044"/>
            <a:ext cx="384048" cy="77724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120" name="Shape 118"/>
          <p:cNvSpPr/>
          <p:nvPr/>
        </p:nvSpPr>
        <p:spPr>
          <a:xfrm>
            <a:off x="4069080" y="6003036"/>
            <a:ext cx="384048" cy="64008"/>
          </a:xfrm>
          <a:prstGeom prst="rect">
            <a:avLst/>
          </a:prstGeom>
          <a:solidFill>
            <a:srgbClr val="CFE0F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4069080" y="5952744"/>
            <a:ext cx="384048" cy="50292"/>
          </a:xfrm>
          <a:prstGeom prst="rect">
            <a:avLst/>
          </a:prstGeom>
          <a:solidFill>
            <a:srgbClr val="F4795B"/>
          </a:solidFill>
          <a:ln/>
        </p:spPr>
      </p:sp>
      <p:sp>
        <p:nvSpPr>
          <p:cNvPr id="122" name="Shape 120"/>
          <p:cNvSpPr/>
          <p:nvPr/>
        </p:nvSpPr>
        <p:spPr>
          <a:xfrm>
            <a:off x="4069080" y="5916168"/>
            <a:ext cx="384048" cy="36576"/>
          </a:xfrm>
          <a:prstGeom prst="rect">
            <a:avLst/>
          </a:prstGeom>
          <a:solidFill>
            <a:srgbClr val="5B6B7F"/>
          </a:solidFill>
          <a:ln/>
        </p:spPr>
      </p:sp>
      <p:sp>
        <p:nvSpPr>
          <p:cNvPr id="123" name="Shape 121"/>
          <p:cNvSpPr/>
          <p:nvPr/>
        </p:nvSpPr>
        <p:spPr>
          <a:xfrm>
            <a:off x="4069080" y="5888736"/>
            <a:ext cx="384048" cy="27432"/>
          </a:xfrm>
          <a:prstGeom prst="rect">
            <a:avLst/>
          </a:prstGeom>
          <a:solidFill>
            <a:srgbClr val="9FB4C7"/>
          </a:solidFill>
          <a:ln/>
        </p:spPr>
      </p:sp>
      <p:sp>
        <p:nvSpPr>
          <p:cNvPr id="124" name="Shape 122"/>
          <p:cNvSpPr/>
          <p:nvPr/>
        </p:nvSpPr>
        <p:spPr>
          <a:xfrm>
            <a:off x="4636008" y="6144768"/>
            <a:ext cx="384048" cy="91440"/>
          </a:xfrm>
          <a:prstGeom prst="rect">
            <a:avLst/>
          </a:prstGeom>
          <a:solidFill>
            <a:srgbClr val="0F2742"/>
          </a:solidFill>
          <a:ln/>
        </p:spPr>
      </p:sp>
      <p:sp>
        <p:nvSpPr>
          <p:cNvPr id="125" name="Shape 123"/>
          <p:cNvSpPr/>
          <p:nvPr/>
        </p:nvSpPr>
        <p:spPr>
          <a:xfrm>
            <a:off x="4636008" y="6067044"/>
            <a:ext cx="384048" cy="77724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126" name="Shape 124"/>
          <p:cNvSpPr/>
          <p:nvPr/>
        </p:nvSpPr>
        <p:spPr>
          <a:xfrm>
            <a:off x="4636008" y="6003036"/>
            <a:ext cx="384048" cy="64008"/>
          </a:xfrm>
          <a:prstGeom prst="rect">
            <a:avLst/>
          </a:prstGeom>
          <a:solidFill>
            <a:srgbClr val="CFE0F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4636008" y="5952744"/>
            <a:ext cx="384048" cy="50292"/>
          </a:xfrm>
          <a:prstGeom prst="rect">
            <a:avLst/>
          </a:prstGeom>
          <a:solidFill>
            <a:srgbClr val="F4795B"/>
          </a:solidFill>
          <a:ln/>
        </p:spPr>
      </p:sp>
      <p:sp>
        <p:nvSpPr>
          <p:cNvPr id="128" name="Shape 126"/>
          <p:cNvSpPr/>
          <p:nvPr/>
        </p:nvSpPr>
        <p:spPr>
          <a:xfrm>
            <a:off x="4636008" y="5916168"/>
            <a:ext cx="384048" cy="36576"/>
          </a:xfrm>
          <a:prstGeom prst="rect">
            <a:avLst/>
          </a:prstGeom>
          <a:solidFill>
            <a:srgbClr val="5B6B7F"/>
          </a:solidFill>
          <a:ln/>
        </p:spPr>
      </p:sp>
      <p:sp>
        <p:nvSpPr>
          <p:cNvPr id="129" name="Shape 127"/>
          <p:cNvSpPr/>
          <p:nvPr/>
        </p:nvSpPr>
        <p:spPr>
          <a:xfrm>
            <a:off x="4636008" y="5888736"/>
            <a:ext cx="384048" cy="27432"/>
          </a:xfrm>
          <a:prstGeom prst="rect">
            <a:avLst/>
          </a:prstGeom>
          <a:solidFill>
            <a:srgbClr val="9FB4C7"/>
          </a:solidFill>
          <a:ln/>
        </p:spPr>
      </p:sp>
      <p:sp>
        <p:nvSpPr>
          <p:cNvPr id="130" name="Shape 128"/>
          <p:cNvSpPr/>
          <p:nvPr/>
        </p:nvSpPr>
        <p:spPr>
          <a:xfrm>
            <a:off x="5202936" y="6144768"/>
            <a:ext cx="384048" cy="91440"/>
          </a:xfrm>
          <a:prstGeom prst="rect">
            <a:avLst/>
          </a:prstGeom>
          <a:solidFill>
            <a:srgbClr val="0F2742"/>
          </a:solidFill>
          <a:ln/>
        </p:spPr>
      </p:sp>
      <p:sp>
        <p:nvSpPr>
          <p:cNvPr id="131" name="Shape 129"/>
          <p:cNvSpPr/>
          <p:nvPr/>
        </p:nvSpPr>
        <p:spPr>
          <a:xfrm>
            <a:off x="5202936" y="6067044"/>
            <a:ext cx="384048" cy="77724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132" name="Shape 130"/>
          <p:cNvSpPr/>
          <p:nvPr/>
        </p:nvSpPr>
        <p:spPr>
          <a:xfrm>
            <a:off x="5202936" y="6003036"/>
            <a:ext cx="384048" cy="64008"/>
          </a:xfrm>
          <a:prstGeom prst="rect">
            <a:avLst/>
          </a:prstGeom>
          <a:solidFill>
            <a:srgbClr val="CFE0F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5202936" y="5952744"/>
            <a:ext cx="384048" cy="50292"/>
          </a:xfrm>
          <a:prstGeom prst="rect">
            <a:avLst/>
          </a:prstGeom>
          <a:solidFill>
            <a:srgbClr val="F4795B"/>
          </a:solidFill>
          <a:ln/>
        </p:spPr>
      </p:sp>
      <p:sp>
        <p:nvSpPr>
          <p:cNvPr id="134" name="Shape 132"/>
          <p:cNvSpPr/>
          <p:nvPr/>
        </p:nvSpPr>
        <p:spPr>
          <a:xfrm>
            <a:off x="5202936" y="5916168"/>
            <a:ext cx="384048" cy="36576"/>
          </a:xfrm>
          <a:prstGeom prst="rect">
            <a:avLst/>
          </a:prstGeom>
          <a:solidFill>
            <a:srgbClr val="5B6B7F"/>
          </a:solidFill>
          <a:ln/>
        </p:spPr>
      </p:sp>
      <p:sp>
        <p:nvSpPr>
          <p:cNvPr id="135" name="Shape 133"/>
          <p:cNvSpPr/>
          <p:nvPr/>
        </p:nvSpPr>
        <p:spPr>
          <a:xfrm>
            <a:off x="5202936" y="5888736"/>
            <a:ext cx="384048" cy="27432"/>
          </a:xfrm>
          <a:prstGeom prst="rect">
            <a:avLst/>
          </a:prstGeom>
          <a:solidFill>
            <a:srgbClr val="9FB4C7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172200" y="5321808"/>
            <a:ext cx="525780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6336792" y="5413248"/>
            <a:ext cx="4983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— Spend vs Weighted Score</a:t>
            </a:r>
            <a:endParaRPr lang="en-US" sz="1200" dirty="0"/>
          </a:p>
        </p:txBody>
      </p:sp>
      <p:sp>
        <p:nvSpPr>
          <p:cNvPr id="138" name="Text 136"/>
          <p:cNvSpPr/>
          <p:nvPr/>
        </p:nvSpPr>
        <p:spPr>
          <a:xfrm>
            <a:off x="6336792" y="5650992"/>
            <a:ext cx="4983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= channel · size = spend</a:t>
            </a:r>
            <a:endParaRPr lang="en-US" sz="900" dirty="0"/>
          </a:p>
        </p:txBody>
      </p:sp>
      <p:sp>
        <p:nvSpPr>
          <p:cNvPr id="139" name="Shape 137"/>
          <p:cNvSpPr/>
          <p:nvPr/>
        </p:nvSpPr>
        <p:spPr>
          <a:xfrm>
            <a:off x="7132320" y="5772150"/>
            <a:ext cx="237744" cy="237744"/>
          </a:xfrm>
          <a:prstGeom prst="ellipse">
            <a:avLst/>
          </a:prstGeom>
          <a:solidFill>
            <a:srgbClr val="13B5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7863840" y="5873191"/>
            <a:ext cx="310896" cy="310896"/>
          </a:xfrm>
          <a:prstGeom prst="ellipse">
            <a:avLst/>
          </a:prstGeom>
          <a:solidFill>
            <a:srgbClr val="0F27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595360" y="5717743"/>
            <a:ext cx="164592" cy="164592"/>
          </a:xfrm>
          <a:prstGeom prst="ellipse">
            <a:avLst/>
          </a:prstGeom>
          <a:solidFill>
            <a:srgbClr val="F479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9326880" y="5966460"/>
            <a:ext cx="201168" cy="201168"/>
          </a:xfrm>
          <a:prstGeom prst="ellipse">
            <a:avLst/>
          </a:prstGeom>
          <a:solidFill>
            <a:srgbClr val="5B6B7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9966960" y="5811012"/>
            <a:ext cx="137160" cy="137160"/>
          </a:xfrm>
          <a:prstGeom prst="ellipse">
            <a:avLst/>
          </a:prstGeom>
          <a:solidFill>
            <a:srgbClr val="CFE0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0607040" y="5904281"/>
            <a:ext cx="182880" cy="182880"/>
          </a:xfrm>
          <a:prstGeom prst="ellipse">
            <a:avLst/>
          </a:prstGeom>
          <a:solidFill>
            <a:srgbClr val="9FB4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3227832" y="3218688"/>
            <a:ext cx="128016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4795B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3392424" y="3163824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47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850" dirty="0"/>
          </a:p>
        </p:txBody>
      </p:sp>
      <p:sp>
        <p:nvSpPr>
          <p:cNvPr id="147" name="Shape 145"/>
          <p:cNvSpPr/>
          <p:nvPr/>
        </p:nvSpPr>
        <p:spPr>
          <a:xfrm>
            <a:off x="6748272" y="3218688"/>
            <a:ext cx="128016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4795B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6912864" y="3163824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47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310896"/>
          </a:xfrm>
          <a:prstGeom prst="rect">
            <a:avLst/>
          </a:prstGeom>
          <a:solidFill>
            <a:srgbClr val="F4795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to surface the unexpected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9601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dashboard's job is one sentence: make a CMO ask the right question. Here is the canonical pattern it exposes.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58368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73736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 — Spend rising, output flat</a:t>
            </a:r>
            <a:endParaRPr lang="en-US" sz="1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31520" y="2194560"/>
          <a:ext cx="62636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360920" y="1554480"/>
            <a:ext cx="4251960" cy="4434840"/>
          </a:xfrm>
          <a:prstGeom prst="roundRect">
            <a:avLst>
              <a:gd name="adj" fmla="val 1935"/>
            </a:avLst>
          </a:prstGeom>
          <a:solidFill>
            <a:srgbClr val="0F2742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0" y="1783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CMO SEES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589520" y="214884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+62%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 the period, but </a:t>
            </a:r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47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 are flat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 CPM has climbed in lock-step.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589520" y="3246120"/>
            <a:ext cx="3749040" cy="0"/>
          </a:xfrm>
          <a:prstGeom prst="line">
            <a:avLst/>
          </a:prstGeom>
          <a:noFill/>
          <a:ln w="12700">
            <a:solidFill>
              <a:srgbClr val="3350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89520" y="3383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IT TRIGGERS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589520" y="3703320"/>
            <a:ext cx="3794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are we paying more for the same reach?”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 pressure? Audience saturation? A tracking break? The CMO escalates to the search team with evidence, not a hunch.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589520" y="548640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granular tables needed at this level — just the signal to dig.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310896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plan — technology &amp;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9601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cloud-native ELT pipeline feeding a governed semantic layer. Same pattern scales from this brief to enterprise reporting.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121408" cy="1554480"/>
          </a:xfrm>
          <a:prstGeom prst="roundRect">
            <a:avLst>
              <a:gd name="adj" fmla="val 3529"/>
            </a:avLst>
          </a:prstGeom>
          <a:solidFill>
            <a:srgbClr val="CFE0F0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1810512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2240280"/>
            <a:ext cx="1901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APIs, demand panel,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SOV feed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51760" y="1645920"/>
            <a:ext cx="2560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34640" y="1645920"/>
            <a:ext cx="2121408" cy="1554480"/>
          </a:xfrm>
          <a:prstGeom prst="roundRect">
            <a:avLst>
              <a:gd name="adj" fmla="val 3529"/>
            </a:avLst>
          </a:prstGeom>
          <a:solidFill>
            <a:srgbClr val="EEF3F8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44368" y="1810512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/ BRONZE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944368" y="2240280"/>
            <a:ext cx="1901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load to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(US)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2560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120640" y="1645920"/>
            <a:ext cx="2121408" cy="1554480"/>
          </a:xfrm>
          <a:prstGeom prst="roundRect">
            <a:avLst>
              <a:gd name="adj" fmla="val 3529"/>
            </a:avLst>
          </a:prstGeom>
          <a:solidFill>
            <a:srgbClr val="EEF3F8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30368" y="1810512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/ SILVER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230368" y="2240280"/>
            <a:ext cx="1901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dbt: clean, COALESCE,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SAFE_DIVIDE, conform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23760" y="1645920"/>
            <a:ext cx="2560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406640" y="1645920"/>
            <a:ext cx="2121408" cy="1554480"/>
          </a:xfrm>
          <a:prstGeom prst="roundRect">
            <a:avLst>
              <a:gd name="adj" fmla="val 3529"/>
            </a:avLst>
          </a:prstGeom>
          <a:solidFill>
            <a:srgbClr val="0F2742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16368" y="1810512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/ GOLD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516368" y="2240280"/>
            <a:ext cx="1901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+ metrics: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Score, CPM, Efficiency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509760" y="1645920"/>
            <a:ext cx="2560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692640" y="1645920"/>
            <a:ext cx="2121408" cy="1554480"/>
          </a:xfrm>
          <a:prstGeom prst="roundRect">
            <a:avLst>
              <a:gd name="adj" fmla="val 3529"/>
            </a:avLst>
          </a:prstGeom>
          <a:solidFill>
            <a:srgbClr val="13B5A6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802368" y="1810512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802368" y="2240280"/>
            <a:ext cx="1901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 Studio (live)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1-page exec view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611880"/>
            <a:ext cx="361188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" y="3794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4069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BigQuery + dbt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77240" y="4572000"/>
            <a:ext cx="32004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warehouse handles the volume cheaply; dbt gives version-controlled, testable transforms. Cost discipline via early filtering, partitioning, SAFE_DIVIDE. Directly transferable to Athena / Redshift.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70832" y="3611880"/>
            <a:ext cx="361188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99432" y="3794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99432" y="4069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Looker Studio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599432" y="4572000"/>
            <a:ext cx="32004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live BigQuery connection, fast for a single governed page. Power BI is the swap-in if the client standardizes on Microsoft — same model underneath.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93024" y="3611880"/>
            <a:ext cx="361188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421624" y="3794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421624" y="4069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Semantic layer + RLS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421624" y="4572000"/>
            <a:ext cx="32004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certified metric definition (no “whose number is right?”), row-level security by market, refresh monitoring on the Gold layer.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" cy="310896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 plan — tasks, owners, timeline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9601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a four-week build to a signed-off v1, then iterate. R = responsible, A = accountable, C = consulted.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38428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4526280"/>
                <a:gridCol w="1600200"/>
                <a:gridCol w="1325880"/>
                <a:gridCol w="16002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tasks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Analyst /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 / Viz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lead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(CMO org)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1 — Discover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assumptions, KPI definitions, access to feeds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47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1–2 — Prepare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 to BigQuery, dbt models, data-quality audit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47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/ 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2–3 —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 schema, Weighted Score / CPM / Efficiency metrics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47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/ 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3–4 — Visualize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the 1-page view, filters, conditional alerts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47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/ 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4 — Validate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UAT, number reconciliation, governance sign-off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3B5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3B5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47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Refresh monitoring, enhancement backlog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3B5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98932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 runs through data preparation — if the feeds are clean and conformed early, the visual layer is quick.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795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 &amp; mitigations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9875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kind of build goes wrong, and how the plan absorbs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3232" y="1508760"/>
            <a:ext cx="10835640" cy="914400"/>
          </a:xfrm>
          <a:prstGeom prst="roundRect">
            <a:avLst>
              <a:gd name="adj" fmla="val 5000"/>
            </a:avLst>
          </a:prstGeom>
          <a:solidFill>
            <a:srgbClr val="1B3A5F"/>
          </a:solidFill>
          <a:ln w="12700">
            <a:solidFill>
              <a:srgbClr val="2A48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508760"/>
            <a:ext cx="73152" cy="914400"/>
          </a:xfrm>
          <a:prstGeom prst="rect">
            <a:avLst/>
          </a:prstGeom>
          <a:solidFill>
            <a:srgbClr val="F4795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18488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gaps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794760" y="1618488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 in engagement metrics skew sums and ratios.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178040" y="160020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E7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COALESCE additive metrics to 0; SAFE_DIVIDE on every rate; an automated audit flags anomalous rows before they reach the dashboard.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3232" y="2496312"/>
            <a:ext cx="10835640" cy="914400"/>
          </a:xfrm>
          <a:prstGeom prst="roundRect">
            <a:avLst>
              <a:gd name="adj" fmla="val 5000"/>
            </a:avLst>
          </a:prstGeom>
          <a:solidFill>
            <a:srgbClr val="1B3A5F"/>
          </a:solidFill>
          <a:ln w="12700">
            <a:solidFill>
              <a:srgbClr val="2A48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2496312"/>
            <a:ext cx="73152" cy="914400"/>
          </a:xfrm>
          <a:prstGeom prst="rect">
            <a:avLst/>
          </a:prstGeom>
          <a:solidFill>
            <a:srgbClr val="F4795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6060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 feeds slip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794760" y="26060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and competitive SOV are external, assumed sources.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178040" y="2587752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E7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them as clearly-labelled assumption tiles; design degrades gracefully if a feed is missing rather than breaking the page.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3232" y="3483864"/>
            <a:ext cx="10835640" cy="914400"/>
          </a:xfrm>
          <a:prstGeom prst="roundRect">
            <a:avLst>
              <a:gd name="adj" fmla="val 5000"/>
            </a:avLst>
          </a:prstGeom>
          <a:solidFill>
            <a:srgbClr val="1B3A5F"/>
          </a:solidFill>
          <a:ln w="12700">
            <a:solidFill>
              <a:srgbClr val="2A48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3483864"/>
            <a:ext cx="73152" cy="914400"/>
          </a:xfrm>
          <a:prstGeom prst="rect">
            <a:avLst/>
          </a:prstGeom>
          <a:solidFill>
            <a:srgbClr val="F4795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593592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mistrust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794760" y="3593592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 number looks wrong” kills adoption at CMO level.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178040" y="3575304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E7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certified semantic definition per metric; reconciliation in UAT; weighted aggregation (e.g. CPM = Σspend/Σimpr) not naive row averages.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3232" y="4471416"/>
            <a:ext cx="10835640" cy="914400"/>
          </a:xfrm>
          <a:prstGeom prst="roundRect">
            <a:avLst>
              <a:gd name="adj" fmla="val 5000"/>
            </a:avLst>
          </a:prstGeom>
          <a:solidFill>
            <a:srgbClr val="1B3A5F"/>
          </a:solidFill>
          <a:ln w="12700">
            <a:solidFill>
              <a:srgbClr val="2A48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4471416"/>
            <a:ext cx="73152" cy="914400"/>
          </a:xfrm>
          <a:prstGeom prst="rect">
            <a:avLst/>
          </a:prstGeom>
          <a:solidFill>
            <a:srgbClr val="F4795B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581144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Over-crowding the page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3794760" y="4581144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to add detail turns the exec view into a practitioner tool.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178040" y="4562856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E7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1-page discipline; drill-downs live in a separate practitioner layer linked from each tile.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3232" y="5458968"/>
            <a:ext cx="10835640" cy="914400"/>
          </a:xfrm>
          <a:prstGeom prst="roundRect">
            <a:avLst>
              <a:gd name="adj" fmla="val 5000"/>
            </a:avLst>
          </a:prstGeom>
          <a:solidFill>
            <a:srgbClr val="1B3A5F"/>
          </a:solidFill>
          <a:ln w="12700">
            <a:solidFill>
              <a:srgbClr val="2A48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" y="5458968"/>
            <a:ext cx="73152" cy="914400"/>
          </a:xfrm>
          <a:prstGeom prst="rect">
            <a:avLst/>
          </a:prstGeom>
          <a:solidFill>
            <a:srgbClr val="F4795B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568696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/ refresh fragility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3794760" y="5568696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tables expire; a silent break leaves stale data.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178040" y="5550408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E7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dataset, not a sandbox; partitioned incremental refresh with monitoring + alerting on the Gold layer.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Channel Performance Dashboard — Task 1</dc:title>
  <dc:subject>PptxGenJS Presentation</dc:subject>
  <dc:creator>David Adrián González Molina</dc:creator>
  <cp:lastModifiedBy>David Adrián González Molina</cp:lastModifiedBy>
  <cp:revision>1</cp:revision>
  <dcterms:created xsi:type="dcterms:W3CDTF">2026-06-03T06:18:41Z</dcterms:created>
  <dcterms:modified xsi:type="dcterms:W3CDTF">2026-06-03T06:18:41Z</dcterms:modified>
</cp:coreProperties>
</file>