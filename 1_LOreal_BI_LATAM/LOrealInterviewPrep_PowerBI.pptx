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2A"/>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9A84C"/>
          </a:solidFill>
          <a:ln w="12700">
            <a:solidFill>
              <a:srgbClr val="C9A84C"/>
            </a:solidFill>
            <a:prstDash val="solid"/>
          </a:ln>
        </p:spPr>
      </p:sp>
      <p:sp>
        <p:nvSpPr>
          <p:cNvPr id="3" name="Text 1"/>
          <p:cNvSpPr/>
          <p:nvPr/>
        </p:nvSpPr>
        <p:spPr>
          <a:xfrm>
            <a:off x="411480" y="411480"/>
            <a:ext cx="8229600" cy="320040"/>
          </a:xfrm>
          <a:prstGeom prst="rect">
            <a:avLst/>
          </a:prstGeom>
          <a:noFill/>
          <a:ln/>
        </p:spPr>
        <p:txBody>
          <a:bodyPr wrap="square" lIns="0" tIns="0" rIns="0" bIns="0" rtlCol="0" anchor="ctr"/>
          <a:lstStyle/>
          <a:p>
            <a:pPr algn="l" indent="0" marL="0">
              <a:buNone/>
            </a:pPr>
            <a:r>
              <a:rPr lang="en-US" sz="900" b="1" spc="300" kern="0" dirty="0">
                <a:solidFill>
                  <a:srgbClr val="C9A84C"/>
                </a:solidFill>
              </a:rPr>
              <a:t>INTERVIEW PREPARATION GUIDE</a:t>
            </a:r>
            <a:endParaRPr lang="en-US" sz="900" dirty="0"/>
          </a:p>
        </p:txBody>
      </p:sp>
      <p:sp>
        <p:nvSpPr>
          <p:cNvPr id="4" name="Text 2"/>
          <p:cNvSpPr/>
          <p:nvPr/>
        </p:nvSpPr>
        <p:spPr>
          <a:xfrm>
            <a:off x="411480" y="822960"/>
            <a:ext cx="8412480" cy="960120"/>
          </a:xfrm>
          <a:prstGeom prst="rect">
            <a:avLst/>
          </a:prstGeom>
          <a:noFill/>
          <a:ln/>
        </p:spPr>
        <p:txBody>
          <a:bodyPr wrap="square" lIns="0" tIns="0" rIns="0" bIns="0" rtlCol="0" anchor="ctr"/>
          <a:lstStyle/>
          <a:p>
            <a:pPr algn="l" indent="0" marL="0">
              <a:buNone/>
            </a:pPr>
            <a:r>
              <a:rPr lang="en-US" sz="6000" b="1" dirty="0">
                <a:solidFill>
                  <a:srgbClr val="FFFFFF"/>
                </a:solidFill>
                <a:latin typeface="Georgia" pitchFamily="34" charset="0"/>
                <a:ea typeface="Georgia" pitchFamily="34" charset="-122"/>
                <a:cs typeface="Georgia" pitchFamily="34" charset="-120"/>
              </a:rPr>
              <a:t>L'Oréal</a:t>
            </a:r>
            <a:endParaRPr lang="en-US" sz="6000" dirty="0"/>
          </a:p>
        </p:txBody>
      </p:sp>
      <p:sp>
        <p:nvSpPr>
          <p:cNvPr id="5" name="Text 3"/>
          <p:cNvSpPr/>
          <p:nvPr/>
        </p:nvSpPr>
        <p:spPr>
          <a:xfrm>
            <a:off x="411480" y="1783080"/>
            <a:ext cx="8412480" cy="640080"/>
          </a:xfrm>
          <a:prstGeom prst="rect">
            <a:avLst/>
          </a:prstGeom>
          <a:noFill/>
          <a:ln/>
        </p:spPr>
        <p:txBody>
          <a:bodyPr wrap="square" lIns="0" tIns="0" rIns="0" bIns="0" rtlCol="0" anchor="ctr"/>
          <a:lstStyle/>
          <a:p>
            <a:pPr algn="l" indent="0" marL="0">
              <a:buNone/>
            </a:pPr>
            <a:r>
              <a:rPr lang="en-US" sz="2600" i="1" dirty="0">
                <a:solidFill>
                  <a:srgbClr val="E8D5A3"/>
                </a:solidFill>
                <a:latin typeface="Georgia" pitchFamily="34" charset="0"/>
                <a:ea typeface="Georgia" pitchFamily="34" charset="-122"/>
                <a:cs typeface="Georgia" pitchFamily="34" charset="-120"/>
              </a:rPr>
              <a:t>Power BI Strategy Architect</a:t>
            </a:r>
            <a:endParaRPr lang="en-US" sz="2600" dirty="0"/>
          </a:p>
        </p:txBody>
      </p:sp>
      <p:sp>
        <p:nvSpPr>
          <p:cNvPr id="6" name="Shape 4"/>
          <p:cNvSpPr/>
          <p:nvPr/>
        </p:nvSpPr>
        <p:spPr>
          <a:xfrm>
            <a:off x="411480" y="2532888"/>
            <a:ext cx="8321040" cy="0"/>
          </a:xfrm>
          <a:prstGeom prst="line">
            <a:avLst/>
          </a:prstGeom>
          <a:noFill/>
          <a:ln w="12700">
            <a:solidFill>
              <a:srgbClr val="C9A84C"/>
            </a:solidFill>
            <a:prstDash val="solid"/>
          </a:ln>
        </p:spPr>
      </p:sp>
      <p:sp>
        <p:nvSpPr>
          <p:cNvPr id="7" name="Text 5"/>
          <p:cNvSpPr/>
          <p:nvPr/>
        </p:nvSpPr>
        <p:spPr>
          <a:xfrm>
            <a:off x="411480" y="2670048"/>
            <a:ext cx="8412480" cy="347472"/>
          </a:xfrm>
          <a:prstGeom prst="rect">
            <a:avLst/>
          </a:prstGeom>
          <a:noFill/>
          <a:ln/>
        </p:spPr>
        <p:txBody>
          <a:bodyPr wrap="square" lIns="0" tIns="0" rIns="0" bIns="0" rtlCol="0" anchor="ctr"/>
          <a:lstStyle/>
          <a:p>
            <a:pPr algn="l" indent="0" marL="0">
              <a:buNone/>
            </a:pPr>
            <a:r>
              <a:rPr lang="en-US" sz="1300" dirty="0">
                <a:solidFill>
                  <a:srgbClr val="A0A8C0"/>
                </a:solidFill>
              </a:rPr>
              <a:t>Senior BI Platform Specialist &amp; Architect  ·  Americas / LATAM  ·  Mexico City</a:t>
            </a:r>
            <a:endParaRPr lang="en-US" sz="1300" dirty="0"/>
          </a:p>
        </p:txBody>
      </p:sp>
      <p:sp>
        <p:nvSpPr>
          <p:cNvPr id="8" name="Text 6"/>
          <p:cNvSpPr/>
          <p:nvPr/>
        </p:nvSpPr>
        <p:spPr>
          <a:xfrm>
            <a:off x="411480" y="3063240"/>
            <a:ext cx="8412480" cy="292608"/>
          </a:xfrm>
          <a:prstGeom prst="rect">
            <a:avLst/>
          </a:prstGeom>
          <a:noFill/>
          <a:ln/>
        </p:spPr>
        <p:txBody>
          <a:bodyPr wrap="square" lIns="0" tIns="0" rIns="0" bIns="0" rtlCol="0" anchor="ctr"/>
          <a:lstStyle/>
          <a:p>
            <a:pPr algn="l" indent="0" marL="0">
              <a:buNone/>
            </a:pPr>
            <a:r>
              <a:rPr lang="en-US" sz="1100" i="1" dirty="0">
                <a:solidFill>
                  <a:srgbClr val="E8D5A3"/>
                </a:solidFill>
              </a:rPr>
              <a:t>Strategic Advisory  ·  Governance  ·  Technical Excellence</a:t>
            </a:r>
            <a:endParaRPr lang="en-US" sz="1100" dirty="0"/>
          </a:p>
        </p:txBody>
      </p:sp>
      <p:sp>
        <p:nvSpPr>
          <p:cNvPr id="9" name="Shape 7"/>
          <p:cNvSpPr/>
          <p:nvPr/>
        </p:nvSpPr>
        <p:spPr>
          <a:xfrm>
            <a:off x="411480" y="3931920"/>
            <a:ext cx="2788920" cy="384048"/>
          </a:xfrm>
          <a:prstGeom prst="rect">
            <a:avLst/>
          </a:prstGeom>
          <a:solidFill>
            <a:srgbClr val="1E1E42"/>
          </a:solidFill>
          <a:ln w="9525">
            <a:solidFill>
              <a:srgbClr val="C9A84C"/>
            </a:solidFill>
            <a:prstDash val="solid"/>
          </a:ln>
        </p:spPr>
      </p:sp>
      <p:sp>
        <p:nvSpPr>
          <p:cNvPr id="10" name="Text 8"/>
          <p:cNvSpPr/>
          <p:nvPr/>
        </p:nvSpPr>
        <p:spPr>
          <a:xfrm>
            <a:off x="411480" y="3931920"/>
            <a:ext cx="2788920" cy="384048"/>
          </a:xfrm>
          <a:prstGeom prst="rect">
            <a:avLst/>
          </a:prstGeom>
          <a:noFill/>
          <a:ln/>
        </p:spPr>
        <p:txBody>
          <a:bodyPr wrap="square" lIns="0" tIns="0" rIns="0" bIns="0" rtlCol="0" anchor="ctr"/>
          <a:lstStyle/>
          <a:p>
            <a:pPr algn="ctr" indent="0" marL="0">
              <a:buNone/>
            </a:pPr>
            <a:r>
              <a:rPr lang="en-US" sz="1100" dirty="0">
                <a:solidFill>
                  <a:srgbClr val="FFFFFF"/>
                </a:solidFill>
              </a:rPr>
              <a:t>Power BI Expert</a:t>
            </a:r>
            <a:endParaRPr lang="en-US" sz="1100" dirty="0"/>
          </a:p>
        </p:txBody>
      </p:sp>
      <p:sp>
        <p:nvSpPr>
          <p:cNvPr id="11" name="Shape 9"/>
          <p:cNvSpPr/>
          <p:nvPr/>
        </p:nvSpPr>
        <p:spPr>
          <a:xfrm>
            <a:off x="3337560" y="3931920"/>
            <a:ext cx="2788920" cy="384048"/>
          </a:xfrm>
          <a:prstGeom prst="rect">
            <a:avLst/>
          </a:prstGeom>
          <a:solidFill>
            <a:srgbClr val="1E1E42"/>
          </a:solidFill>
          <a:ln w="9525">
            <a:solidFill>
              <a:srgbClr val="C9A84C"/>
            </a:solidFill>
            <a:prstDash val="solid"/>
          </a:ln>
        </p:spPr>
      </p:sp>
      <p:sp>
        <p:nvSpPr>
          <p:cNvPr id="12" name="Text 10"/>
          <p:cNvSpPr/>
          <p:nvPr/>
        </p:nvSpPr>
        <p:spPr>
          <a:xfrm>
            <a:off x="3337560" y="3931920"/>
            <a:ext cx="2788920" cy="384048"/>
          </a:xfrm>
          <a:prstGeom prst="rect">
            <a:avLst/>
          </a:prstGeom>
          <a:noFill/>
          <a:ln/>
        </p:spPr>
        <p:txBody>
          <a:bodyPr wrap="square" lIns="0" tIns="0" rIns="0" bIns="0" rtlCol="0" anchor="ctr"/>
          <a:lstStyle/>
          <a:p>
            <a:pPr algn="ctr" indent="0" marL="0">
              <a:buNone/>
            </a:pPr>
            <a:r>
              <a:rPr lang="en-US" sz="1100" dirty="0">
                <a:solidFill>
                  <a:srgbClr val="FFFFFF"/>
                </a:solidFill>
              </a:rPr>
              <a:t>DAX &amp; Modeling</a:t>
            </a:r>
            <a:endParaRPr lang="en-US" sz="1100" dirty="0"/>
          </a:p>
        </p:txBody>
      </p:sp>
      <p:sp>
        <p:nvSpPr>
          <p:cNvPr id="13" name="Shape 11"/>
          <p:cNvSpPr/>
          <p:nvPr/>
        </p:nvSpPr>
        <p:spPr>
          <a:xfrm>
            <a:off x="6263640" y="3931920"/>
            <a:ext cx="2788920" cy="384048"/>
          </a:xfrm>
          <a:prstGeom prst="rect">
            <a:avLst/>
          </a:prstGeom>
          <a:solidFill>
            <a:srgbClr val="1E1E42"/>
          </a:solidFill>
          <a:ln w="9525">
            <a:solidFill>
              <a:srgbClr val="C9A84C"/>
            </a:solidFill>
            <a:prstDash val="solid"/>
          </a:ln>
        </p:spPr>
      </p:sp>
      <p:sp>
        <p:nvSpPr>
          <p:cNvPr id="14" name="Text 12"/>
          <p:cNvSpPr/>
          <p:nvPr/>
        </p:nvSpPr>
        <p:spPr>
          <a:xfrm>
            <a:off x="6263640" y="3931920"/>
            <a:ext cx="2788920" cy="384048"/>
          </a:xfrm>
          <a:prstGeom prst="rect">
            <a:avLst/>
          </a:prstGeom>
          <a:noFill/>
          <a:ln/>
        </p:spPr>
        <p:txBody>
          <a:bodyPr wrap="square" lIns="0" tIns="0" rIns="0" bIns="0" rtlCol="0" anchor="ctr"/>
          <a:lstStyle/>
          <a:p>
            <a:pPr algn="ctr" indent="0" marL="0">
              <a:buNone/>
            </a:pPr>
            <a:r>
              <a:rPr lang="en-US" sz="1100" dirty="0">
                <a:solidFill>
                  <a:srgbClr val="FFFFFF"/>
                </a:solidFill>
              </a:rPr>
              <a:t>Governance Framework</a:t>
            </a:r>
            <a:endParaRPr lang="en-US" sz="1100" dirty="0"/>
          </a:p>
        </p:txBody>
      </p:sp>
      <p:sp>
        <p:nvSpPr>
          <p:cNvPr id="15" name="Shape 13"/>
          <p:cNvSpPr/>
          <p:nvPr/>
        </p:nvSpPr>
        <p:spPr>
          <a:xfrm>
            <a:off x="411480" y="4443984"/>
            <a:ext cx="2788920" cy="384048"/>
          </a:xfrm>
          <a:prstGeom prst="rect">
            <a:avLst/>
          </a:prstGeom>
          <a:solidFill>
            <a:srgbClr val="1E1E42"/>
          </a:solidFill>
          <a:ln w="9525">
            <a:solidFill>
              <a:srgbClr val="C9A84C"/>
            </a:solidFill>
            <a:prstDash val="solid"/>
          </a:ln>
        </p:spPr>
      </p:sp>
      <p:sp>
        <p:nvSpPr>
          <p:cNvPr id="16" name="Text 14"/>
          <p:cNvSpPr/>
          <p:nvPr/>
        </p:nvSpPr>
        <p:spPr>
          <a:xfrm>
            <a:off x="411480" y="4443984"/>
            <a:ext cx="2788920" cy="384048"/>
          </a:xfrm>
          <a:prstGeom prst="rect">
            <a:avLst/>
          </a:prstGeom>
          <a:noFill/>
          <a:ln/>
        </p:spPr>
        <p:txBody>
          <a:bodyPr wrap="square" lIns="0" tIns="0" rIns="0" bIns="0" rtlCol="0" anchor="ctr"/>
          <a:lstStyle/>
          <a:p>
            <a:pPr algn="ctr" indent="0" marL="0">
              <a:buNone/>
            </a:pPr>
            <a:r>
              <a:rPr lang="en-US" sz="1100" dirty="0">
                <a:solidFill>
                  <a:srgbClr val="FFFFFF"/>
                </a:solidFill>
              </a:rPr>
              <a:t>GCP / BigQuery</a:t>
            </a:r>
            <a:endParaRPr lang="en-US" sz="1100" dirty="0"/>
          </a:p>
        </p:txBody>
      </p:sp>
      <p:sp>
        <p:nvSpPr>
          <p:cNvPr id="17" name="Shape 15"/>
          <p:cNvSpPr/>
          <p:nvPr/>
        </p:nvSpPr>
        <p:spPr>
          <a:xfrm>
            <a:off x="3337560" y="4443984"/>
            <a:ext cx="2788920" cy="384048"/>
          </a:xfrm>
          <a:prstGeom prst="rect">
            <a:avLst/>
          </a:prstGeom>
          <a:solidFill>
            <a:srgbClr val="1E1E42"/>
          </a:solidFill>
          <a:ln w="9525">
            <a:solidFill>
              <a:srgbClr val="C9A84C"/>
            </a:solidFill>
            <a:prstDash val="solid"/>
          </a:ln>
        </p:spPr>
      </p:sp>
      <p:sp>
        <p:nvSpPr>
          <p:cNvPr id="18" name="Text 16"/>
          <p:cNvSpPr/>
          <p:nvPr/>
        </p:nvSpPr>
        <p:spPr>
          <a:xfrm>
            <a:off x="3337560" y="4443984"/>
            <a:ext cx="2788920" cy="384048"/>
          </a:xfrm>
          <a:prstGeom prst="rect">
            <a:avLst/>
          </a:prstGeom>
          <a:noFill/>
          <a:ln/>
        </p:spPr>
        <p:txBody>
          <a:bodyPr wrap="square" lIns="0" tIns="0" rIns="0" bIns="0" rtlCol="0" anchor="ctr"/>
          <a:lstStyle/>
          <a:p>
            <a:pPr algn="ctr" indent="0" marL="0">
              <a:buNone/>
            </a:pPr>
            <a:r>
              <a:rPr lang="en-US" sz="1100" dirty="0">
                <a:solidFill>
                  <a:srgbClr val="FFFFFF"/>
                </a:solidFill>
              </a:rPr>
              <a:t>Behavioral Q&amp;A</a:t>
            </a:r>
            <a:endParaRPr lang="en-US" sz="1100" dirty="0"/>
          </a:p>
        </p:txBody>
      </p:sp>
      <p:sp>
        <p:nvSpPr>
          <p:cNvPr id="19" name="Shape 17"/>
          <p:cNvSpPr/>
          <p:nvPr/>
        </p:nvSpPr>
        <p:spPr>
          <a:xfrm>
            <a:off x="6263640" y="4443984"/>
            <a:ext cx="2788920" cy="384048"/>
          </a:xfrm>
          <a:prstGeom prst="rect">
            <a:avLst/>
          </a:prstGeom>
          <a:solidFill>
            <a:srgbClr val="1E1E42"/>
          </a:solidFill>
          <a:ln w="9525">
            <a:solidFill>
              <a:srgbClr val="C9A84C"/>
            </a:solidFill>
            <a:prstDash val="solid"/>
          </a:ln>
        </p:spPr>
      </p:sp>
      <p:sp>
        <p:nvSpPr>
          <p:cNvPr id="20" name="Text 18"/>
          <p:cNvSpPr/>
          <p:nvPr/>
        </p:nvSpPr>
        <p:spPr>
          <a:xfrm>
            <a:off x="6263640" y="4443984"/>
            <a:ext cx="2788920" cy="384048"/>
          </a:xfrm>
          <a:prstGeom prst="rect">
            <a:avLst/>
          </a:prstGeom>
          <a:noFill/>
          <a:ln/>
        </p:spPr>
        <p:txBody>
          <a:bodyPr wrap="square" lIns="0" tIns="0" rIns="0" bIns="0" rtlCol="0" anchor="ctr"/>
          <a:lstStyle/>
          <a:p>
            <a:pPr algn="ctr" indent="0" marL="0">
              <a:buNone/>
            </a:pPr>
            <a:r>
              <a:rPr lang="en-US" sz="1100" dirty="0">
                <a:solidFill>
                  <a:srgbClr val="FFFFFF"/>
                </a:solidFill>
              </a:rPr>
              <a:t>30-60-90 Plan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Role At a Glance — What They're Really Hiring For</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8412480" cy="502920"/>
          </a:xfrm>
          <a:prstGeom prst="rect">
            <a:avLst/>
          </a:prstGeom>
          <a:solidFill>
            <a:srgbClr val="12122A"/>
          </a:solidFill>
          <a:ln w="12700">
            <a:solidFill>
              <a:srgbClr val="12122A"/>
            </a:solidFill>
            <a:prstDash val="solid"/>
          </a:ln>
        </p:spPr>
      </p:sp>
      <p:sp>
        <p:nvSpPr>
          <p:cNvPr id="6" name="Text 4"/>
          <p:cNvSpPr/>
          <p:nvPr/>
        </p:nvSpPr>
        <p:spPr>
          <a:xfrm>
            <a:off x="365760" y="868680"/>
            <a:ext cx="8412480" cy="502920"/>
          </a:xfrm>
          <a:prstGeom prst="rect">
            <a:avLst/>
          </a:prstGeom>
          <a:noFill/>
          <a:ln/>
        </p:spPr>
        <p:txBody>
          <a:bodyPr wrap="square" lIns="0" tIns="0" rIns="0" bIns="0" rtlCol="0" anchor="ctr"/>
          <a:lstStyle/>
          <a:p>
            <a:pPr algn="ctr" indent="0" marL="0">
              <a:buNone/>
            </a:pPr>
            <a:r>
              <a:rPr lang="en-US" sz="1400" b="1" dirty="0">
                <a:solidFill>
                  <a:srgbClr val="C9A84C"/>
                </a:solidFill>
              </a:rPr>
              <a:t>60% Strategic &amp; Governance</a:t>
            </a:r>
            <a:pPr algn="ctr" indent="0" marL="0">
              <a:buNone/>
            </a:pPr>
            <a:r>
              <a:rPr lang="en-US" sz="1400" dirty="0">
                <a:solidFill>
                  <a:srgbClr val="444464"/>
                </a:solidFill>
              </a:rPr>
              <a:t>   |   </a:t>
            </a:r>
            <a:pPr algn="ctr" indent="0" marL="0">
              <a:buNone/>
            </a:pPr>
            <a:r>
              <a:rPr lang="en-US" sz="1400" b="1" dirty="0">
                <a:solidFill>
                  <a:srgbClr val="E8D5A3"/>
                </a:solidFill>
              </a:rPr>
              <a:t>40% Technical Delivery</a:t>
            </a:r>
            <a:endParaRPr lang="en-US" sz="1400" dirty="0"/>
          </a:p>
        </p:txBody>
      </p:sp>
      <p:sp>
        <p:nvSpPr>
          <p:cNvPr id="7" name="Shape 5"/>
          <p:cNvSpPr/>
          <p:nvPr/>
        </p:nvSpPr>
        <p:spPr>
          <a:xfrm>
            <a:off x="365760" y="1508760"/>
            <a:ext cx="4023360" cy="324612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8" name="Shape 6"/>
          <p:cNvSpPr/>
          <p:nvPr/>
        </p:nvSpPr>
        <p:spPr>
          <a:xfrm>
            <a:off x="365760" y="1508760"/>
            <a:ext cx="4023360" cy="329184"/>
          </a:xfrm>
          <a:prstGeom prst="rect">
            <a:avLst/>
          </a:prstGeom>
          <a:solidFill>
            <a:srgbClr val="12122A"/>
          </a:solidFill>
          <a:ln w="12700">
            <a:solidFill>
              <a:srgbClr val="12122A"/>
            </a:solidFill>
            <a:prstDash val="solid"/>
          </a:ln>
        </p:spPr>
      </p:sp>
      <p:sp>
        <p:nvSpPr>
          <p:cNvPr id="9" name="Text 7"/>
          <p:cNvSpPr/>
          <p:nvPr/>
        </p:nvSpPr>
        <p:spPr>
          <a:xfrm>
            <a:off x="365760" y="1508760"/>
            <a:ext cx="4023360" cy="329184"/>
          </a:xfrm>
          <a:prstGeom prst="rect">
            <a:avLst/>
          </a:prstGeom>
          <a:noFill/>
          <a:ln/>
        </p:spPr>
        <p:txBody>
          <a:bodyPr wrap="square" lIns="0" tIns="0" rIns="0" bIns="0" rtlCol="0" anchor="ctr"/>
          <a:lstStyle/>
          <a:p>
            <a:pPr algn="ctr" indent="0" marL="0">
              <a:buNone/>
            </a:pPr>
            <a:r>
              <a:rPr lang="en-US" sz="1000" b="1" spc="100" kern="0" dirty="0">
                <a:solidFill>
                  <a:srgbClr val="C9A84C"/>
                </a:solidFill>
              </a:rPr>
              <a:t>STRATEGIC &amp; GOVERNANCE</a:t>
            </a:r>
            <a:endParaRPr lang="en-US" sz="1000" dirty="0"/>
          </a:p>
        </p:txBody>
      </p:sp>
      <p:sp>
        <p:nvSpPr>
          <p:cNvPr id="10" name="Text 8"/>
          <p:cNvSpPr/>
          <p:nvPr/>
        </p:nvSpPr>
        <p:spPr>
          <a:xfrm>
            <a:off x="502920" y="1920240"/>
            <a:ext cx="3749040" cy="2743200"/>
          </a:xfrm>
          <a:prstGeom prst="rect">
            <a:avLst/>
          </a:prstGeom>
          <a:noFill/>
          <a:ln/>
        </p:spPr>
        <p:txBody>
          <a:bodyPr wrap="square" lIns="0" tIns="0" rIns="0" bIns="0" rtlCol="0" anchor="t"/>
          <a:lstStyle/>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Define Power BI strategy for LATAM</a:t>
            </a:r>
            <a:pPr indent="0" marL="0">
              <a:spcAft>
                <a:spcPts val="400"/>
              </a:spcAft>
              <a:buNone/>
            </a:pPr>
            <a:endParaRPr lang="en-US" sz="1050" dirty="0"/>
          </a:p>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Act as BI Architect — design &amp; scalability decisions</a:t>
            </a:r>
            <a:pPr indent="0" marL="0">
              <a:spcAft>
                <a:spcPts val="400"/>
              </a:spcAft>
              <a:buNone/>
            </a:pPr>
            <a:endParaRPr lang="en-US" sz="1050" dirty="0"/>
          </a:p>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Workspace &amp; report governance assessments</a:t>
            </a:r>
            <a:pPr indent="0" marL="0">
              <a:spcAft>
                <a:spcPts val="400"/>
              </a:spcAft>
              <a:buNone/>
            </a:pPr>
            <a:endParaRPr lang="en-US" sz="1050" dirty="0"/>
          </a:p>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Cross-functional PoC with CDAO organization</a:t>
            </a:r>
            <a:pPr indent="0" marL="0">
              <a:spcAft>
                <a:spcPts val="400"/>
              </a:spcAft>
              <a:buNone/>
            </a:pPr>
            <a:endParaRPr lang="en-US" sz="1050" dirty="0"/>
          </a:p>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Collaborate with Global Data (LATAM voice)</a:t>
            </a:r>
            <a:pPr indent="0" marL="0">
              <a:spcAft>
                <a:spcPts val="400"/>
              </a:spcAft>
              <a:buNone/>
            </a:pPr>
            <a:endParaRPr lang="en-US" sz="1050" dirty="0"/>
          </a:p>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Manage Premium capacity &amp; performance</a:t>
            </a:r>
            <a:pPr indent="0" marL="0">
              <a:spcAft>
                <a:spcPts val="400"/>
              </a:spcAft>
              <a:buNone/>
            </a:pPr>
            <a:endParaRPr lang="en-US" sz="1050" dirty="0"/>
          </a:p>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Lead monthly training + quarterly workshops</a:t>
            </a:r>
            <a:pPr indent="0" marL="0">
              <a:spcAft>
                <a:spcPts val="400"/>
              </a:spcAft>
              <a:buNone/>
            </a:pPr>
            <a:endParaRPr lang="en-US" sz="1050" dirty="0"/>
          </a:p>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Drive self-service BI adoption at scale</a:t>
            </a:r>
            <a:endParaRPr lang="en-US" sz="1050" dirty="0"/>
          </a:p>
        </p:txBody>
      </p:sp>
      <p:sp>
        <p:nvSpPr>
          <p:cNvPr id="11" name="Shape 9"/>
          <p:cNvSpPr/>
          <p:nvPr/>
        </p:nvSpPr>
        <p:spPr>
          <a:xfrm>
            <a:off x="4663440" y="1508760"/>
            <a:ext cx="4114800" cy="324612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2" name="Shape 10"/>
          <p:cNvSpPr/>
          <p:nvPr/>
        </p:nvSpPr>
        <p:spPr>
          <a:xfrm>
            <a:off x="4663440" y="1508760"/>
            <a:ext cx="4114800" cy="329184"/>
          </a:xfrm>
          <a:prstGeom prst="rect">
            <a:avLst/>
          </a:prstGeom>
          <a:solidFill>
            <a:srgbClr val="1E1E42"/>
          </a:solidFill>
          <a:ln w="12700">
            <a:solidFill>
              <a:srgbClr val="1E1E42"/>
            </a:solidFill>
            <a:prstDash val="solid"/>
          </a:ln>
        </p:spPr>
      </p:sp>
      <p:sp>
        <p:nvSpPr>
          <p:cNvPr id="13" name="Text 11"/>
          <p:cNvSpPr/>
          <p:nvPr/>
        </p:nvSpPr>
        <p:spPr>
          <a:xfrm>
            <a:off x="4663440" y="1508760"/>
            <a:ext cx="4114800" cy="329184"/>
          </a:xfrm>
          <a:prstGeom prst="rect">
            <a:avLst/>
          </a:prstGeom>
          <a:noFill/>
          <a:ln/>
        </p:spPr>
        <p:txBody>
          <a:bodyPr wrap="square" lIns="0" tIns="0" rIns="0" bIns="0" rtlCol="0" anchor="ctr"/>
          <a:lstStyle/>
          <a:p>
            <a:pPr algn="ctr" indent="0" marL="0">
              <a:buNone/>
            </a:pPr>
            <a:r>
              <a:rPr lang="en-US" sz="1000" b="1" spc="100" kern="0" dirty="0">
                <a:solidFill>
                  <a:srgbClr val="E8D5A3"/>
                </a:solidFill>
              </a:rPr>
              <a:t>TECHNICAL DELIVERY</a:t>
            </a:r>
            <a:endParaRPr lang="en-US" sz="1000" dirty="0"/>
          </a:p>
        </p:txBody>
      </p:sp>
      <p:sp>
        <p:nvSpPr>
          <p:cNvPr id="14" name="Text 12"/>
          <p:cNvSpPr/>
          <p:nvPr/>
        </p:nvSpPr>
        <p:spPr>
          <a:xfrm>
            <a:off x="4800600" y="1920240"/>
            <a:ext cx="3840480" cy="2743200"/>
          </a:xfrm>
          <a:prstGeom prst="rect">
            <a:avLst/>
          </a:prstGeom>
          <a:noFill/>
          <a:ln/>
        </p:spPr>
        <p:txBody>
          <a:bodyPr wrap="square" lIns="0" tIns="0" rIns="0" bIns="0" rtlCol="0" anchor="t"/>
          <a:lstStyle/>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Build dashboards, reports &amp; internal tools</a:t>
            </a:r>
            <a:pPr indent="0" marL="0">
              <a:spcAft>
                <a:spcPts val="400"/>
              </a:spcAft>
              <a:buNone/>
            </a:pPr>
            <a:endParaRPr lang="en-US" sz="1050" dirty="0"/>
          </a:p>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Lead &amp; build Proof of Concepts (POCs)</a:t>
            </a:r>
            <a:pPr indent="0" marL="0">
              <a:spcAft>
                <a:spcPts val="400"/>
              </a:spcAft>
              <a:buNone/>
            </a:pPr>
            <a:endParaRPr lang="en-US" sz="1050" dirty="0"/>
          </a:p>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Write &amp; optimize SQL across data platforms</a:t>
            </a:r>
            <a:pPr indent="0" marL="0">
              <a:spcAft>
                <a:spcPts val="400"/>
              </a:spcAft>
              <a:buNone/>
            </a:pPr>
            <a:endParaRPr lang="en-US" sz="1050" dirty="0"/>
          </a:p>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Work with GCP / BigQuery for data pipelines</a:t>
            </a:r>
            <a:pPr indent="0" marL="0">
              <a:spcAft>
                <a:spcPts val="400"/>
              </a:spcAft>
              <a:buNone/>
            </a:pPr>
            <a:endParaRPr lang="en-US" sz="1050" dirty="0"/>
          </a:p>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Evaluate new BI tools &amp; visualization approaches</a:t>
            </a:r>
            <a:pPr indent="0" marL="0">
              <a:spcAft>
                <a:spcPts val="400"/>
              </a:spcAft>
              <a:buNone/>
            </a:pPr>
            <a:endParaRPr lang="en-US" sz="1050" dirty="0"/>
          </a:p>
          <a:p>
            <a:pPr indent="0" marL="0">
              <a:spcAft>
                <a:spcPts val="400"/>
              </a:spcAft>
              <a:buNone/>
            </a:pPr>
            <a:r>
              <a:rPr lang="en-US" sz="1050" b="1" dirty="0">
                <a:solidFill>
                  <a:srgbClr val="C9A84C"/>
                </a:solidFill>
              </a:rPr>
              <a:t>✦  </a:t>
            </a:r>
            <a:pPr indent="0" marL="0">
              <a:spcAft>
                <a:spcPts val="400"/>
              </a:spcAft>
              <a:buNone/>
            </a:pPr>
            <a:r>
              <a:rPr lang="en-US" sz="1050" dirty="0">
                <a:solidFill>
                  <a:srgbClr val="1A1A2E"/>
                </a:solidFill>
              </a:rPr>
              <a:t>Leverage AI tools daily (Copilot, Claude, etc.)</a:t>
            </a:r>
            <a:endParaRPr lang="en-US" sz="1050" dirty="0"/>
          </a:p>
        </p:txBody>
      </p:sp>
      <p:sp>
        <p:nvSpPr>
          <p:cNvPr id="15" name="Shape 13"/>
          <p:cNvSpPr/>
          <p:nvPr/>
        </p:nvSpPr>
        <p:spPr>
          <a:xfrm>
            <a:off x="365760" y="4846320"/>
            <a:ext cx="8412480" cy="182880"/>
          </a:xfrm>
          <a:prstGeom prst="rect">
            <a:avLst/>
          </a:prstGeom>
          <a:solidFill>
            <a:srgbClr val="FEF3C7"/>
          </a:solidFill>
          <a:ln w="9525">
            <a:solidFill>
              <a:srgbClr val="B45309"/>
            </a:solidFill>
            <a:prstDash val="solid"/>
          </a:ln>
        </p:spPr>
      </p:sp>
      <p:sp>
        <p:nvSpPr>
          <p:cNvPr id="16" name="Text 14"/>
          <p:cNvSpPr/>
          <p:nvPr/>
        </p:nvSpPr>
        <p:spPr>
          <a:xfrm>
            <a:off x="411480" y="4846320"/>
            <a:ext cx="8321040" cy="182880"/>
          </a:xfrm>
          <a:prstGeom prst="rect">
            <a:avLst/>
          </a:prstGeom>
          <a:noFill/>
          <a:ln/>
        </p:spPr>
        <p:txBody>
          <a:bodyPr wrap="square" lIns="0" tIns="0" rIns="0" bIns="0" rtlCol="0" anchor="ctr"/>
          <a:lstStyle/>
          <a:p>
            <a:pPr algn="l" indent="0" marL="0">
              <a:buNone/>
            </a:pPr>
            <a:r>
              <a:rPr lang="en-US" sz="900" b="1" dirty="0">
                <a:solidFill>
                  <a:srgbClr val="B45309"/>
                </a:solidFill>
              </a:rPr>
              <a:t>KEY INSIGHT: This is primarily a leadership + governance role. Win them on strategy; prove yourself on SQL &amp; BigQuery.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Know Your Company — L'Oréal Data &amp; Analytics Reality</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1965960" cy="960120"/>
          </a:xfrm>
          <a:prstGeom prst="rect">
            <a:avLst/>
          </a:prstGeom>
          <a:solidFill>
            <a:srgbClr val="12122A"/>
          </a:solidFill>
          <a:ln w="9525">
            <a:solidFill>
              <a:srgbClr val="C9A84C"/>
            </a:solidFill>
            <a:prstDash val="solid"/>
          </a:ln>
          <a:effectLst>
            <a:outerShdw sx="100000" sy="100000" kx="0" ky="0" algn="bl" rotWithShape="0" blurRad="50800" dist="12700" dir="8100000">
              <a:srgbClr val="000000">
                <a:alpha val="7000"/>
              </a:srgbClr>
            </a:outerShdw>
          </a:effectLst>
        </p:spPr>
      </p:sp>
      <p:sp>
        <p:nvSpPr>
          <p:cNvPr id="6" name="Text 4"/>
          <p:cNvSpPr/>
          <p:nvPr/>
        </p:nvSpPr>
        <p:spPr>
          <a:xfrm>
            <a:off x="365760" y="914400"/>
            <a:ext cx="1965960" cy="457200"/>
          </a:xfrm>
          <a:prstGeom prst="rect">
            <a:avLst/>
          </a:prstGeom>
          <a:noFill/>
          <a:ln/>
        </p:spPr>
        <p:txBody>
          <a:bodyPr wrap="square" lIns="0" tIns="0" rIns="0" bIns="0" rtlCol="0" anchor="ctr"/>
          <a:lstStyle/>
          <a:p>
            <a:pPr algn="ctr" indent="0" marL="0">
              <a:buNone/>
            </a:pPr>
            <a:r>
              <a:rPr lang="en-US" sz="2600" b="1" dirty="0">
                <a:solidFill>
                  <a:srgbClr val="C9A84C"/>
                </a:solidFill>
                <a:latin typeface="Georgia" pitchFamily="34" charset="0"/>
                <a:ea typeface="Georgia" pitchFamily="34" charset="-122"/>
                <a:cs typeface="Georgia" pitchFamily="34" charset="-120"/>
              </a:rPr>
              <a:t>100 TB</a:t>
            </a:r>
            <a:endParaRPr lang="en-US" sz="2600" dirty="0"/>
          </a:p>
        </p:txBody>
      </p:sp>
      <p:sp>
        <p:nvSpPr>
          <p:cNvPr id="7" name="Text 5"/>
          <p:cNvSpPr/>
          <p:nvPr/>
        </p:nvSpPr>
        <p:spPr>
          <a:xfrm>
            <a:off x="365760" y="1389888"/>
            <a:ext cx="1965960" cy="347472"/>
          </a:xfrm>
          <a:prstGeom prst="rect">
            <a:avLst/>
          </a:prstGeom>
          <a:noFill/>
          <a:ln/>
        </p:spPr>
        <p:txBody>
          <a:bodyPr wrap="square" lIns="0" tIns="0" rIns="0" bIns="0" rtlCol="0" anchor="ctr"/>
          <a:lstStyle/>
          <a:p>
            <a:pPr algn="ctr" indent="0" marL="0">
              <a:buNone/>
            </a:pPr>
            <a:r>
              <a:rPr lang="en-US" sz="900" dirty="0">
                <a:solidFill>
                  <a:srgbClr val="A0A8C0"/>
                </a:solidFill>
              </a:rPr>
              <a:t>Production data in BigQuery</a:t>
            </a:r>
            <a:endParaRPr lang="en-US" sz="900" dirty="0"/>
          </a:p>
        </p:txBody>
      </p:sp>
      <p:sp>
        <p:nvSpPr>
          <p:cNvPr id="8" name="Shape 6"/>
          <p:cNvSpPr/>
          <p:nvPr/>
        </p:nvSpPr>
        <p:spPr>
          <a:xfrm>
            <a:off x="2514600" y="868680"/>
            <a:ext cx="1965960" cy="960120"/>
          </a:xfrm>
          <a:prstGeom prst="rect">
            <a:avLst/>
          </a:prstGeom>
          <a:solidFill>
            <a:srgbClr val="12122A"/>
          </a:solidFill>
          <a:ln w="9525">
            <a:solidFill>
              <a:srgbClr val="C9A84C"/>
            </a:solidFill>
            <a:prstDash val="solid"/>
          </a:ln>
          <a:effectLst>
            <a:outerShdw sx="100000" sy="100000" kx="0" ky="0" algn="bl" rotWithShape="0" blurRad="50800" dist="12700" dir="8100000">
              <a:srgbClr val="000000">
                <a:alpha val="7000"/>
              </a:srgbClr>
            </a:outerShdw>
          </a:effectLst>
        </p:spPr>
      </p:sp>
      <p:sp>
        <p:nvSpPr>
          <p:cNvPr id="9" name="Text 7"/>
          <p:cNvSpPr/>
          <p:nvPr/>
        </p:nvSpPr>
        <p:spPr>
          <a:xfrm>
            <a:off x="2514600" y="914400"/>
            <a:ext cx="1965960" cy="457200"/>
          </a:xfrm>
          <a:prstGeom prst="rect">
            <a:avLst/>
          </a:prstGeom>
          <a:noFill/>
          <a:ln/>
        </p:spPr>
        <p:txBody>
          <a:bodyPr wrap="square" lIns="0" tIns="0" rIns="0" bIns="0" rtlCol="0" anchor="ctr"/>
          <a:lstStyle/>
          <a:p>
            <a:pPr algn="ctr" indent="0" marL="0">
              <a:buNone/>
            </a:pPr>
            <a:r>
              <a:rPr lang="en-US" sz="2600" b="1" dirty="0">
                <a:solidFill>
                  <a:srgbClr val="C9A84C"/>
                </a:solidFill>
                <a:latin typeface="Georgia" pitchFamily="34" charset="0"/>
                <a:ea typeface="Georgia" pitchFamily="34" charset="-122"/>
                <a:cs typeface="Georgia" pitchFamily="34" charset="-120"/>
              </a:rPr>
              <a:t>20 TB</a:t>
            </a:r>
            <a:endParaRPr lang="en-US" sz="2600" dirty="0"/>
          </a:p>
        </p:txBody>
      </p:sp>
      <p:sp>
        <p:nvSpPr>
          <p:cNvPr id="10" name="Text 8"/>
          <p:cNvSpPr/>
          <p:nvPr/>
        </p:nvSpPr>
        <p:spPr>
          <a:xfrm>
            <a:off x="2514600" y="1389888"/>
            <a:ext cx="1965960" cy="347472"/>
          </a:xfrm>
          <a:prstGeom prst="rect">
            <a:avLst/>
          </a:prstGeom>
          <a:noFill/>
          <a:ln/>
        </p:spPr>
        <p:txBody>
          <a:bodyPr wrap="square" lIns="0" tIns="0" rIns="0" bIns="0" rtlCol="0" anchor="ctr"/>
          <a:lstStyle/>
          <a:p>
            <a:pPr algn="ctr" indent="0" marL="0">
              <a:buNone/>
            </a:pPr>
            <a:r>
              <a:rPr lang="en-US" sz="900" dirty="0">
                <a:solidFill>
                  <a:srgbClr val="A0A8C0"/>
                </a:solidFill>
              </a:rPr>
              <a:t>Processed per month</a:t>
            </a:r>
            <a:endParaRPr lang="en-US" sz="900" dirty="0"/>
          </a:p>
        </p:txBody>
      </p:sp>
      <p:sp>
        <p:nvSpPr>
          <p:cNvPr id="11" name="Shape 9"/>
          <p:cNvSpPr/>
          <p:nvPr/>
        </p:nvSpPr>
        <p:spPr>
          <a:xfrm>
            <a:off x="4663440" y="868680"/>
            <a:ext cx="1965960" cy="960120"/>
          </a:xfrm>
          <a:prstGeom prst="rect">
            <a:avLst/>
          </a:prstGeom>
          <a:solidFill>
            <a:srgbClr val="12122A"/>
          </a:solidFill>
          <a:ln w="9525">
            <a:solidFill>
              <a:srgbClr val="C9A84C"/>
            </a:solidFill>
            <a:prstDash val="solid"/>
          </a:ln>
          <a:effectLst>
            <a:outerShdw sx="100000" sy="100000" kx="0" ky="0" algn="bl" rotWithShape="0" blurRad="50800" dist="12700" dir="8100000">
              <a:srgbClr val="000000">
                <a:alpha val="7000"/>
              </a:srgbClr>
            </a:outerShdw>
          </a:effectLst>
        </p:spPr>
      </p:sp>
      <p:sp>
        <p:nvSpPr>
          <p:cNvPr id="12" name="Text 10"/>
          <p:cNvSpPr/>
          <p:nvPr/>
        </p:nvSpPr>
        <p:spPr>
          <a:xfrm>
            <a:off x="4663440" y="914400"/>
            <a:ext cx="1965960" cy="457200"/>
          </a:xfrm>
          <a:prstGeom prst="rect">
            <a:avLst/>
          </a:prstGeom>
          <a:noFill/>
          <a:ln/>
        </p:spPr>
        <p:txBody>
          <a:bodyPr wrap="square" lIns="0" tIns="0" rIns="0" bIns="0" rtlCol="0" anchor="ctr"/>
          <a:lstStyle/>
          <a:p>
            <a:pPr algn="ctr" indent="0" marL="0">
              <a:buNone/>
            </a:pPr>
            <a:r>
              <a:rPr lang="en-US" sz="2600" b="1" dirty="0">
                <a:solidFill>
                  <a:srgbClr val="C9A84C"/>
                </a:solidFill>
                <a:latin typeface="Georgia" pitchFamily="34" charset="0"/>
                <a:ea typeface="Georgia" pitchFamily="34" charset="-122"/>
                <a:cs typeface="Georgia" pitchFamily="34" charset="-120"/>
              </a:rPr>
              <a:t>8,000+</a:t>
            </a:r>
            <a:endParaRPr lang="en-US" sz="2600" dirty="0"/>
          </a:p>
        </p:txBody>
      </p:sp>
      <p:sp>
        <p:nvSpPr>
          <p:cNvPr id="13" name="Text 11"/>
          <p:cNvSpPr/>
          <p:nvPr/>
        </p:nvSpPr>
        <p:spPr>
          <a:xfrm>
            <a:off x="4663440" y="1389888"/>
            <a:ext cx="1965960" cy="347472"/>
          </a:xfrm>
          <a:prstGeom prst="rect">
            <a:avLst/>
          </a:prstGeom>
          <a:noFill/>
          <a:ln/>
        </p:spPr>
        <p:txBody>
          <a:bodyPr wrap="square" lIns="0" tIns="0" rIns="0" bIns="0" rtlCol="0" anchor="ctr"/>
          <a:lstStyle/>
          <a:p>
            <a:pPr algn="ctr" indent="0" marL="0">
              <a:buNone/>
            </a:pPr>
            <a:r>
              <a:rPr lang="en-US" sz="900" dirty="0">
                <a:solidFill>
                  <a:srgbClr val="A0A8C0"/>
                </a:solidFill>
              </a:rPr>
              <a:t>Governed datasets</a:t>
            </a:r>
            <a:endParaRPr lang="en-US" sz="900" dirty="0"/>
          </a:p>
        </p:txBody>
      </p:sp>
      <p:sp>
        <p:nvSpPr>
          <p:cNvPr id="14" name="Shape 12"/>
          <p:cNvSpPr/>
          <p:nvPr/>
        </p:nvSpPr>
        <p:spPr>
          <a:xfrm>
            <a:off x="6812280" y="868680"/>
            <a:ext cx="1965960" cy="960120"/>
          </a:xfrm>
          <a:prstGeom prst="rect">
            <a:avLst/>
          </a:prstGeom>
          <a:solidFill>
            <a:srgbClr val="12122A"/>
          </a:solidFill>
          <a:ln w="9525">
            <a:solidFill>
              <a:srgbClr val="C9A84C"/>
            </a:solidFill>
            <a:prstDash val="solid"/>
          </a:ln>
          <a:effectLst>
            <a:outerShdw sx="100000" sy="100000" kx="0" ky="0" algn="bl" rotWithShape="0" blurRad="50800" dist="12700" dir="8100000">
              <a:srgbClr val="000000">
                <a:alpha val="7000"/>
              </a:srgbClr>
            </a:outerShdw>
          </a:effectLst>
        </p:spPr>
      </p:sp>
      <p:sp>
        <p:nvSpPr>
          <p:cNvPr id="15" name="Text 13"/>
          <p:cNvSpPr/>
          <p:nvPr/>
        </p:nvSpPr>
        <p:spPr>
          <a:xfrm>
            <a:off x="6812280" y="914400"/>
            <a:ext cx="1965960" cy="457200"/>
          </a:xfrm>
          <a:prstGeom prst="rect">
            <a:avLst/>
          </a:prstGeom>
          <a:noFill/>
          <a:ln/>
        </p:spPr>
        <p:txBody>
          <a:bodyPr wrap="square" lIns="0" tIns="0" rIns="0" bIns="0" rtlCol="0" anchor="ctr"/>
          <a:lstStyle/>
          <a:p>
            <a:pPr algn="ctr" indent="0" marL="0">
              <a:buNone/>
            </a:pPr>
            <a:r>
              <a:rPr lang="en-US" sz="2600" b="1" dirty="0">
                <a:solidFill>
                  <a:srgbClr val="C9A84C"/>
                </a:solidFill>
                <a:latin typeface="Georgia" pitchFamily="34" charset="0"/>
                <a:ea typeface="Georgia" pitchFamily="34" charset="-122"/>
                <a:cs typeface="Georgia" pitchFamily="34" charset="-120"/>
              </a:rPr>
              <a:t>2M+</a:t>
            </a:r>
            <a:endParaRPr lang="en-US" sz="2600" dirty="0"/>
          </a:p>
        </p:txBody>
      </p:sp>
      <p:sp>
        <p:nvSpPr>
          <p:cNvPr id="16" name="Text 14"/>
          <p:cNvSpPr/>
          <p:nvPr/>
        </p:nvSpPr>
        <p:spPr>
          <a:xfrm>
            <a:off x="6812280" y="1389888"/>
            <a:ext cx="1965960" cy="347472"/>
          </a:xfrm>
          <a:prstGeom prst="rect">
            <a:avLst/>
          </a:prstGeom>
          <a:noFill/>
          <a:ln/>
        </p:spPr>
        <p:txBody>
          <a:bodyPr wrap="square" lIns="0" tIns="0" rIns="0" bIns="0" rtlCol="0" anchor="ctr"/>
          <a:lstStyle/>
          <a:p>
            <a:pPr algn="ctr" indent="0" marL="0">
              <a:buNone/>
            </a:pPr>
            <a:r>
              <a:rPr lang="en-US" sz="900" dirty="0">
                <a:solidFill>
                  <a:srgbClr val="A0A8C0"/>
                </a:solidFill>
              </a:rPr>
              <a:t>BigQuery tables</a:t>
            </a:r>
            <a:endParaRPr lang="en-US" sz="900" dirty="0"/>
          </a:p>
        </p:txBody>
      </p:sp>
      <p:sp>
        <p:nvSpPr>
          <p:cNvPr id="17" name="Shape 15"/>
          <p:cNvSpPr/>
          <p:nvPr/>
        </p:nvSpPr>
        <p:spPr>
          <a:xfrm>
            <a:off x="365760" y="1965960"/>
            <a:ext cx="4023360" cy="260604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8" name="Shape 16"/>
          <p:cNvSpPr/>
          <p:nvPr/>
        </p:nvSpPr>
        <p:spPr>
          <a:xfrm>
            <a:off x="365760" y="1965960"/>
            <a:ext cx="4023360" cy="292608"/>
          </a:xfrm>
          <a:prstGeom prst="rect">
            <a:avLst/>
          </a:prstGeom>
          <a:solidFill>
            <a:srgbClr val="1E1E42"/>
          </a:solidFill>
          <a:ln w="12700">
            <a:solidFill>
              <a:srgbClr val="1E1E42"/>
            </a:solidFill>
            <a:prstDash val="solid"/>
          </a:ln>
        </p:spPr>
      </p:sp>
      <p:sp>
        <p:nvSpPr>
          <p:cNvPr id="19" name="Text 17"/>
          <p:cNvSpPr/>
          <p:nvPr/>
        </p:nvSpPr>
        <p:spPr>
          <a:xfrm>
            <a:off x="365760" y="1965960"/>
            <a:ext cx="4023360" cy="292608"/>
          </a:xfrm>
          <a:prstGeom prst="rect">
            <a:avLst/>
          </a:prstGeom>
          <a:noFill/>
          <a:ln/>
        </p:spPr>
        <p:txBody>
          <a:bodyPr wrap="square" lIns="0" tIns="0" rIns="0" bIns="0" rtlCol="0" anchor="ctr"/>
          <a:lstStyle/>
          <a:p>
            <a:pPr algn="ctr" indent="0" marL="0">
              <a:buNone/>
            </a:pPr>
            <a:r>
              <a:rPr lang="en-US" sz="900" b="1" spc="100" kern="0" dirty="0">
                <a:solidFill>
                  <a:srgbClr val="C9A84C"/>
                </a:solidFill>
              </a:rPr>
              <a:t>DATA PLATFORM STACK</a:t>
            </a:r>
            <a:endParaRPr lang="en-US" sz="900" dirty="0"/>
          </a:p>
        </p:txBody>
      </p:sp>
      <p:sp>
        <p:nvSpPr>
          <p:cNvPr id="20" name="Text 18"/>
          <p:cNvSpPr/>
          <p:nvPr/>
        </p:nvSpPr>
        <p:spPr>
          <a:xfrm>
            <a:off x="502920" y="2331720"/>
            <a:ext cx="3749040" cy="320040"/>
          </a:xfrm>
          <a:prstGeom prst="rect">
            <a:avLst/>
          </a:prstGeom>
          <a:noFill/>
          <a:ln/>
        </p:spPr>
        <p:txBody>
          <a:bodyPr wrap="square" lIns="0" tIns="0" rIns="0" bIns="0" rtlCol="0" anchor="ctr"/>
          <a:lstStyle/>
          <a:p>
            <a:pPr indent="0" marL="0">
              <a:buNone/>
            </a:pPr>
            <a:r>
              <a:rPr lang="en-US" sz="1000" b="1" dirty="0">
                <a:solidFill>
                  <a:srgbClr val="1A1A2E"/>
                </a:solidFill>
              </a:rPr>
              <a:t>Google Cloud Platform (GCP)  </a:t>
            </a:r>
            <a:pPr indent="0" marL="0">
              <a:buNone/>
            </a:pPr>
            <a:r>
              <a:rPr lang="en-US" sz="1000" dirty="0">
                <a:solidFill>
                  <a:srgbClr val="6B7280"/>
                </a:solidFill>
              </a:rPr>
              <a:t>— Primary cloud &amp; compute layer</a:t>
            </a:r>
            <a:pPr indent="0" marL="0">
              <a:buNone/>
            </a:pPr>
            <a:endParaRPr lang="en-US" sz="1000" dirty="0"/>
          </a:p>
        </p:txBody>
      </p:sp>
      <p:sp>
        <p:nvSpPr>
          <p:cNvPr id="21" name="Text 19"/>
          <p:cNvSpPr/>
          <p:nvPr/>
        </p:nvSpPr>
        <p:spPr>
          <a:xfrm>
            <a:off x="502920" y="2670048"/>
            <a:ext cx="3749040" cy="320040"/>
          </a:xfrm>
          <a:prstGeom prst="rect">
            <a:avLst/>
          </a:prstGeom>
          <a:noFill/>
          <a:ln/>
        </p:spPr>
        <p:txBody>
          <a:bodyPr wrap="square" lIns="0" tIns="0" rIns="0" bIns="0" rtlCol="0" anchor="ctr"/>
          <a:lstStyle/>
          <a:p>
            <a:pPr indent="0" marL="0">
              <a:buNone/>
            </a:pPr>
            <a:r>
              <a:rPr lang="en-US" sz="1000" b="1" dirty="0">
                <a:solidFill>
                  <a:srgbClr val="1A1A2E"/>
                </a:solidFill>
              </a:rPr>
              <a:t>BigQuery  </a:t>
            </a:r>
            <a:pPr indent="0" marL="0">
              <a:buNone/>
            </a:pPr>
            <a:r>
              <a:rPr lang="en-US" sz="1000" dirty="0">
                <a:solidFill>
                  <a:srgbClr val="6B7280"/>
                </a:solidFill>
              </a:rPr>
              <a:t>— Central data warehouse (100TB)</a:t>
            </a:r>
            <a:pPr indent="0" marL="0">
              <a:buNone/>
            </a:pPr>
            <a:endParaRPr lang="en-US" sz="1000" dirty="0"/>
          </a:p>
        </p:txBody>
      </p:sp>
      <p:sp>
        <p:nvSpPr>
          <p:cNvPr id="22" name="Text 20"/>
          <p:cNvSpPr/>
          <p:nvPr/>
        </p:nvSpPr>
        <p:spPr>
          <a:xfrm>
            <a:off x="502920" y="3008376"/>
            <a:ext cx="3749040" cy="320040"/>
          </a:xfrm>
          <a:prstGeom prst="rect">
            <a:avLst/>
          </a:prstGeom>
          <a:noFill/>
          <a:ln/>
        </p:spPr>
        <p:txBody>
          <a:bodyPr wrap="square" lIns="0" tIns="0" rIns="0" bIns="0" rtlCol="0" anchor="ctr"/>
          <a:lstStyle/>
          <a:p>
            <a:pPr indent="0" marL="0">
              <a:buNone/>
            </a:pPr>
            <a:r>
              <a:rPr lang="en-US" sz="1000" b="1" dirty="0">
                <a:solidFill>
                  <a:srgbClr val="1A1A2E"/>
                </a:solidFill>
              </a:rPr>
              <a:t>Databricks Lakehouse  </a:t>
            </a:r>
            <a:pPr indent="0" marL="0">
              <a:buNone/>
            </a:pPr>
            <a:r>
              <a:rPr lang="en-US" sz="1000" dirty="0">
                <a:solidFill>
                  <a:srgbClr val="6B7280"/>
                </a:solidFill>
              </a:rPr>
              <a:t>— Data engineering &amp; ML pipelines</a:t>
            </a:r>
            <a:pPr indent="0" marL="0">
              <a:buNone/>
            </a:pPr>
            <a:endParaRPr lang="en-US" sz="1000" dirty="0"/>
          </a:p>
        </p:txBody>
      </p:sp>
      <p:sp>
        <p:nvSpPr>
          <p:cNvPr id="23" name="Text 21"/>
          <p:cNvSpPr/>
          <p:nvPr/>
        </p:nvSpPr>
        <p:spPr>
          <a:xfrm>
            <a:off x="502920" y="3346704"/>
            <a:ext cx="3749040" cy="320040"/>
          </a:xfrm>
          <a:prstGeom prst="rect">
            <a:avLst/>
          </a:prstGeom>
          <a:noFill/>
          <a:ln/>
        </p:spPr>
        <p:txBody>
          <a:bodyPr wrap="square" lIns="0" tIns="0" rIns="0" bIns="0" rtlCol="0" anchor="ctr"/>
          <a:lstStyle/>
          <a:p>
            <a:pPr indent="0" marL="0">
              <a:buNone/>
            </a:pPr>
            <a:r>
              <a:rPr lang="en-US" sz="1000" b="1" dirty="0">
                <a:solidFill>
                  <a:srgbClr val="1A1A2E"/>
                </a:solidFill>
              </a:rPr>
              <a:t>SAP on Azure  </a:t>
            </a:r>
            <a:pPr indent="0" marL="0">
              <a:buNone/>
            </a:pPr>
            <a:r>
              <a:rPr lang="en-US" sz="1000" dirty="0">
                <a:solidFill>
                  <a:srgbClr val="6B7280"/>
                </a:solidFill>
              </a:rPr>
              <a:t>— Finance, HR, sales, distribution ERP</a:t>
            </a:r>
            <a:pPr indent="0" marL="0">
              <a:buNone/>
            </a:pPr>
            <a:endParaRPr lang="en-US" sz="1000" dirty="0"/>
          </a:p>
        </p:txBody>
      </p:sp>
      <p:sp>
        <p:nvSpPr>
          <p:cNvPr id="24" name="Text 22"/>
          <p:cNvSpPr/>
          <p:nvPr/>
        </p:nvSpPr>
        <p:spPr>
          <a:xfrm>
            <a:off x="502920" y="3685032"/>
            <a:ext cx="3749040" cy="320040"/>
          </a:xfrm>
          <a:prstGeom prst="rect">
            <a:avLst/>
          </a:prstGeom>
          <a:noFill/>
          <a:ln/>
        </p:spPr>
        <p:txBody>
          <a:bodyPr wrap="square" lIns="0" tIns="0" rIns="0" bIns="0" rtlCol="0" anchor="ctr"/>
          <a:lstStyle/>
          <a:p>
            <a:pPr indent="0" marL="0">
              <a:buNone/>
            </a:pPr>
            <a:r>
              <a:rPr lang="en-US" sz="1000" b="1" dirty="0">
                <a:solidFill>
                  <a:srgbClr val="1A1A2E"/>
                </a:solidFill>
              </a:rPr>
              <a:t>Salesforce + CDP (Tealium)  </a:t>
            </a:r>
            <a:pPr indent="0" marL="0">
              <a:buNone/>
            </a:pPr>
            <a:r>
              <a:rPr lang="en-US" sz="1000" dirty="0">
                <a:solidFill>
                  <a:srgbClr val="6B7280"/>
                </a:solidFill>
              </a:rPr>
              <a:t>— Customer data &amp; personalization</a:t>
            </a:r>
            <a:pPr indent="0" marL="0">
              <a:buNone/>
            </a:pPr>
            <a:endParaRPr lang="en-US" sz="1000" dirty="0"/>
          </a:p>
        </p:txBody>
      </p:sp>
      <p:sp>
        <p:nvSpPr>
          <p:cNvPr id="25" name="Text 23"/>
          <p:cNvSpPr/>
          <p:nvPr/>
        </p:nvSpPr>
        <p:spPr>
          <a:xfrm>
            <a:off x="502920" y="4023360"/>
            <a:ext cx="3749040" cy="320040"/>
          </a:xfrm>
          <a:prstGeom prst="rect">
            <a:avLst/>
          </a:prstGeom>
          <a:noFill/>
          <a:ln/>
        </p:spPr>
        <p:txBody>
          <a:bodyPr wrap="square" lIns="0" tIns="0" rIns="0" bIns="0" rtlCol="0" anchor="ctr"/>
          <a:lstStyle/>
          <a:p>
            <a:pPr indent="0" marL="0">
              <a:buNone/>
            </a:pPr>
            <a:r>
              <a:rPr lang="en-US" sz="1000" b="1" dirty="0">
                <a:solidFill>
                  <a:srgbClr val="1A1A2E"/>
                </a:solidFill>
              </a:rPr>
              <a:t>Power Platform / Power BI  </a:t>
            </a:r>
            <a:pPr indent="0" marL="0">
              <a:buNone/>
            </a:pPr>
            <a:r>
              <a:rPr lang="en-US" sz="1000" dirty="0">
                <a:solidFill>
                  <a:srgbClr val="6B7280"/>
                </a:solidFill>
              </a:rPr>
              <a:t>— Analytics, reporting &amp; low-code apps</a:t>
            </a:r>
            <a:endParaRPr lang="en-US" sz="1000" dirty="0"/>
          </a:p>
        </p:txBody>
      </p:sp>
      <p:sp>
        <p:nvSpPr>
          <p:cNvPr id="26" name="Shape 24"/>
          <p:cNvSpPr/>
          <p:nvPr/>
        </p:nvSpPr>
        <p:spPr>
          <a:xfrm>
            <a:off x="4663440" y="1965960"/>
            <a:ext cx="4114800" cy="2606040"/>
          </a:xfrm>
          <a:prstGeom prst="rect">
            <a:avLst/>
          </a:prstGeom>
          <a:solidFill>
            <a:srgbClr val="FEF5E7"/>
          </a:solidFill>
          <a:ln w="9525">
            <a:solidFill>
              <a:srgbClr val="C9A84C"/>
            </a:solidFill>
            <a:prstDash val="solid"/>
          </a:ln>
          <a:effectLst>
            <a:outerShdw sx="100000" sy="100000" kx="0" ky="0" algn="bl" rotWithShape="0" blurRad="50800" dist="12700" dir="8100000">
              <a:srgbClr val="000000">
                <a:alpha val="7000"/>
              </a:srgbClr>
            </a:outerShdw>
          </a:effectLst>
        </p:spPr>
      </p:sp>
      <p:sp>
        <p:nvSpPr>
          <p:cNvPr id="27" name="Shape 25"/>
          <p:cNvSpPr/>
          <p:nvPr/>
        </p:nvSpPr>
        <p:spPr>
          <a:xfrm>
            <a:off x="4663440" y="1965960"/>
            <a:ext cx="4114800" cy="292608"/>
          </a:xfrm>
          <a:prstGeom prst="rect">
            <a:avLst/>
          </a:prstGeom>
          <a:solidFill>
            <a:srgbClr val="C9A84C"/>
          </a:solidFill>
          <a:ln w="12700">
            <a:solidFill>
              <a:srgbClr val="C9A84C"/>
            </a:solidFill>
            <a:prstDash val="solid"/>
          </a:ln>
        </p:spPr>
      </p:sp>
      <p:sp>
        <p:nvSpPr>
          <p:cNvPr id="28" name="Text 26"/>
          <p:cNvSpPr/>
          <p:nvPr/>
        </p:nvSpPr>
        <p:spPr>
          <a:xfrm>
            <a:off x="4663440" y="1965960"/>
            <a:ext cx="4114800" cy="292608"/>
          </a:xfrm>
          <a:prstGeom prst="rect">
            <a:avLst/>
          </a:prstGeom>
          <a:noFill/>
          <a:ln/>
        </p:spPr>
        <p:txBody>
          <a:bodyPr wrap="square" lIns="0" tIns="0" rIns="0" bIns="0" rtlCol="0" anchor="ctr"/>
          <a:lstStyle/>
          <a:p>
            <a:pPr algn="ctr" indent="0" marL="0">
              <a:buNone/>
            </a:pPr>
            <a:r>
              <a:rPr lang="en-US" sz="900" b="1" spc="100" kern="0" dirty="0">
                <a:solidFill>
                  <a:srgbClr val="12122A"/>
                </a:solidFill>
              </a:rPr>
              <a:t>STRATEGIC CONTEXT</a:t>
            </a:r>
            <a:endParaRPr lang="en-US" sz="900" dirty="0"/>
          </a:p>
        </p:txBody>
      </p:sp>
      <p:sp>
        <p:nvSpPr>
          <p:cNvPr id="29" name="Text 27"/>
          <p:cNvSpPr/>
          <p:nvPr/>
        </p:nvSpPr>
        <p:spPr>
          <a:xfrm>
            <a:off x="4800600" y="2331720"/>
            <a:ext cx="3840480" cy="320040"/>
          </a:xfrm>
          <a:prstGeom prst="rect">
            <a:avLst/>
          </a:prstGeom>
          <a:noFill/>
          <a:ln/>
        </p:spPr>
        <p:txBody>
          <a:bodyPr wrap="square" lIns="0" tIns="0" rIns="0" bIns="0" rtlCol="0" anchor="ctr"/>
          <a:lstStyle/>
          <a:p>
            <a:pPr indent="0" marL="0">
              <a:buNone/>
            </a:pPr>
            <a:r>
              <a:rPr lang="en-US" sz="1000" b="1" dirty="0">
                <a:solidFill>
                  <a:srgbClr val="C9A84C"/>
                </a:solidFill>
              </a:rPr>
              <a:t>▸  </a:t>
            </a:r>
            <a:pPr indent="0" marL="0">
              <a:buNone/>
            </a:pPr>
            <a:r>
              <a:rPr lang="en-US" sz="1000" dirty="0">
                <a:solidFill>
                  <a:srgbClr val="1A1A2E"/>
                </a:solidFill>
              </a:rPr>
              <a:t>"AI now transcends many things we do" — CEO Nicolas Hieronimus</a:t>
            </a:r>
            <a:pPr indent="0" marL="0">
              <a:buNone/>
            </a:pPr>
            <a:endParaRPr lang="en-US" sz="1000" dirty="0"/>
          </a:p>
        </p:txBody>
      </p:sp>
      <p:sp>
        <p:nvSpPr>
          <p:cNvPr id="30" name="Text 28"/>
          <p:cNvSpPr/>
          <p:nvPr/>
        </p:nvSpPr>
        <p:spPr>
          <a:xfrm>
            <a:off x="4800600" y="2670048"/>
            <a:ext cx="3840480" cy="320040"/>
          </a:xfrm>
          <a:prstGeom prst="rect">
            <a:avLst/>
          </a:prstGeom>
          <a:noFill/>
          <a:ln/>
        </p:spPr>
        <p:txBody>
          <a:bodyPr wrap="square" lIns="0" tIns="0" rIns="0" bIns="0" rtlCol="0" anchor="ctr"/>
          <a:lstStyle/>
          <a:p>
            <a:pPr indent="0" marL="0">
              <a:buNone/>
            </a:pPr>
            <a:r>
              <a:rPr lang="en-US" sz="1000" b="1" dirty="0">
                <a:solidFill>
                  <a:srgbClr val="C9A84C"/>
                </a:solidFill>
              </a:rPr>
              <a:t>▸  </a:t>
            </a:r>
            <a:pPr indent="0" marL="0">
              <a:buNone/>
            </a:pPr>
            <a:r>
              <a:rPr lang="en-US" sz="1000" dirty="0">
                <a:solidFill>
                  <a:srgbClr val="1A1A2E"/>
                </a:solidFill>
              </a:rPr>
              <a:t>CDAO exists at both division (Luxe: Lucas Fourès) and zone level</a:t>
            </a:r>
            <a:pPr indent="0" marL="0">
              <a:buNone/>
            </a:pPr>
            <a:endParaRPr lang="en-US" sz="1000" dirty="0"/>
          </a:p>
        </p:txBody>
      </p:sp>
      <p:sp>
        <p:nvSpPr>
          <p:cNvPr id="31" name="Text 29"/>
          <p:cNvSpPr/>
          <p:nvPr/>
        </p:nvSpPr>
        <p:spPr>
          <a:xfrm>
            <a:off x="4800600" y="3008376"/>
            <a:ext cx="3840480" cy="320040"/>
          </a:xfrm>
          <a:prstGeom prst="rect">
            <a:avLst/>
          </a:prstGeom>
          <a:noFill/>
          <a:ln/>
        </p:spPr>
        <p:txBody>
          <a:bodyPr wrap="square" lIns="0" tIns="0" rIns="0" bIns="0" rtlCol="0" anchor="ctr"/>
          <a:lstStyle/>
          <a:p>
            <a:pPr indent="0" marL="0">
              <a:buNone/>
            </a:pPr>
            <a:r>
              <a:rPr lang="en-US" sz="1000" b="1" dirty="0">
                <a:solidFill>
                  <a:srgbClr val="C9A84C"/>
                </a:solidFill>
              </a:rPr>
              <a:t>▸  </a:t>
            </a:r>
            <a:pPr indent="0" marL="0">
              <a:buNone/>
            </a:pPr>
            <a:r>
              <a:rPr lang="en-US" sz="1000" dirty="0">
                <a:solidFill>
                  <a:srgbClr val="1A1A2E"/>
                </a:solidFill>
              </a:rPr>
              <a:t>Emily Khan leads AI/Digital Data &amp; Analytics, North America</a:t>
            </a:r>
            <a:pPr indent="0" marL="0">
              <a:buNone/>
            </a:pPr>
            <a:endParaRPr lang="en-US" sz="1000" dirty="0"/>
          </a:p>
        </p:txBody>
      </p:sp>
      <p:sp>
        <p:nvSpPr>
          <p:cNvPr id="32" name="Text 30"/>
          <p:cNvSpPr/>
          <p:nvPr/>
        </p:nvSpPr>
        <p:spPr>
          <a:xfrm>
            <a:off x="4800600" y="3346704"/>
            <a:ext cx="3840480" cy="320040"/>
          </a:xfrm>
          <a:prstGeom prst="rect">
            <a:avLst/>
          </a:prstGeom>
          <a:noFill/>
          <a:ln/>
        </p:spPr>
        <p:txBody>
          <a:bodyPr wrap="square" lIns="0" tIns="0" rIns="0" bIns="0" rtlCol="0" anchor="ctr"/>
          <a:lstStyle/>
          <a:p>
            <a:pPr indent="0" marL="0">
              <a:buNone/>
            </a:pPr>
            <a:r>
              <a:rPr lang="en-US" sz="1000" b="1" dirty="0">
                <a:solidFill>
                  <a:srgbClr val="C9A84C"/>
                </a:solidFill>
              </a:rPr>
              <a:t>▸  </a:t>
            </a:r>
            <a:pPr indent="0" marL="0">
              <a:buNone/>
            </a:pPr>
            <a:r>
              <a:rPr lang="en-US" sz="1000" dirty="0">
                <a:solidFill>
                  <a:srgbClr val="1A1A2E"/>
                </a:solidFill>
              </a:rPr>
              <a:t>Power BI + Power Apps heavily used in Americas Tech Factory</a:t>
            </a:r>
            <a:pPr indent="0" marL="0">
              <a:buNone/>
            </a:pPr>
            <a:endParaRPr lang="en-US" sz="1000" dirty="0"/>
          </a:p>
        </p:txBody>
      </p:sp>
      <p:sp>
        <p:nvSpPr>
          <p:cNvPr id="33" name="Text 31"/>
          <p:cNvSpPr/>
          <p:nvPr/>
        </p:nvSpPr>
        <p:spPr>
          <a:xfrm>
            <a:off x="4800600" y="3685032"/>
            <a:ext cx="3840480" cy="320040"/>
          </a:xfrm>
          <a:prstGeom prst="rect">
            <a:avLst/>
          </a:prstGeom>
          <a:noFill/>
          <a:ln/>
        </p:spPr>
        <p:txBody>
          <a:bodyPr wrap="square" lIns="0" tIns="0" rIns="0" bIns="0" rtlCol="0" anchor="ctr"/>
          <a:lstStyle/>
          <a:p>
            <a:pPr indent="0" marL="0">
              <a:buNone/>
            </a:pPr>
            <a:r>
              <a:rPr lang="en-US" sz="1000" b="1" dirty="0">
                <a:solidFill>
                  <a:srgbClr val="C9A84C"/>
                </a:solidFill>
              </a:rPr>
              <a:t>▸  </a:t>
            </a:r>
            <a:pPr indent="0" marL="0">
              <a:buNone/>
            </a:pPr>
            <a:r>
              <a:rPr lang="en-US" sz="1000" dirty="0">
                <a:solidFill>
                  <a:srgbClr val="1A1A2E"/>
                </a:solidFill>
              </a:rPr>
              <a:t>19 brands on CDP with 30+ more onboarding — massive data scale</a:t>
            </a:r>
            <a:pPr indent="0" marL="0">
              <a:buNone/>
            </a:pPr>
            <a:endParaRPr lang="en-US" sz="1000" dirty="0"/>
          </a:p>
        </p:txBody>
      </p:sp>
      <p:sp>
        <p:nvSpPr>
          <p:cNvPr id="34" name="Text 32"/>
          <p:cNvSpPr/>
          <p:nvPr/>
        </p:nvSpPr>
        <p:spPr>
          <a:xfrm>
            <a:off x="4800600" y="4023360"/>
            <a:ext cx="3840480" cy="320040"/>
          </a:xfrm>
          <a:prstGeom prst="rect">
            <a:avLst/>
          </a:prstGeom>
          <a:noFill/>
          <a:ln/>
        </p:spPr>
        <p:txBody>
          <a:bodyPr wrap="square" lIns="0" tIns="0" rIns="0" bIns="0" rtlCol="0" anchor="ctr"/>
          <a:lstStyle/>
          <a:p>
            <a:pPr indent="0" marL="0">
              <a:buNone/>
            </a:pPr>
            <a:r>
              <a:rPr lang="en-US" sz="1000" b="1" dirty="0">
                <a:solidFill>
                  <a:srgbClr val="C9A84C"/>
                </a:solidFill>
              </a:rPr>
              <a:t>▸  </a:t>
            </a:r>
            <a:pPr indent="0" marL="0">
              <a:buNone/>
            </a:pPr>
            <a:r>
              <a:rPr lang="en-US" sz="1000" dirty="0">
                <a:solidFill>
                  <a:srgbClr val="1A1A2E"/>
                </a:solidFill>
              </a:rPr>
              <a:t>First-party data personalization → proven revenue &amp; engagement uplifts</a:t>
            </a:r>
            <a:endParaRPr lang="en-US" sz="1000" dirty="0"/>
          </a:p>
        </p:txBody>
      </p:sp>
      <p:sp>
        <p:nvSpPr>
          <p:cNvPr id="35" name="Shape 33"/>
          <p:cNvSpPr/>
          <p:nvPr/>
        </p:nvSpPr>
        <p:spPr>
          <a:xfrm>
            <a:off x="365760" y="4663440"/>
            <a:ext cx="8412480" cy="347472"/>
          </a:xfrm>
          <a:prstGeom prst="rect">
            <a:avLst/>
          </a:prstGeom>
          <a:solidFill>
            <a:srgbClr val="DBEAFE"/>
          </a:solidFill>
          <a:ln w="9525">
            <a:solidFill>
              <a:srgbClr val="1D4ED8"/>
            </a:solidFill>
            <a:prstDash val="solid"/>
          </a:ln>
        </p:spPr>
      </p:sp>
      <p:sp>
        <p:nvSpPr>
          <p:cNvPr id="36" name="Text 34"/>
          <p:cNvSpPr/>
          <p:nvPr/>
        </p:nvSpPr>
        <p:spPr>
          <a:xfrm>
            <a:off x="457200" y="4663440"/>
            <a:ext cx="8321040" cy="347472"/>
          </a:xfrm>
          <a:prstGeom prst="rect">
            <a:avLst/>
          </a:prstGeom>
          <a:noFill/>
          <a:ln/>
        </p:spPr>
        <p:txBody>
          <a:bodyPr wrap="square" lIns="0" tIns="0" rIns="0" bIns="0" rtlCol="0" anchor="ctr"/>
          <a:lstStyle/>
          <a:p>
            <a:pPr indent="0" marL="0">
              <a:buNone/>
            </a:pPr>
            <a:r>
              <a:rPr lang="en-US" sz="950" dirty="0">
                <a:solidFill>
                  <a:srgbClr val="1D4ED8"/>
                </a:solidFill>
              </a:rPr>
              <a:t>💡  USE THIS: "Given L'Oréal's BigQuery-first architecture with 100TB+ of governed data, my focus would be ensuring Power BI models are optimized for DirectQuery against BQ partitioned tables, not just Import mode."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DAX Deep Dive — Patterns You Must Know Cold</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3749040" cy="411480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6" name="Shape 4"/>
          <p:cNvSpPr/>
          <p:nvPr/>
        </p:nvSpPr>
        <p:spPr>
          <a:xfrm>
            <a:off x="365760" y="868680"/>
            <a:ext cx="3749040" cy="292608"/>
          </a:xfrm>
          <a:prstGeom prst="rect">
            <a:avLst/>
          </a:prstGeom>
          <a:solidFill>
            <a:srgbClr val="12122A"/>
          </a:solidFill>
          <a:ln w="12700">
            <a:solidFill>
              <a:srgbClr val="12122A"/>
            </a:solidFill>
            <a:prstDash val="solid"/>
          </a:ln>
        </p:spPr>
      </p:sp>
      <p:sp>
        <p:nvSpPr>
          <p:cNvPr id="7" name="Text 5"/>
          <p:cNvSpPr/>
          <p:nvPr/>
        </p:nvSpPr>
        <p:spPr>
          <a:xfrm>
            <a:off x="365760" y="868680"/>
            <a:ext cx="3749040" cy="292608"/>
          </a:xfrm>
          <a:prstGeom prst="rect">
            <a:avLst/>
          </a:prstGeom>
          <a:noFill/>
          <a:ln/>
        </p:spPr>
        <p:txBody>
          <a:bodyPr wrap="square" lIns="0" tIns="0" rIns="0" bIns="0" rtlCol="0" anchor="ctr"/>
          <a:lstStyle/>
          <a:p>
            <a:pPr algn="ctr" indent="0" marL="0">
              <a:buNone/>
            </a:pPr>
            <a:r>
              <a:rPr lang="en-US" sz="900" b="1" spc="100" kern="0" dirty="0">
                <a:solidFill>
                  <a:srgbClr val="C9A84C"/>
                </a:solidFill>
              </a:rPr>
              <a:t>MUST-KNOW PATTERNS</a:t>
            </a:r>
            <a:endParaRPr lang="en-US" sz="900" dirty="0"/>
          </a:p>
        </p:txBody>
      </p:sp>
      <p:sp>
        <p:nvSpPr>
          <p:cNvPr id="8" name="Text 6"/>
          <p:cNvSpPr/>
          <p:nvPr/>
        </p:nvSpPr>
        <p:spPr>
          <a:xfrm>
            <a:off x="502920" y="1252728"/>
            <a:ext cx="3474720" cy="182880"/>
          </a:xfrm>
          <a:prstGeom prst="rect">
            <a:avLst/>
          </a:prstGeom>
          <a:noFill/>
          <a:ln/>
        </p:spPr>
        <p:txBody>
          <a:bodyPr wrap="square" lIns="0" tIns="0" rIns="0" bIns="0" rtlCol="0" anchor="ctr"/>
          <a:lstStyle/>
          <a:p>
            <a:pPr indent="0" marL="0">
              <a:buNone/>
            </a:pPr>
            <a:r>
              <a:rPr lang="en-US" sz="1000" b="1" dirty="0">
                <a:solidFill>
                  <a:srgbClr val="12122A"/>
                </a:solidFill>
              </a:rPr>
              <a:t>CALCULATE + FILTER</a:t>
            </a:r>
            <a:endParaRPr lang="en-US" sz="1000" dirty="0"/>
          </a:p>
        </p:txBody>
      </p:sp>
      <p:sp>
        <p:nvSpPr>
          <p:cNvPr id="9" name="Text 7"/>
          <p:cNvSpPr/>
          <p:nvPr/>
        </p:nvSpPr>
        <p:spPr>
          <a:xfrm>
            <a:off x="502920" y="1435608"/>
            <a:ext cx="3474720" cy="292608"/>
          </a:xfrm>
          <a:prstGeom prst="rect">
            <a:avLst/>
          </a:prstGeom>
          <a:noFill/>
          <a:ln/>
        </p:spPr>
        <p:txBody>
          <a:bodyPr wrap="square" lIns="0" tIns="0" rIns="0" bIns="0" rtlCol="0" anchor="ctr"/>
          <a:lstStyle/>
          <a:p>
            <a:pPr indent="0" marL="0">
              <a:buNone/>
            </a:pPr>
            <a:r>
              <a:rPr lang="en-US" sz="900" dirty="0">
                <a:solidFill>
                  <a:srgbClr val="6B7280"/>
                </a:solidFill>
              </a:rPr>
              <a:t>Modify filter context. Never use FILTER on full tables — use it on calculated columns or pre-aggregated sets.</a:t>
            </a:r>
            <a:endParaRPr lang="en-US" sz="900" dirty="0"/>
          </a:p>
        </p:txBody>
      </p:sp>
      <p:sp>
        <p:nvSpPr>
          <p:cNvPr id="10" name="Text 8"/>
          <p:cNvSpPr/>
          <p:nvPr/>
        </p:nvSpPr>
        <p:spPr>
          <a:xfrm>
            <a:off x="502920" y="1783080"/>
            <a:ext cx="3474720" cy="182880"/>
          </a:xfrm>
          <a:prstGeom prst="rect">
            <a:avLst/>
          </a:prstGeom>
          <a:noFill/>
          <a:ln/>
        </p:spPr>
        <p:txBody>
          <a:bodyPr wrap="square" lIns="0" tIns="0" rIns="0" bIns="0" rtlCol="0" anchor="ctr"/>
          <a:lstStyle/>
          <a:p>
            <a:pPr indent="0" marL="0">
              <a:buNone/>
            </a:pPr>
            <a:r>
              <a:rPr lang="en-US" sz="1000" b="1" dirty="0">
                <a:solidFill>
                  <a:srgbClr val="12122A"/>
                </a:solidFill>
              </a:rPr>
              <a:t>VAR...RETURN</a:t>
            </a:r>
            <a:endParaRPr lang="en-US" sz="1000" dirty="0"/>
          </a:p>
        </p:txBody>
      </p:sp>
      <p:sp>
        <p:nvSpPr>
          <p:cNvPr id="11" name="Text 9"/>
          <p:cNvSpPr/>
          <p:nvPr/>
        </p:nvSpPr>
        <p:spPr>
          <a:xfrm>
            <a:off x="502920" y="1965960"/>
            <a:ext cx="3474720" cy="292608"/>
          </a:xfrm>
          <a:prstGeom prst="rect">
            <a:avLst/>
          </a:prstGeom>
          <a:noFill/>
          <a:ln/>
        </p:spPr>
        <p:txBody>
          <a:bodyPr wrap="square" lIns="0" tIns="0" rIns="0" bIns="0" rtlCol="0" anchor="ctr"/>
          <a:lstStyle/>
          <a:p>
            <a:pPr indent="0" marL="0">
              <a:buNone/>
            </a:pPr>
            <a:r>
              <a:rPr lang="en-US" sz="900" dirty="0">
                <a:solidFill>
                  <a:srgbClr val="6B7280"/>
                </a:solidFill>
              </a:rPr>
              <a:t>Cache intermediate results. Avoids recalculating the same expression twice. Always use for complex measures.</a:t>
            </a:r>
            <a:endParaRPr lang="en-US" sz="900" dirty="0"/>
          </a:p>
        </p:txBody>
      </p:sp>
      <p:sp>
        <p:nvSpPr>
          <p:cNvPr id="12" name="Text 10"/>
          <p:cNvSpPr/>
          <p:nvPr/>
        </p:nvSpPr>
        <p:spPr>
          <a:xfrm>
            <a:off x="502920" y="2313432"/>
            <a:ext cx="3474720" cy="182880"/>
          </a:xfrm>
          <a:prstGeom prst="rect">
            <a:avLst/>
          </a:prstGeom>
          <a:noFill/>
          <a:ln/>
        </p:spPr>
        <p:txBody>
          <a:bodyPr wrap="square" lIns="0" tIns="0" rIns="0" bIns="0" rtlCol="0" anchor="ctr"/>
          <a:lstStyle/>
          <a:p>
            <a:pPr indent="0" marL="0">
              <a:buNone/>
            </a:pPr>
            <a:r>
              <a:rPr lang="en-US" sz="1000" b="1" dirty="0">
                <a:solidFill>
                  <a:srgbClr val="12122A"/>
                </a:solidFill>
              </a:rPr>
              <a:t>USERELATIONSHIP()</a:t>
            </a:r>
            <a:endParaRPr lang="en-US" sz="1000" dirty="0"/>
          </a:p>
        </p:txBody>
      </p:sp>
      <p:sp>
        <p:nvSpPr>
          <p:cNvPr id="13" name="Text 11"/>
          <p:cNvSpPr/>
          <p:nvPr/>
        </p:nvSpPr>
        <p:spPr>
          <a:xfrm>
            <a:off x="502920" y="2496312"/>
            <a:ext cx="3474720" cy="292608"/>
          </a:xfrm>
          <a:prstGeom prst="rect">
            <a:avLst/>
          </a:prstGeom>
          <a:noFill/>
          <a:ln/>
        </p:spPr>
        <p:txBody>
          <a:bodyPr wrap="square" lIns="0" tIns="0" rIns="0" bIns="0" rtlCol="0" anchor="ctr"/>
          <a:lstStyle/>
          <a:p>
            <a:pPr indent="0" marL="0">
              <a:buNone/>
            </a:pPr>
            <a:r>
              <a:rPr lang="en-US" sz="900" dirty="0">
                <a:solidFill>
                  <a:srgbClr val="6B7280"/>
                </a:solidFill>
              </a:rPr>
              <a:t>Activates an inactive relationship. Key for role-playing dimensions (e.g., two date fields on a fact).</a:t>
            </a:r>
            <a:endParaRPr lang="en-US" sz="900" dirty="0"/>
          </a:p>
        </p:txBody>
      </p:sp>
      <p:sp>
        <p:nvSpPr>
          <p:cNvPr id="14" name="Text 12"/>
          <p:cNvSpPr/>
          <p:nvPr/>
        </p:nvSpPr>
        <p:spPr>
          <a:xfrm>
            <a:off x="502920" y="2843784"/>
            <a:ext cx="3474720" cy="182880"/>
          </a:xfrm>
          <a:prstGeom prst="rect">
            <a:avLst/>
          </a:prstGeom>
          <a:noFill/>
          <a:ln/>
        </p:spPr>
        <p:txBody>
          <a:bodyPr wrap="square" lIns="0" tIns="0" rIns="0" bIns="0" rtlCol="0" anchor="ctr"/>
          <a:lstStyle/>
          <a:p>
            <a:pPr indent="0" marL="0">
              <a:buNone/>
            </a:pPr>
            <a:r>
              <a:rPr lang="en-US" sz="1000" b="1" dirty="0">
                <a:solidFill>
                  <a:srgbClr val="12122A"/>
                </a:solidFill>
              </a:rPr>
              <a:t>Time Intelligence</a:t>
            </a:r>
            <a:endParaRPr lang="en-US" sz="1000" dirty="0"/>
          </a:p>
        </p:txBody>
      </p:sp>
      <p:sp>
        <p:nvSpPr>
          <p:cNvPr id="15" name="Text 13"/>
          <p:cNvSpPr/>
          <p:nvPr/>
        </p:nvSpPr>
        <p:spPr>
          <a:xfrm>
            <a:off x="502920" y="3026664"/>
            <a:ext cx="3474720" cy="292608"/>
          </a:xfrm>
          <a:prstGeom prst="rect">
            <a:avLst/>
          </a:prstGeom>
          <a:noFill/>
          <a:ln/>
        </p:spPr>
        <p:txBody>
          <a:bodyPr wrap="square" lIns="0" tIns="0" rIns="0" bIns="0" rtlCol="0" anchor="ctr"/>
          <a:lstStyle/>
          <a:p>
            <a:pPr indent="0" marL="0">
              <a:buNone/>
            </a:pPr>
            <a:r>
              <a:rPr lang="en-US" sz="900" dirty="0">
                <a:solidFill>
                  <a:srgbClr val="6B7280"/>
                </a:solidFill>
              </a:rPr>
              <a:t>DATESYTD, SAMEPERIODLASTYEAR, DATEADD. Always mark your date table with "Mark as Date Table."</a:t>
            </a:r>
            <a:endParaRPr lang="en-US" sz="900" dirty="0"/>
          </a:p>
        </p:txBody>
      </p:sp>
      <p:sp>
        <p:nvSpPr>
          <p:cNvPr id="16" name="Text 14"/>
          <p:cNvSpPr/>
          <p:nvPr/>
        </p:nvSpPr>
        <p:spPr>
          <a:xfrm>
            <a:off x="502920" y="3374136"/>
            <a:ext cx="3474720" cy="182880"/>
          </a:xfrm>
          <a:prstGeom prst="rect">
            <a:avLst/>
          </a:prstGeom>
          <a:noFill/>
          <a:ln/>
        </p:spPr>
        <p:txBody>
          <a:bodyPr wrap="square" lIns="0" tIns="0" rIns="0" bIns="0" rtlCol="0" anchor="ctr"/>
          <a:lstStyle/>
          <a:p>
            <a:pPr indent="0" marL="0">
              <a:buNone/>
            </a:pPr>
            <a:r>
              <a:rPr lang="en-US" sz="1000" b="1" dirty="0">
                <a:solidFill>
                  <a:srgbClr val="12122A"/>
                </a:solidFill>
              </a:rPr>
              <a:t>SUMX / AVERAGEX</a:t>
            </a:r>
            <a:endParaRPr lang="en-US" sz="1000" dirty="0"/>
          </a:p>
        </p:txBody>
      </p:sp>
      <p:sp>
        <p:nvSpPr>
          <p:cNvPr id="17" name="Text 15"/>
          <p:cNvSpPr/>
          <p:nvPr/>
        </p:nvSpPr>
        <p:spPr>
          <a:xfrm>
            <a:off x="502920" y="3557016"/>
            <a:ext cx="3474720" cy="292608"/>
          </a:xfrm>
          <a:prstGeom prst="rect">
            <a:avLst/>
          </a:prstGeom>
          <a:noFill/>
          <a:ln/>
        </p:spPr>
        <p:txBody>
          <a:bodyPr wrap="square" lIns="0" tIns="0" rIns="0" bIns="0" rtlCol="0" anchor="ctr"/>
          <a:lstStyle/>
          <a:p>
            <a:pPr indent="0" marL="0">
              <a:buNone/>
            </a:pPr>
            <a:r>
              <a:rPr lang="en-US" sz="900" dirty="0">
                <a:solidFill>
                  <a:srgbClr val="6B7280"/>
                </a:solidFill>
              </a:rPr>
              <a:t>Row-by-row iteration. Use when you need to evaluate a row-level expression then aggregate.</a:t>
            </a:r>
            <a:endParaRPr lang="en-US" sz="900" dirty="0"/>
          </a:p>
        </p:txBody>
      </p:sp>
      <p:sp>
        <p:nvSpPr>
          <p:cNvPr id="18" name="Text 16"/>
          <p:cNvSpPr/>
          <p:nvPr/>
        </p:nvSpPr>
        <p:spPr>
          <a:xfrm>
            <a:off x="502920" y="3904488"/>
            <a:ext cx="3474720" cy="182880"/>
          </a:xfrm>
          <a:prstGeom prst="rect">
            <a:avLst/>
          </a:prstGeom>
          <a:noFill/>
          <a:ln/>
        </p:spPr>
        <p:txBody>
          <a:bodyPr wrap="square" lIns="0" tIns="0" rIns="0" bIns="0" rtlCol="0" anchor="ctr"/>
          <a:lstStyle/>
          <a:p>
            <a:pPr indent="0" marL="0">
              <a:buNone/>
            </a:pPr>
            <a:r>
              <a:rPr lang="en-US" sz="1000" b="1" dirty="0">
                <a:solidFill>
                  <a:srgbClr val="12122A"/>
                </a:solidFill>
              </a:rPr>
              <a:t>Context Transition</a:t>
            </a:r>
            <a:endParaRPr lang="en-US" sz="1000" dirty="0"/>
          </a:p>
        </p:txBody>
      </p:sp>
      <p:sp>
        <p:nvSpPr>
          <p:cNvPr id="19" name="Text 17"/>
          <p:cNvSpPr/>
          <p:nvPr/>
        </p:nvSpPr>
        <p:spPr>
          <a:xfrm>
            <a:off x="502920" y="4087368"/>
            <a:ext cx="3474720" cy="292608"/>
          </a:xfrm>
          <a:prstGeom prst="rect">
            <a:avLst/>
          </a:prstGeom>
          <a:noFill/>
          <a:ln/>
        </p:spPr>
        <p:txBody>
          <a:bodyPr wrap="square" lIns="0" tIns="0" rIns="0" bIns="0" rtlCol="0" anchor="ctr"/>
          <a:lstStyle/>
          <a:p>
            <a:pPr indent="0" marL="0">
              <a:buNone/>
            </a:pPr>
            <a:r>
              <a:rPr lang="en-US" sz="900" dirty="0">
                <a:solidFill>
                  <a:srgbClr val="6B7280"/>
                </a:solidFill>
              </a:rPr>
              <a:t>A row context inside CALCULATE becomes a filter context. Critical in calculated columns inside iterators.</a:t>
            </a:r>
            <a:endParaRPr lang="en-US" sz="900" dirty="0"/>
          </a:p>
        </p:txBody>
      </p:sp>
      <p:sp>
        <p:nvSpPr>
          <p:cNvPr id="20" name="Text 18"/>
          <p:cNvSpPr/>
          <p:nvPr/>
        </p:nvSpPr>
        <p:spPr>
          <a:xfrm>
            <a:off x="502920" y="4434840"/>
            <a:ext cx="3474720" cy="182880"/>
          </a:xfrm>
          <a:prstGeom prst="rect">
            <a:avLst/>
          </a:prstGeom>
          <a:noFill/>
          <a:ln/>
        </p:spPr>
        <p:txBody>
          <a:bodyPr wrap="square" lIns="0" tIns="0" rIns="0" bIns="0" rtlCol="0" anchor="ctr"/>
          <a:lstStyle/>
          <a:p>
            <a:pPr indent="0" marL="0">
              <a:buNone/>
            </a:pPr>
            <a:r>
              <a:rPr lang="en-US" sz="1000" b="1" dirty="0">
                <a:solidFill>
                  <a:srgbClr val="12122A"/>
                </a:solidFill>
              </a:rPr>
              <a:t>ALLEXCEPT()</a:t>
            </a:r>
            <a:endParaRPr lang="en-US" sz="1000" dirty="0"/>
          </a:p>
        </p:txBody>
      </p:sp>
      <p:sp>
        <p:nvSpPr>
          <p:cNvPr id="21" name="Text 19"/>
          <p:cNvSpPr/>
          <p:nvPr/>
        </p:nvSpPr>
        <p:spPr>
          <a:xfrm>
            <a:off x="502920" y="4617720"/>
            <a:ext cx="3474720" cy="292608"/>
          </a:xfrm>
          <a:prstGeom prst="rect">
            <a:avLst/>
          </a:prstGeom>
          <a:noFill/>
          <a:ln/>
        </p:spPr>
        <p:txBody>
          <a:bodyPr wrap="square" lIns="0" tIns="0" rIns="0" bIns="0" rtlCol="0" anchor="ctr"/>
          <a:lstStyle/>
          <a:p>
            <a:pPr indent="0" marL="0">
              <a:buNone/>
            </a:pPr>
            <a:r>
              <a:rPr lang="en-US" sz="900" dirty="0">
                <a:solidFill>
                  <a:srgbClr val="6B7280"/>
                </a:solidFill>
              </a:rPr>
              <a:t>Removes all filters except specific columns. Essential for % of Total measures.</a:t>
            </a:r>
            <a:endParaRPr lang="en-US" sz="900" dirty="0"/>
          </a:p>
        </p:txBody>
      </p:sp>
      <p:sp>
        <p:nvSpPr>
          <p:cNvPr id="22" name="Shape 20"/>
          <p:cNvSpPr/>
          <p:nvPr/>
        </p:nvSpPr>
        <p:spPr>
          <a:xfrm>
            <a:off x="4343400" y="868680"/>
            <a:ext cx="4434840" cy="1508760"/>
          </a:xfrm>
          <a:prstGeom prst="rect">
            <a:avLst/>
          </a:prstGeom>
          <a:solidFill>
            <a:srgbClr val="1E1E3F"/>
          </a:solidFill>
          <a:ln w="9525">
            <a:solidFill>
              <a:srgbClr val="4A4A7A"/>
            </a:solidFill>
            <a:prstDash val="solid"/>
          </a:ln>
        </p:spPr>
      </p:sp>
      <p:sp>
        <p:nvSpPr>
          <p:cNvPr id="23" name="Shape 21"/>
          <p:cNvSpPr/>
          <p:nvPr/>
        </p:nvSpPr>
        <p:spPr>
          <a:xfrm>
            <a:off x="4343400" y="868680"/>
            <a:ext cx="822960" cy="201168"/>
          </a:xfrm>
          <a:prstGeom prst="rect">
            <a:avLst/>
          </a:prstGeom>
          <a:solidFill>
            <a:srgbClr val="C9A84C"/>
          </a:solidFill>
          <a:ln w="12700">
            <a:solidFill>
              <a:srgbClr val="C9A84C"/>
            </a:solidFill>
            <a:prstDash val="solid"/>
          </a:ln>
        </p:spPr>
      </p:sp>
      <p:sp>
        <p:nvSpPr>
          <p:cNvPr id="24" name="Text 22"/>
          <p:cNvSpPr/>
          <p:nvPr/>
        </p:nvSpPr>
        <p:spPr>
          <a:xfrm>
            <a:off x="4361688" y="886968"/>
            <a:ext cx="786384" cy="164592"/>
          </a:xfrm>
          <a:prstGeom prst="rect">
            <a:avLst/>
          </a:prstGeom>
          <a:noFill/>
          <a:ln/>
        </p:spPr>
        <p:txBody>
          <a:bodyPr wrap="square" lIns="0" tIns="0" rIns="0" bIns="0" rtlCol="0" anchor="ctr"/>
          <a:lstStyle/>
          <a:p>
            <a:pPr algn="ctr" indent="0" marL="0">
              <a:buNone/>
            </a:pPr>
            <a:r>
              <a:rPr lang="en-US" sz="800" b="1" dirty="0">
                <a:solidFill>
                  <a:srgbClr val="12122A"/>
                </a:solidFill>
              </a:rPr>
              <a:t>DAX</a:t>
            </a:r>
            <a:endParaRPr lang="en-US" sz="800" dirty="0"/>
          </a:p>
        </p:txBody>
      </p:sp>
      <p:sp>
        <p:nvSpPr>
          <p:cNvPr id="25" name="Text 23"/>
          <p:cNvSpPr/>
          <p:nvPr/>
        </p:nvSpPr>
        <p:spPr>
          <a:xfrm>
            <a:off x="4453128" y="1106424"/>
            <a:ext cx="4215384" cy="1179576"/>
          </a:xfrm>
          <a:prstGeom prst="rect">
            <a:avLst/>
          </a:prstGeom>
          <a:noFill/>
          <a:ln/>
        </p:spPr>
        <p:txBody>
          <a:bodyPr wrap="square" lIns="0" tIns="0" rIns="0" bIns="0" rtlCol="0" anchor="t"/>
          <a:lstStyle/>
          <a:p>
            <a:pPr indent="0" marL="0">
              <a:buNone/>
            </a:pPr>
            <a:r>
              <a:rPr lang="en-US" sz="950" dirty="0">
                <a:solidFill>
                  <a:srgbClr val="A8D8A8"/>
                </a:solidFill>
                <a:latin typeface="Consolas" pitchFamily="34" charset="0"/>
                <a:ea typeface="Consolas" pitchFamily="34" charset="-122"/>
                <a:cs typeface="Consolas" pitchFamily="34" charset="-120"/>
              </a:rPr>
              <a:t>-- % of Total with ALLEXCEPT</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Sales % =</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VAR TotalSales =</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    CALCULATE([Total Sales], ALLEXCEPT(Date, Date[Year]))</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RETURN DIVIDE([Total Sales], TotalSales, 0)</a:t>
            </a:r>
            <a:endParaRPr lang="en-US" sz="950" dirty="0"/>
          </a:p>
        </p:txBody>
      </p:sp>
      <p:sp>
        <p:nvSpPr>
          <p:cNvPr id="26" name="Shape 24"/>
          <p:cNvSpPr/>
          <p:nvPr/>
        </p:nvSpPr>
        <p:spPr>
          <a:xfrm>
            <a:off x="4343400" y="2514600"/>
            <a:ext cx="4434840" cy="1417320"/>
          </a:xfrm>
          <a:prstGeom prst="rect">
            <a:avLst/>
          </a:prstGeom>
          <a:solidFill>
            <a:srgbClr val="1E1E3F"/>
          </a:solidFill>
          <a:ln w="9525">
            <a:solidFill>
              <a:srgbClr val="4A4A7A"/>
            </a:solidFill>
            <a:prstDash val="solid"/>
          </a:ln>
        </p:spPr>
      </p:sp>
      <p:sp>
        <p:nvSpPr>
          <p:cNvPr id="27" name="Shape 25"/>
          <p:cNvSpPr/>
          <p:nvPr/>
        </p:nvSpPr>
        <p:spPr>
          <a:xfrm>
            <a:off x="4343400" y="2514600"/>
            <a:ext cx="822960" cy="201168"/>
          </a:xfrm>
          <a:prstGeom prst="rect">
            <a:avLst/>
          </a:prstGeom>
          <a:solidFill>
            <a:srgbClr val="C9A84C"/>
          </a:solidFill>
          <a:ln w="12700">
            <a:solidFill>
              <a:srgbClr val="C9A84C"/>
            </a:solidFill>
            <a:prstDash val="solid"/>
          </a:ln>
        </p:spPr>
      </p:sp>
      <p:sp>
        <p:nvSpPr>
          <p:cNvPr id="28" name="Text 26"/>
          <p:cNvSpPr/>
          <p:nvPr/>
        </p:nvSpPr>
        <p:spPr>
          <a:xfrm>
            <a:off x="4361688" y="2532888"/>
            <a:ext cx="786384" cy="164592"/>
          </a:xfrm>
          <a:prstGeom prst="rect">
            <a:avLst/>
          </a:prstGeom>
          <a:noFill/>
          <a:ln/>
        </p:spPr>
        <p:txBody>
          <a:bodyPr wrap="square" lIns="0" tIns="0" rIns="0" bIns="0" rtlCol="0" anchor="ctr"/>
          <a:lstStyle/>
          <a:p>
            <a:pPr algn="ctr" indent="0" marL="0">
              <a:buNone/>
            </a:pPr>
            <a:r>
              <a:rPr lang="en-US" sz="800" b="1" dirty="0">
                <a:solidFill>
                  <a:srgbClr val="12122A"/>
                </a:solidFill>
              </a:rPr>
              <a:t>DAX</a:t>
            </a:r>
            <a:endParaRPr lang="en-US" sz="800" dirty="0"/>
          </a:p>
        </p:txBody>
      </p:sp>
      <p:sp>
        <p:nvSpPr>
          <p:cNvPr id="29" name="Text 27"/>
          <p:cNvSpPr/>
          <p:nvPr/>
        </p:nvSpPr>
        <p:spPr>
          <a:xfrm>
            <a:off x="4453128" y="2752344"/>
            <a:ext cx="4215384" cy="1088136"/>
          </a:xfrm>
          <a:prstGeom prst="rect">
            <a:avLst/>
          </a:prstGeom>
          <a:noFill/>
          <a:ln/>
        </p:spPr>
        <p:txBody>
          <a:bodyPr wrap="square" lIns="0" tIns="0" rIns="0" bIns="0" rtlCol="0" anchor="t"/>
          <a:lstStyle/>
          <a:p>
            <a:pPr indent="0" marL="0">
              <a:buNone/>
            </a:pPr>
            <a:r>
              <a:rPr lang="en-US" sz="950" dirty="0">
                <a:solidFill>
                  <a:srgbClr val="A8D8A8"/>
                </a:solidFill>
                <a:latin typeface="Consolas" pitchFamily="34" charset="0"/>
                <a:ea typeface="Consolas" pitchFamily="34" charset="-122"/>
                <a:cs typeface="Consolas" pitchFamily="34" charset="-120"/>
              </a:rPr>
              <a:t>-- YoY Growth (safe pattern)</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YoY Growth % =</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VAR CurrSales = [Total Sales]</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VAR PrevSales =</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    CALCULATE([Total Sales], SAMEPERIODLASTYEAR(Date[Date]))</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RETURN DIVIDE(CurrSales - PrevSales, PrevSales, BLANK())</a:t>
            </a:r>
            <a:endParaRPr lang="en-US" sz="950" dirty="0"/>
          </a:p>
        </p:txBody>
      </p:sp>
      <p:sp>
        <p:nvSpPr>
          <p:cNvPr id="30" name="Shape 28"/>
          <p:cNvSpPr/>
          <p:nvPr/>
        </p:nvSpPr>
        <p:spPr>
          <a:xfrm>
            <a:off x="4343400" y="4059936"/>
            <a:ext cx="4434840" cy="960120"/>
          </a:xfrm>
          <a:prstGeom prst="rect">
            <a:avLst/>
          </a:prstGeom>
          <a:solidFill>
            <a:srgbClr val="1E1E3F"/>
          </a:solidFill>
          <a:ln w="9525">
            <a:solidFill>
              <a:srgbClr val="4A4A7A"/>
            </a:solidFill>
            <a:prstDash val="solid"/>
          </a:ln>
        </p:spPr>
      </p:sp>
      <p:sp>
        <p:nvSpPr>
          <p:cNvPr id="31" name="Shape 29"/>
          <p:cNvSpPr/>
          <p:nvPr/>
        </p:nvSpPr>
        <p:spPr>
          <a:xfrm>
            <a:off x="4343400" y="4059936"/>
            <a:ext cx="822960" cy="201168"/>
          </a:xfrm>
          <a:prstGeom prst="rect">
            <a:avLst/>
          </a:prstGeom>
          <a:solidFill>
            <a:srgbClr val="C9A84C"/>
          </a:solidFill>
          <a:ln w="12700">
            <a:solidFill>
              <a:srgbClr val="C9A84C"/>
            </a:solidFill>
            <a:prstDash val="solid"/>
          </a:ln>
        </p:spPr>
      </p:sp>
      <p:sp>
        <p:nvSpPr>
          <p:cNvPr id="32" name="Text 30"/>
          <p:cNvSpPr/>
          <p:nvPr/>
        </p:nvSpPr>
        <p:spPr>
          <a:xfrm>
            <a:off x="4361688" y="4078224"/>
            <a:ext cx="786384" cy="164592"/>
          </a:xfrm>
          <a:prstGeom prst="rect">
            <a:avLst/>
          </a:prstGeom>
          <a:noFill/>
          <a:ln/>
        </p:spPr>
        <p:txBody>
          <a:bodyPr wrap="square" lIns="0" tIns="0" rIns="0" bIns="0" rtlCol="0" anchor="ctr"/>
          <a:lstStyle/>
          <a:p>
            <a:pPr algn="ctr" indent="0" marL="0">
              <a:buNone/>
            </a:pPr>
            <a:r>
              <a:rPr lang="en-US" sz="800" b="1" dirty="0">
                <a:solidFill>
                  <a:srgbClr val="12122A"/>
                </a:solidFill>
              </a:rPr>
              <a:t>DAX</a:t>
            </a:r>
            <a:endParaRPr lang="en-US" sz="800" dirty="0"/>
          </a:p>
        </p:txBody>
      </p:sp>
      <p:sp>
        <p:nvSpPr>
          <p:cNvPr id="33" name="Text 31"/>
          <p:cNvSpPr/>
          <p:nvPr/>
        </p:nvSpPr>
        <p:spPr>
          <a:xfrm>
            <a:off x="4453128" y="4297680"/>
            <a:ext cx="4215384" cy="630936"/>
          </a:xfrm>
          <a:prstGeom prst="rect">
            <a:avLst/>
          </a:prstGeom>
          <a:noFill/>
          <a:ln/>
        </p:spPr>
        <p:txBody>
          <a:bodyPr wrap="square" lIns="0" tIns="0" rIns="0" bIns="0" rtlCol="0" anchor="t"/>
          <a:lstStyle/>
          <a:p>
            <a:pPr indent="0" marL="0">
              <a:buNone/>
            </a:pPr>
            <a:r>
              <a:rPr lang="en-US" sz="950" dirty="0">
                <a:solidFill>
                  <a:srgbClr val="A8D8A8"/>
                </a:solidFill>
                <a:latin typeface="Consolas" pitchFamily="34" charset="0"/>
                <a:ea typeface="Consolas" pitchFamily="34" charset="-122"/>
                <a:cs typeface="Consolas" pitchFamily="34" charset="-120"/>
              </a:rPr>
              <a:t>-- Running Total</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Running Total =</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CALCULATE([Sales], FILTER(ALL(Date),</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    Date[Date] &lt;= MAX(Date[Date])))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Data Modeling Excellence — Architect-Level Decisions</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2788920" cy="310896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6" name="Shape 4"/>
          <p:cNvSpPr/>
          <p:nvPr/>
        </p:nvSpPr>
        <p:spPr>
          <a:xfrm>
            <a:off x="365760" y="868680"/>
            <a:ext cx="2788920" cy="365760"/>
          </a:xfrm>
          <a:prstGeom prst="rect">
            <a:avLst/>
          </a:prstGeom>
          <a:solidFill>
            <a:srgbClr val="12122A"/>
          </a:solidFill>
          <a:ln w="12700">
            <a:solidFill>
              <a:srgbClr val="12122A"/>
            </a:solidFill>
            <a:prstDash val="solid"/>
          </a:ln>
        </p:spPr>
      </p:sp>
      <p:sp>
        <p:nvSpPr>
          <p:cNvPr id="7" name="Text 5"/>
          <p:cNvSpPr/>
          <p:nvPr/>
        </p:nvSpPr>
        <p:spPr>
          <a:xfrm>
            <a:off x="457200" y="868680"/>
            <a:ext cx="2606040" cy="365760"/>
          </a:xfrm>
          <a:prstGeom prst="rect">
            <a:avLst/>
          </a:prstGeom>
          <a:noFill/>
          <a:ln/>
        </p:spPr>
        <p:txBody>
          <a:bodyPr wrap="square" lIns="0" tIns="0" rIns="0" bIns="0" rtlCol="0" anchor="ctr"/>
          <a:lstStyle/>
          <a:p>
            <a:pPr indent="0" marL="0">
              <a:buNone/>
            </a:pPr>
            <a:r>
              <a:rPr lang="en-US" sz="1100" b="1" dirty="0">
                <a:solidFill>
                  <a:srgbClr val="C9A84C"/>
                </a:solidFill>
              </a:rPr>
              <a:t>★  Star Schema Always</a:t>
            </a:r>
            <a:endParaRPr lang="en-US" sz="1100" dirty="0"/>
          </a:p>
        </p:txBody>
      </p:sp>
      <p:sp>
        <p:nvSpPr>
          <p:cNvPr id="8" name="Text 6"/>
          <p:cNvSpPr/>
          <p:nvPr/>
        </p:nvSpPr>
        <p:spPr>
          <a:xfrm>
            <a:off x="502920" y="1325880"/>
            <a:ext cx="2514600" cy="457200"/>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Fact tables + dimension tables only</a:t>
            </a:r>
            <a:pPr indent="0" marL="0">
              <a:buNone/>
            </a:pPr>
            <a:endParaRPr lang="en-US" sz="1000" dirty="0"/>
          </a:p>
        </p:txBody>
      </p:sp>
      <p:sp>
        <p:nvSpPr>
          <p:cNvPr id="9" name="Text 7"/>
          <p:cNvSpPr/>
          <p:nvPr/>
        </p:nvSpPr>
        <p:spPr>
          <a:xfrm>
            <a:off x="502920" y="1810512"/>
            <a:ext cx="2514600" cy="457200"/>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Avoid snowflaking unless justified</a:t>
            </a:r>
            <a:pPr indent="0" marL="0">
              <a:buNone/>
            </a:pPr>
            <a:endParaRPr lang="en-US" sz="1000" dirty="0"/>
          </a:p>
        </p:txBody>
      </p:sp>
      <p:sp>
        <p:nvSpPr>
          <p:cNvPr id="10" name="Text 8"/>
          <p:cNvSpPr/>
          <p:nvPr/>
        </p:nvSpPr>
        <p:spPr>
          <a:xfrm>
            <a:off x="502920" y="2295144"/>
            <a:ext cx="2514600" cy="457200"/>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Separate date, product, customer dims</a:t>
            </a:r>
            <a:pPr indent="0" marL="0">
              <a:buNone/>
            </a:pPr>
            <a:endParaRPr lang="en-US" sz="1000" dirty="0"/>
          </a:p>
        </p:txBody>
      </p:sp>
      <p:sp>
        <p:nvSpPr>
          <p:cNvPr id="11" name="Text 9"/>
          <p:cNvSpPr/>
          <p:nvPr/>
        </p:nvSpPr>
        <p:spPr>
          <a:xfrm>
            <a:off x="502920" y="2779776"/>
            <a:ext cx="2514600" cy="457200"/>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Keep measures in fact tables</a:t>
            </a:r>
            <a:endParaRPr lang="en-US" sz="1000" dirty="0"/>
          </a:p>
        </p:txBody>
      </p:sp>
      <p:sp>
        <p:nvSpPr>
          <p:cNvPr id="12" name="Shape 10"/>
          <p:cNvSpPr/>
          <p:nvPr/>
        </p:nvSpPr>
        <p:spPr>
          <a:xfrm>
            <a:off x="3291840" y="868680"/>
            <a:ext cx="2788920" cy="310896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3" name="Shape 11"/>
          <p:cNvSpPr/>
          <p:nvPr/>
        </p:nvSpPr>
        <p:spPr>
          <a:xfrm>
            <a:off x="3291840" y="868680"/>
            <a:ext cx="2788920" cy="365760"/>
          </a:xfrm>
          <a:prstGeom prst="rect">
            <a:avLst/>
          </a:prstGeom>
          <a:solidFill>
            <a:srgbClr val="1E1E42"/>
          </a:solidFill>
          <a:ln w="12700">
            <a:solidFill>
              <a:srgbClr val="1E1E42"/>
            </a:solidFill>
            <a:prstDash val="solid"/>
          </a:ln>
        </p:spPr>
      </p:sp>
      <p:sp>
        <p:nvSpPr>
          <p:cNvPr id="14" name="Text 12"/>
          <p:cNvSpPr/>
          <p:nvPr/>
        </p:nvSpPr>
        <p:spPr>
          <a:xfrm>
            <a:off x="3383280" y="868680"/>
            <a:ext cx="2606040" cy="365760"/>
          </a:xfrm>
          <a:prstGeom prst="rect">
            <a:avLst/>
          </a:prstGeom>
          <a:noFill/>
          <a:ln/>
        </p:spPr>
        <p:txBody>
          <a:bodyPr wrap="square" lIns="0" tIns="0" rIns="0" bIns="0" rtlCol="0" anchor="ctr"/>
          <a:lstStyle/>
          <a:p>
            <a:pPr indent="0" marL="0">
              <a:buNone/>
            </a:pPr>
            <a:r>
              <a:rPr lang="en-US" sz="1100" b="1" dirty="0">
                <a:solidFill>
                  <a:srgbClr val="C9A84C"/>
                </a:solidFill>
              </a:rPr>
              <a:t>⇄  Import vs. DirectQuery</a:t>
            </a:r>
            <a:endParaRPr lang="en-US" sz="1100" dirty="0"/>
          </a:p>
        </p:txBody>
      </p:sp>
      <p:sp>
        <p:nvSpPr>
          <p:cNvPr id="15" name="Text 13"/>
          <p:cNvSpPr/>
          <p:nvPr/>
        </p:nvSpPr>
        <p:spPr>
          <a:xfrm>
            <a:off x="3429000" y="1325880"/>
            <a:ext cx="2514600" cy="457200"/>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Import: fast, memory-bound, 1B+ rows needs agg tables</a:t>
            </a:r>
            <a:pPr indent="0" marL="0">
              <a:buNone/>
            </a:pPr>
            <a:endParaRPr lang="en-US" sz="1000" dirty="0"/>
          </a:p>
        </p:txBody>
      </p:sp>
      <p:sp>
        <p:nvSpPr>
          <p:cNvPr id="16" name="Text 14"/>
          <p:cNvSpPr/>
          <p:nvPr/>
        </p:nvSpPr>
        <p:spPr>
          <a:xfrm>
            <a:off x="3429000" y="1810512"/>
            <a:ext cx="2514600" cy="457200"/>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DQ: real-time, slower, use for BigQuery at L'Oréal</a:t>
            </a:r>
            <a:pPr indent="0" marL="0">
              <a:buNone/>
            </a:pPr>
            <a:endParaRPr lang="en-US" sz="1000" dirty="0"/>
          </a:p>
        </p:txBody>
      </p:sp>
      <p:sp>
        <p:nvSpPr>
          <p:cNvPr id="17" name="Text 15"/>
          <p:cNvSpPr/>
          <p:nvPr/>
        </p:nvSpPr>
        <p:spPr>
          <a:xfrm>
            <a:off x="3429000" y="2295144"/>
            <a:ext cx="2514600" cy="457200"/>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Composite: hybrid (Import + DQ layers)</a:t>
            </a:r>
            <a:pPr indent="0" marL="0">
              <a:buNone/>
            </a:pPr>
            <a:endParaRPr lang="en-US" sz="1000" dirty="0"/>
          </a:p>
        </p:txBody>
      </p:sp>
      <p:sp>
        <p:nvSpPr>
          <p:cNvPr id="18" name="Text 16"/>
          <p:cNvSpPr/>
          <p:nvPr/>
        </p:nvSpPr>
        <p:spPr>
          <a:xfrm>
            <a:off x="3429000" y="2779776"/>
            <a:ext cx="2514600" cy="457200"/>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Incremental refresh reduces Import overhead</a:t>
            </a:r>
            <a:endParaRPr lang="en-US" sz="1000" dirty="0"/>
          </a:p>
        </p:txBody>
      </p:sp>
      <p:sp>
        <p:nvSpPr>
          <p:cNvPr id="19" name="Shape 17"/>
          <p:cNvSpPr/>
          <p:nvPr/>
        </p:nvSpPr>
        <p:spPr>
          <a:xfrm>
            <a:off x="6217920" y="868680"/>
            <a:ext cx="2788920" cy="310896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20" name="Shape 18"/>
          <p:cNvSpPr/>
          <p:nvPr/>
        </p:nvSpPr>
        <p:spPr>
          <a:xfrm>
            <a:off x="6217920" y="868680"/>
            <a:ext cx="2788920" cy="365760"/>
          </a:xfrm>
          <a:prstGeom prst="rect">
            <a:avLst/>
          </a:prstGeom>
          <a:solidFill>
            <a:srgbClr val="12122A"/>
          </a:solidFill>
          <a:ln w="12700">
            <a:solidFill>
              <a:srgbClr val="12122A"/>
            </a:solidFill>
            <a:prstDash val="solid"/>
          </a:ln>
        </p:spPr>
      </p:sp>
      <p:sp>
        <p:nvSpPr>
          <p:cNvPr id="21" name="Text 19"/>
          <p:cNvSpPr/>
          <p:nvPr/>
        </p:nvSpPr>
        <p:spPr>
          <a:xfrm>
            <a:off x="6309360" y="868680"/>
            <a:ext cx="2606040" cy="365760"/>
          </a:xfrm>
          <a:prstGeom prst="rect">
            <a:avLst/>
          </a:prstGeom>
          <a:noFill/>
          <a:ln/>
        </p:spPr>
        <p:txBody>
          <a:bodyPr wrap="square" lIns="0" tIns="0" rIns="0" bIns="0" rtlCol="0" anchor="ctr"/>
          <a:lstStyle/>
          <a:p>
            <a:pPr indent="0" marL="0">
              <a:buNone/>
            </a:pPr>
            <a:r>
              <a:rPr lang="en-US" sz="1100" b="1" dirty="0">
                <a:solidFill>
                  <a:srgbClr val="C9A84C"/>
                </a:solidFill>
              </a:rPr>
              <a:t>⚡  Performance Hygiene</a:t>
            </a:r>
            <a:endParaRPr lang="en-US" sz="1100" dirty="0"/>
          </a:p>
        </p:txBody>
      </p:sp>
      <p:sp>
        <p:nvSpPr>
          <p:cNvPr id="22" name="Text 20"/>
          <p:cNvSpPr/>
          <p:nvPr/>
        </p:nvSpPr>
        <p:spPr>
          <a:xfrm>
            <a:off x="6355080" y="1325880"/>
            <a:ext cx="2514600" cy="457200"/>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No bi-directional cross-filter (default)</a:t>
            </a:r>
            <a:pPr indent="0" marL="0">
              <a:buNone/>
            </a:pPr>
            <a:endParaRPr lang="en-US" sz="1000" dirty="0"/>
          </a:p>
        </p:txBody>
      </p:sp>
      <p:sp>
        <p:nvSpPr>
          <p:cNvPr id="23" name="Text 21"/>
          <p:cNvSpPr/>
          <p:nvPr/>
        </p:nvSpPr>
        <p:spPr>
          <a:xfrm>
            <a:off x="6355080" y="1810512"/>
            <a:ext cx="2514600" cy="457200"/>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Calculated columns → measures instead</a:t>
            </a:r>
            <a:pPr indent="0" marL="0">
              <a:buNone/>
            </a:pPr>
            <a:endParaRPr lang="en-US" sz="1000" dirty="0"/>
          </a:p>
        </p:txBody>
      </p:sp>
      <p:sp>
        <p:nvSpPr>
          <p:cNvPr id="24" name="Text 22"/>
          <p:cNvSpPr/>
          <p:nvPr/>
        </p:nvSpPr>
        <p:spPr>
          <a:xfrm>
            <a:off x="6355080" y="2295144"/>
            <a:ext cx="2514600" cy="457200"/>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Use aggregation tables for large fact tables</a:t>
            </a:r>
            <a:pPr indent="0" marL="0">
              <a:buNone/>
            </a:pPr>
            <a:endParaRPr lang="en-US" sz="1000" dirty="0"/>
          </a:p>
        </p:txBody>
      </p:sp>
      <p:sp>
        <p:nvSpPr>
          <p:cNvPr id="25" name="Text 23"/>
          <p:cNvSpPr/>
          <p:nvPr/>
        </p:nvSpPr>
        <p:spPr>
          <a:xfrm>
            <a:off x="6355080" y="2779776"/>
            <a:ext cx="2514600" cy="457200"/>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Avoid high-cardinality text columns in model</a:t>
            </a:r>
            <a:endParaRPr lang="en-US" sz="1000" dirty="0"/>
          </a:p>
        </p:txBody>
      </p:sp>
      <p:sp>
        <p:nvSpPr>
          <p:cNvPr id="26" name="Shape 24"/>
          <p:cNvSpPr/>
          <p:nvPr/>
        </p:nvSpPr>
        <p:spPr>
          <a:xfrm>
            <a:off x="365760" y="4114800"/>
            <a:ext cx="8412480" cy="868680"/>
          </a:xfrm>
          <a:prstGeom prst="rect">
            <a:avLst/>
          </a:prstGeom>
          <a:solidFill>
            <a:srgbClr val="FEF3C7"/>
          </a:solidFill>
          <a:ln w="9525">
            <a:solidFill>
              <a:srgbClr val="B45309"/>
            </a:solidFill>
            <a:prstDash val="solid"/>
          </a:ln>
          <a:effectLst>
            <a:outerShdw sx="100000" sy="100000" kx="0" ky="0" algn="bl" rotWithShape="0" blurRad="50800" dist="12700" dir="8100000">
              <a:srgbClr val="000000">
                <a:alpha val="7000"/>
              </a:srgbClr>
            </a:outerShdw>
          </a:effectLst>
        </p:spPr>
      </p:sp>
      <p:sp>
        <p:nvSpPr>
          <p:cNvPr id="27" name="Text 25"/>
          <p:cNvSpPr/>
          <p:nvPr/>
        </p:nvSpPr>
        <p:spPr>
          <a:xfrm>
            <a:off x="502920" y="4151376"/>
            <a:ext cx="8229600" cy="228600"/>
          </a:xfrm>
          <a:prstGeom prst="rect">
            <a:avLst/>
          </a:prstGeom>
          <a:noFill/>
          <a:ln/>
        </p:spPr>
        <p:txBody>
          <a:bodyPr wrap="square" lIns="0" tIns="0" rIns="0" bIns="0" rtlCol="0" anchor="ctr"/>
          <a:lstStyle/>
          <a:p>
            <a:pPr indent="0" marL="0">
              <a:buNone/>
            </a:pPr>
            <a:r>
              <a:rPr lang="en-US" sz="1050" b="1" dirty="0">
                <a:solidFill>
                  <a:srgbClr val="B45309"/>
                </a:solidFill>
              </a:rPr>
              <a:t>⚠  COMMON INTERVIEW TRAP — Many-to-Many Relationships</a:t>
            </a:r>
            <a:endParaRPr lang="en-US" sz="1050" dirty="0"/>
          </a:p>
        </p:txBody>
      </p:sp>
      <p:sp>
        <p:nvSpPr>
          <p:cNvPr id="28" name="Text 26"/>
          <p:cNvSpPr/>
          <p:nvPr/>
        </p:nvSpPr>
        <p:spPr>
          <a:xfrm>
            <a:off x="502920" y="4389120"/>
            <a:ext cx="8138160" cy="502920"/>
          </a:xfrm>
          <a:prstGeom prst="rect">
            <a:avLst/>
          </a:prstGeom>
          <a:noFill/>
          <a:ln/>
        </p:spPr>
        <p:txBody>
          <a:bodyPr wrap="square" lIns="0" tIns="0" rIns="0" bIns="0" rtlCol="0" anchor="ctr"/>
          <a:lstStyle/>
          <a:p>
            <a:pPr indent="0" marL="0">
              <a:buNone/>
            </a:pPr>
            <a:r>
              <a:rPr lang="en-US" sz="1000" dirty="0">
                <a:solidFill>
                  <a:srgbClr val="1A1A2E"/>
                </a:solidFill>
              </a:rPr>
              <a:t>Native M:M in Power BI causes cross-filter ambiguity. Prefer bridge/junction tables, or use TREATAS() to propagate filters cleanly. Always explain the trade-off.</a:t>
            </a:r>
            <a:endParaRPr lang="en-US" sz="1000" dirty="0"/>
          </a:p>
        </p:txBody>
      </p:sp>
      <p:sp>
        <p:nvSpPr>
          <p:cNvPr id="29" name="Shape 27"/>
          <p:cNvSpPr/>
          <p:nvPr/>
        </p:nvSpPr>
        <p:spPr>
          <a:xfrm>
            <a:off x="365760" y="5074920"/>
            <a:ext cx="8412480" cy="502920"/>
          </a:xfrm>
          <a:prstGeom prst="rect">
            <a:avLst/>
          </a:prstGeom>
          <a:solidFill>
            <a:srgbClr val="DBEAFE"/>
          </a:solidFill>
          <a:ln w="9525">
            <a:solidFill>
              <a:srgbClr val="1D4ED8"/>
            </a:solidFill>
            <a:prstDash val="solid"/>
          </a:ln>
          <a:effectLst>
            <a:outerShdw sx="100000" sy="100000" kx="0" ky="0" algn="bl" rotWithShape="0" blurRad="50800" dist="12700" dir="8100000">
              <a:srgbClr val="000000">
                <a:alpha val="7000"/>
              </a:srgbClr>
            </a:outerShdw>
          </a:effectLst>
        </p:spPr>
      </p:sp>
      <p:sp>
        <p:nvSpPr>
          <p:cNvPr id="30" name="Text 28"/>
          <p:cNvSpPr/>
          <p:nvPr/>
        </p:nvSpPr>
        <p:spPr>
          <a:xfrm>
            <a:off x="502920" y="5102352"/>
            <a:ext cx="8229600" cy="438912"/>
          </a:xfrm>
          <a:prstGeom prst="rect">
            <a:avLst/>
          </a:prstGeom>
          <a:noFill/>
          <a:ln/>
        </p:spPr>
        <p:txBody>
          <a:bodyPr wrap="square" lIns="0" tIns="0" rIns="0" bIns="0" rtlCol="0" anchor="ctr"/>
          <a:lstStyle/>
          <a:p>
            <a:pPr indent="0" marL="0">
              <a:buNone/>
            </a:pPr>
            <a:r>
              <a:rPr lang="en-US" sz="1000" b="1" dirty="0">
                <a:solidFill>
                  <a:srgbClr val="1D4ED8"/>
                </a:solidFill>
              </a:rPr>
              <a:t>💡  COMPOSITE MODELS: </a:t>
            </a:r>
            <a:pPr indent="0" marL="0">
              <a:buNone/>
            </a:pPr>
            <a:r>
              <a:rPr lang="en-US" sz="1000" dirty="0">
                <a:solidFill>
                  <a:srgbClr val="1A1A2E"/>
                </a:solidFill>
              </a:rPr>
              <a:t>At L'Oréal, you'll likely combine Import mode (pre-aggregated summaries from BQ) + DirectQuery (transactional detail). Composite models let you keep speed for 80% of queries and drill to live data when needed.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Power BI Governance Framework — Build It From Scratch</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4160520" cy="416052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6" name="Shape 4"/>
          <p:cNvSpPr/>
          <p:nvPr/>
        </p:nvSpPr>
        <p:spPr>
          <a:xfrm>
            <a:off x="365760" y="868680"/>
            <a:ext cx="4160520" cy="292608"/>
          </a:xfrm>
          <a:prstGeom prst="rect">
            <a:avLst/>
          </a:prstGeom>
          <a:solidFill>
            <a:srgbClr val="12122A"/>
          </a:solidFill>
          <a:ln w="12700">
            <a:solidFill>
              <a:srgbClr val="12122A"/>
            </a:solidFill>
            <a:prstDash val="solid"/>
          </a:ln>
        </p:spPr>
      </p:sp>
      <p:sp>
        <p:nvSpPr>
          <p:cNvPr id="7" name="Text 5"/>
          <p:cNvSpPr/>
          <p:nvPr/>
        </p:nvSpPr>
        <p:spPr>
          <a:xfrm>
            <a:off x="365760" y="868680"/>
            <a:ext cx="4160520" cy="292608"/>
          </a:xfrm>
          <a:prstGeom prst="rect">
            <a:avLst/>
          </a:prstGeom>
          <a:noFill/>
          <a:ln/>
        </p:spPr>
        <p:txBody>
          <a:bodyPr wrap="square" lIns="0" tIns="0" rIns="0" bIns="0" rtlCol="0" anchor="ctr"/>
          <a:lstStyle/>
          <a:p>
            <a:pPr algn="ctr" indent="0" marL="0">
              <a:buNone/>
            </a:pPr>
            <a:r>
              <a:rPr lang="en-US" sz="900" b="1" spc="100" kern="0" dirty="0">
                <a:solidFill>
                  <a:srgbClr val="C9A84C"/>
                </a:solidFill>
              </a:rPr>
              <a:t>THE 4 PILLARS OF POWER BI GOVERNANCE</a:t>
            </a:r>
            <a:endParaRPr lang="en-US" sz="900" dirty="0"/>
          </a:p>
        </p:txBody>
      </p:sp>
      <p:sp>
        <p:nvSpPr>
          <p:cNvPr id="8" name="Shape 6"/>
          <p:cNvSpPr/>
          <p:nvPr/>
        </p:nvSpPr>
        <p:spPr>
          <a:xfrm>
            <a:off x="502920" y="1261872"/>
            <a:ext cx="320040" cy="320040"/>
          </a:xfrm>
          <a:prstGeom prst="rect">
            <a:avLst/>
          </a:prstGeom>
          <a:solidFill>
            <a:srgbClr val="C9A84C"/>
          </a:solidFill>
          <a:ln w="12700">
            <a:solidFill>
              <a:srgbClr val="C9A84C"/>
            </a:solidFill>
            <a:prstDash val="solid"/>
          </a:ln>
        </p:spPr>
      </p:sp>
      <p:sp>
        <p:nvSpPr>
          <p:cNvPr id="9" name="Text 7"/>
          <p:cNvSpPr/>
          <p:nvPr/>
        </p:nvSpPr>
        <p:spPr>
          <a:xfrm>
            <a:off x="502920" y="1261872"/>
            <a:ext cx="320040" cy="320040"/>
          </a:xfrm>
          <a:prstGeom prst="rect">
            <a:avLst/>
          </a:prstGeom>
          <a:noFill/>
          <a:ln/>
        </p:spPr>
        <p:txBody>
          <a:bodyPr wrap="square" lIns="0" tIns="0" rIns="0" bIns="0" rtlCol="0" anchor="ctr"/>
          <a:lstStyle/>
          <a:p>
            <a:pPr algn="ctr" indent="0" marL="0">
              <a:buNone/>
            </a:pPr>
            <a:r>
              <a:rPr lang="en-US" sz="1400" b="1" dirty="0">
                <a:solidFill>
                  <a:srgbClr val="12122A"/>
                </a:solidFill>
              </a:rPr>
              <a:t>1</a:t>
            </a:r>
            <a:endParaRPr lang="en-US" sz="1400" dirty="0"/>
          </a:p>
        </p:txBody>
      </p:sp>
      <p:sp>
        <p:nvSpPr>
          <p:cNvPr id="10" name="Text 8"/>
          <p:cNvSpPr/>
          <p:nvPr/>
        </p:nvSpPr>
        <p:spPr>
          <a:xfrm>
            <a:off x="914400" y="1261872"/>
            <a:ext cx="3520440" cy="292608"/>
          </a:xfrm>
          <a:prstGeom prst="rect">
            <a:avLst/>
          </a:prstGeom>
          <a:noFill/>
          <a:ln/>
        </p:spPr>
        <p:txBody>
          <a:bodyPr wrap="square" lIns="0" tIns="0" rIns="0" bIns="0" rtlCol="0" anchor="ctr"/>
          <a:lstStyle/>
          <a:p>
            <a:pPr indent="0" marL="0">
              <a:buNone/>
            </a:pPr>
            <a:r>
              <a:rPr lang="en-US" sz="1100" b="1" dirty="0">
                <a:solidFill>
                  <a:srgbClr val="1A1A2E"/>
                </a:solidFill>
              </a:rPr>
              <a:t>Workspace Architecture</a:t>
            </a:r>
            <a:endParaRPr lang="en-US" sz="1100" dirty="0"/>
          </a:p>
        </p:txBody>
      </p:sp>
      <p:sp>
        <p:nvSpPr>
          <p:cNvPr id="11" name="Text 9"/>
          <p:cNvSpPr/>
          <p:nvPr/>
        </p:nvSpPr>
        <p:spPr>
          <a:xfrm>
            <a:off x="502920" y="1591056"/>
            <a:ext cx="3886200" cy="530352"/>
          </a:xfrm>
          <a:prstGeom prst="rect">
            <a:avLst/>
          </a:prstGeom>
          <a:noFill/>
          <a:ln/>
        </p:spPr>
        <p:txBody>
          <a:bodyPr wrap="square" lIns="0" tIns="0" rIns="0" bIns="0" rtlCol="0" anchor="ctr"/>
          <a:lstStyle/>
          <a:p>
            <a:pPr indent="0" marL="0">
              <a:buNone/>
            </a:pPr>
            <a:r>
              <a:rPr lang="en-US" sz="900" dirty="0">
                <a:solidFill>
                  <a:srgbClr val="6B7280"/>
                </a:solidFill>
              </a:rPr>
              <a:t>Personal workspaces for self-service dev only  ·  Departmental app workspaces per domain/team  ·  Premium: separate Dev / Test / Prod via Deployment Pipelines  ·  Naming convention: [Region]_[Domain]_[Stage]</a:t>
            </a:r>
            <a:endParaRPr lang="en-US" sz="900" dirty="0"/>
          </a:p>
        </p:txBody>
      </p:sp>
      <p:sp>
        <p:nvSpPr>
          <p:cNvPr id="12" name="Shape 10"/>
          <p:cNvSpPr/>
          <p:nvPr/>
        </p:nvSpPr>
        <p:spPr>
          <a:xfrm>
            <a:off x="502920" y="2194560"/>
            <a:ext cx="320040" cy="320040"/>
          </a:xfrm>
          <a:prstGeom prst="rect">
            <a:avLst/>
          </a:prstGeom>
          <a:solidFill>
            <a:srgbClr val="C9A84C"/>
          </a:solidFill>
          <a:ln w="12700">
            <a:solidFill>
              <a:srgbClr val="C9A84C"/>
            </a:solidFill>
            <a:prstDash val="solid"/>
          </a:ln>
        </p:spPr>
      </p:sp>
      <p:sp>
        <p:nvSpPr>
          <p:cNvPr id="13" name="Text 11"/>
          <p:cNvSpPr/>
          <p:nvPr/>
        </p:nvSpPr>
        <p:spPr>
          <a:xfrm>
            <a:off x="502920" y="2194560"/>
            <a:ext cx="320040" cy="320040"/>
          </a:xfrm>
          <a:prstGeom prst="rect">
            <a:avLst/>
          </a:prstGeom>
          <a:noFill/>
          <a:ln/>
        </p:spPr>
        <p:txBody>
          <a:bodyPr wrap="square" lIns="0" tIns="0" rIns="0" bIns="0" rtlCol="0" anchor="ctr"/>
          <a:lstStyle/>
          <a:p>
            <a:pPr algn="ctr" indent="0" marL="0">
              <a:buNone/>
            </a:pPr>
            <a:r>
              <a:rPr lang="en-US" sz="1400" b="1" dirty="0">
                <a:solidFill>
                  <a:srgbClr val="12122A"/>
                </a:solidFill>
              </a:rPr>
              <a:t>2</a:t>
            </a:r>
            <a:endParaRPr lang="en-US" sz="1400" dirty="0"/>
          </a:p>
        </p:txBody>
      </p:sp>
      <p:sp>
        <p:nvSpPr>
          <p:cNvPr id="14" name="Text 12"/>
          <p:cNvSpPr/>
          <p:nvPr/>
        </p:nvSpPr>
        <p:spPr>
          <a:xfrm>
            <a:off x="914400" y="2194560"/>
            <a:ext cx="3520440" cy="292608"/>
          </a:xfrm>
          <a:prstGeom prst="rect">
            <a:avLst/>
          </a:prstGeom>
          <a:noFill/>
          <a:ln/>
        </p:spPr>
        <p:txBody>
          <a:bodyPr wrap="square" lIns="0" tIns="0" rIns="0" bIns="0" rtlCol="0" anchor="ctr"/>
          <a:lstStyle/>
          <a:p>
            <a:pPr indent="0" marL="0">
              <a:buNone/>
            </a:pPr>
            <a:r>
              <a:rPr lang="en-US" sz="1100" b="1" dirty="0">
                <a:solidFill>
                  <a:srgbClr val="1A1A2E"/>
                </a:solidFill>
              </a:rPr>
              <a:t>Report Lifecycle</a:t>
            </a:r>
            <a:endParaRPr lang="en-US" sz="1100" dirty="0"/>
          </a:p>
        </p:txBody>
      </p:sp>
      <p:sp>
        <p:nvSpPr>
          <p:cNvPr id="15" name="Text 13"/>
          <p:cNvSpPr/>
          <p:nvPr/>
        </p:nvSpPr>
        <p:spPr>
          <a:xfrm>
            <a:off x="502920" y="2523744"/>
            <a:ext cx="3886200" cy="530352"/>
          </a:xfrm>
          <a:prstGeom prst="rect">
            <a:avLst/>
          </a:prstGeom>
          <a:noFill/>
          <a:ln/>
        </p:spPr>
        <p:txBody>
          <a:bodyPr wrap="square" lIns="0" tIns="0" rIns="0" bIns="0" rtlCol="0" anchor="ctr"/>
          <a:lstStyle/>
          <a:p>
            <a:pPr indent="0" marL="0">
              <a:buNone/>
            </a:pPr>
            <a:r>
              <a:rPr lang="en-US" sz="900" dirty="0">
                <a:solidFill>
                  <a:srgbClr val="6B7280"/>
                </a:solidFill>
              </a:rPr>
              <a:t>Dev → Test → Prod via Deployment Pipelines  ·  Git/Azure DevOps integration for PBIX source control  ·  Endorsement tiers: None → Promoted → Certified  ·  Scheduled refresh SLAs per priority tier</a:t>
            </a:r>
            <a:endParaRPr lang="en-US" sz="900" dirty="0"/>
          </a:p>
        </p:txBody>
      </p:sp>
      <p:sp>
        <p:nvSpPr>
          <p:cNvPr id="16" name="Shape 14"/>
          <p:cNvSpPr/>
          <p:nvPr/>
        </p:nvSpPr>
        <p:spPr>
          <a:xfrm>
            <a:off x="502920" y="3127248"/>
            <a:ext cx="320040" cy="320040"/>
          </a:xfrm>
          <a:prstGeom prst="rect">
            <a:avLst/>
          </a:prstGeom>
          <a:solidFill>
            <a:srgbClr val="C9A84C"/>
          </a:solidFill>
          <a:ln w="12700">
            <a:solidFill>
              <a:srgbClr val="C9A84C"/>
            </a:solidFill>
            <a:prstDash val="solid"/>
          </a:ln>
        </p:spPr>
      </p:sp>
      <p:sp>
        <p:nvSpPr>
          <p:cNvPr id="17" name="Text 15"/>
          <p:cNvSpPr/>
          <p:nvPr/>
        </p:nvSpPr>
        <p:spPr>
          <a:xfrm>
            <a:off x="502920" y="3127248"/>
            <a:ext cx="320040" cy="320040"/>
          </a:xfrm>
          <a:prstGeom prst="rect">
            <a:avLst/>
          </a:prstGeom>
          <a:noFill/>
          <a:ln/>
        </p:spPr>
        <p:txBody>
          <a:bodyPr wrap="square" lIns="0" tIns="0" rIns="0" bIns="0" rtlCol="0" anchor="ctr"/>
          <a:lstStyle/>
          <a:p>
            <a:pPr algn="ctr" indent="0" marL="0">
              <a:buNone/>
            </a:pPr>
            <a:r>
              <a:rPr lang="en-US" sz="1400" b="1" dirty="0">
                <a:solidFill>
                  <a:srgbClr val="12122A"/>
                </a:solidFill>
              </a:rPr>
              <a:t>3</a:t>
            </a:r>
            <a:endParaRPr lang="en-US" sz="1400" dirty="0"/>
          </a:p>
        </p:txBody>
      </p:sp>
      <p:sp>
        <p:nvSpPr>
          <p:cNvPr id="18" name="Text 16"/>
          <p:cNvSpPr/>
          <p:nvPr/>
        </p:nvSpPr>
        <p:spPr>
          <a:xfrm>
            <a:off x="914400" y="3127248"/>
            <a:ext cx="3520440" cy="292608"/>
          </a:xfrm>
          <a:prstGeom prst="rect">
            <a:avLst/>
          </a:prstGeom>
          <a:noFill/>
          <a:ln/>
        </p:spPr>
        <p:txBody>
          <a:bodyPr wrap="square" lIns="0" tIns="0" rIns="0" bIns="0" rtlCol="0" anchor="ctr"/>
          <a:lstStyle/>
          <a:p>
            <a:pPr indent="0" marL="0">
              <a:buNone/>
            </a:pPr>
            <a:r>
              <a:rPr lang="en-US" sz="1100" b="1" dirty="0">
                <a:solidFill>
                  <a:srgbClr val="1A1A2E"/>
                </a:solidFill>
              </a:rPr>
              <a:t>Access &amp; Security</a:t>
            </a:r>
            <a:endParaRPr lang="en-US" sz="1100" dirty="0"/>
          </a:p>
        </p:txBody>
      </p:sp>
      <p:sp>
        <p:nvSpPr>
          <p:cNvPr id="19" name="Text 17"/>
          <p:cNvSpPr/>
          <p:nvPr/>
        </p:nvSpPr>
        <p:spPr>
          <a:xfrm>
            <a:off x="502920" y="3456432"/>
            <a:ext cx="3886200" cy="530352"/>
          </a:xfrm>
          <a:prstGeom prst="rect">
            <a:avLst/>
          </a:prstGeom>
          <a:noFill/>
          <a:ln/>
        </p:spPr>
        <p:txBody>
          <a:bodyPr wrap="square" lIns="0" tIns="0" rIns="0" bIns="0" rtlCol="0" anchor="ctr"/>
          <a:lstStyle/>
          <a:p>
            <a:pPr indent="0" marL="0">
              <a:buNone/>
            </a:pPr>
            <a:r>
              <a:rPr lang="en-US" sz="900" dirty="0">
                <a:solidFill>
                  <a:srgbClr val="6B7280"/>
                </a:solidFill>
              </a:rPr>
              <a:t>RLS via security groups, NOT individual users  ·  Dynamic RLS: USERNAME() + security mapping table  ·  Sensitivity labels (Microsoft Purview integration)  ·  External sharing: disabled by default, allow-list only</a:t>
            </a:r>
            <a:endParaRPr lang="en-US" sz="900" dirty="0"/>
          </a:p>
        </p:txBody>
      </p:sp>
      <p:sp>
        <p:nvSpPr>
          <p:cNvPr id="20" name="Shape 18"/>
          <p:cNvSpPr/>
          <p:nvPr/>
        </p:nvSpPr>
        <p:spPr>
          <a:xfrm>
            <a:off x="502920" y="4059936"/>
            <a:ext cx="320040" cy="320040"/>
          </a:xfrm>
          <a:prstGeom prst="rect">
            <a:avLst/>
          </a:prstGeom>
          <a:solidFill>
            <a:srgbClr val="C9A84C"/>
          </a:solidFill>
          <a:ln w="12700">
            <a:solidFill>
              <a:srgbClr val="C9A84C"/>
            </a:solidFill>
            <a:prstDash val="solid"/>
          </a:ln>
        </p:spPr>
      </p:sp>
      <p:sp>
        <p:nvSpPr>
          <p:cNvPr id="21" name="Text 19"/>
          <p:cNvSpPr/>
          <p:nvPr/>
        </p:nvSpPr>
        <p:spPr>
          <a:xfrm>
            <a:off x="502920" y="4059936"/>
            <a:ext cx="320040" cy="320040"/>
          </a:xfrm>
          <a:prstGeom prst="rect">
            <a:avLst/>
          </a:prstGeom>
          <a:noFill/>
          <a:ln/>
        </p:spPr>
        <p:txBody>
          <a:bodyPr wrap="square" lIns="0" tIns="0" rIns="0" bIns="0" rtlCol="0" anchor="ctr"/>
          <a:lstStyle/>
          <a:p>
            <a:pPr algn="ctr" indent="0" marL="0">
              <a:buNone/>
            </a:pPr>
            <a:r>
              <a:rPr lang="en-US" sz="1400" b="1" dirty="0">
                <a:solidFill>
                  <a:srgbClr val="12122A"/>
                </a:solidFill>
              </a:rPr>
              <a:t>4</a:t>
            </a:r>
            <a:endParaRPr lang="en-US" sz="1400" dirty="0"/>
          </a:p>
        </p:txBody>
      </p:sp>
      <p:sp>
        <p:nvSpPr>
          <p:cNvPr id="22" name="Text 20"/>
          <p:cNvSpPr/>
          <p:nvPr/>
        </p:nvSpPr>
        <p:spPr>
          <a:xfrm>
            <a:off x="914400" y="4059936"/>
            <a:ext cx="3520440" cy="292608"/>
          </a:xfrm>
          <a:prstGeom prst="rect">
            <a:avLst/>
          </a:prstGeom>
          <a:noFill/>
          <a:ln/>
        </p:spPr>
        <p:txBody>
          <a:bodyPr wrap="square" lIns="0" tIns="0" rIns="0" bIns="0" rtlCol="0" anchor="ctr"/>
          <a:lstStyle/>
          <a:p>
            <a:pPr indent="0" marL="0">
              <a:buNone/>
            </a:pPr>
            <a:r>
              <a:rPr lang="en-US" sz="1100" b="1" dirty="0">
                <a:solidFill>
                  <a:srgbClr val="1A1A2E"/>
                </a:solidFill>
              </a:rPr>
              <a:t>Adoption &amp; Standards</a:t>
            </a:r>
            <a:endParaRPr lang="en-US" sz="1100" dirty="0"/>
          </a:p>
        </p:txBody>
      </p:sp>
      <p:sp>
        <p:nvSpPr>
          <p:cNvPr id="23" name="Text 21"/>
          <p:cNvSpPr/>
          <p:nvPr/>
        </p:nvSpPr>
        <p:spPr>
          <a:xfrm>
            <a:off x="502920" y="4389120"/>
            <a:ext cx="3886200" cy="530352"/>
          </a:xfrm>
          <a:prstGeom prst="rect">
            <a:avLst/>
          </a:prstGeom>
          <a:noFill/>
          <a:ln/>
        </p:spPr>
        <p:txBody>
          <a:bodyPr wrap="square" lIns="0" tIns="0" rIns="0" bIns="0" rtlCol="0" anchor="ctr"/>
          <a:lstStyle/>
          <a:p>
            <a:pPr indent="0" marL="0">
              <a:buNone/>
            </a:pPr>
            <a:r>
              <a:rPr lang="en-US" sz="900" dirty="0">
                <a:solidFill>
                  <a:srgbClr val="6B7280"/>
                </a:solidFill>
              </a:rPr>
              <a:t>Tenant admin: disable personal gateways, enforce MFA  ·  Report certification process (data quality checklist)  ·  Center of Excellence model with champions per BU  ·  Usage metrics monitoring (Premium Metrics App)</a:t>
            </a:r>
            <a:endParaRPr lang="en-US" sz="900" dirty="0"/>
          </a:p>
        </p:txBody>
      </p:sp>
      <p:sp>
        <p:nvSpPr>
          <p:cNvPr id="24" name="Shape 22"/>
          <p:cNvSpPr/>
          <p:nvPr/>
        </p:nvSpPr>
        <p:spPr>
          <a:xfrm>
            <a:off x="4754880" y="868680"/>
            <a:ext cx="4023360" cy="4160520"/>
          </a:xfrm>
          <a:prstGeom prst="rect">
            <a:avLst/>
          </a:prstGeom>
          <a:solidFill>
            <a:srgbClr val="FEF5E7"/>
          </a:solidFill>
          <a:ln w="9525">
            <a:solidFill>
              <a:srgbClr val="C9A84C"/>
            </a:solidFill>
            <a:prstDash val="solid"/>
          </a:ln>
          <a:effectLst>
            <a:outerShdw sx="100000" sy="100000" kx="0" ky="0" algn="bl" rotWithShape="0" blurRad="50800" dist="12700" dir="8100000">
              <a:srgbClr val="000000">
                <a:alpha val="7000"/>
              </a:srgbClr>
            </a:outerShdw>
          </a:effectLst>
        </p:spPr>
      </p:sp>
      <p:sp>
        <p:nvSpPr>
          <p:cNvPr id="25" name="Shape 23"/>
          <p:cNvSpPr/>
          <p:nvPr/>
        </p:nvSpPr>
        <p:spPr>
          <a:xfrm>
            <a:off x="4754880" y="868680"/>
            <a:ext cx="4023360" cy="292608"/>
          </a:xfrm>
          <a:prstGeom prst="rect">
            <a:avLst/>
          </a:prstGeom>
          <a:solidFill>
            <a:srgbClr val="C9A84C"/>
          </a:solidFill>
          <a:ln w="12700">
            <a:solidFill>
              <a:srgbClr val="C9A84C"/>
            </a:solidFill>
            <a:prstDash val="solid"/>
          </a:ln>
        </p:spPr>
      </p:sp>
      <p:sp>
        <p:nvSpPr>
          <p:cNvPr id="26" name="Text 24"/>
          <p:cNvSpPr/>
          <p:nvPr/>
        </p:nvSpPr>
        <p:spPr>
          <a:xfrm>
            <a:off x="4754880" y="868680"/>
            <a:ext cx="4023360" cy="292608"/>
          </a:xfrm>
          <a:prstGeom prst="rect">
            <a:avLst/>
          </a:prstGeom>
          <a:noFill/>
          <a:ln/>
        </p:spPr>
        <p:txBody>
          <a:bodyPr wrap="square" lIns="0" tIns="0" rIns="0" bIns="0" rtlCol="0" anchor="ctr"/>
          <a:lstStyle/>
          <a:p>
            <a:pPr algn="ctr" indent="0" marL="0">
              <a:buNone/>
            </a:pPr>
            <a:r>
              <a:rPr lang="en-US" sz="900" b="1" spc="100" kern="0" dirty="0">
                <a:solidFill>
                  <a:srgbClr val="12122A"/>
                </a:solidFill>
              </a:rPr>
              <a:t>HOW TO FRAME YOUR ANSWERS</a:t>
            </a:r>
            <a:endParaRPr lang="en-US" sz="900" dirty="0"/>
          </a:p>
        </p:txBody>
      </p:sp>
      <p:sp>
        <p:nvSpPr>
          <p:cNvPr id="27" name="Text 25"/>
          <p:cNvSpPr/>
          <p:nvPr/>
        </p:nvSpPr>
        <p:spPr>
          <a:xfrm>
            <a:off x="4892040" y="1261872"/>
            <a:ext cx="3749040" cy="228600"/>
          </a:xfrm>
          <a:prstGeom prst="rect">
            <a:avLst/>
          </a:prstGeom>
          <a:noFill/>
          <a:ln/>
        </p:spPr>
        <p:txBody>
          <a:bodyPr wrap="square" lIns="0" tIns="0" rIns="0" bIns="0" rtlCol="0" anchor="ctr"/>
          <a:lstStyle/>
          <a:p>
            <a:pPr indent="0" marL="0">
              <a:buNone/>
            </a:pPr>
            <a:r>
              <a:rPr lang="en-US" sz="950" b="1" dirty="0">
                <a:solidFill>
                  <a:srgbClr val="12122A"/>
                </a:solidFill>
              </a:rPr>
              <a:t>Q: How do you govern 200+ workspaces?</a:t>
            </a:r>
            <a:endParaRPr lang="en-US" sz="950" dirty="0"/>
          </a:p>
        </p:txBody>
      </p:sp>
      <p:sp>
        <p:nvSpPr>
          <p:cNvPr id="28" name="Text 26"/>
          <p:cNvSpPr/>
          <p:nvPr/>
        </p:nvSpPr>
        <p:spPr>
          <a:xfrm>
            <a:off x="4892040" y="1499616"/>
            <a:ext cx="3749040" cy="621792"/>
          </a:xfrm>
          <a:prstGeom prst="rect">
            <a:avLst/>
          </a:prstGeom>
          <a:noFill/>
          <a:ln/>
        </p:spPr>
        <p:txBody>
          <a:bodyPr wrap="square" lIns="0" tIns="0" rIns="0" bIns="0" rtlCol="0" anchor="ctr"/>
          <a:lstStyle/>
          <a:p>
            <a:pPr indent="0" marL="0">
              <a:buNone/>
            </a:pPr>
            <a:r>
              <a:rPr lang="en-US" sz="900" dirty="0">
                <a:solidFill>
                  <a:srgbClr val="1A1A2E"/>
                </a:solidFill>
              </a:rPr>
              <a:t>"Start with an audit using the Power BI Scanner API / Admin REST APIs to baseline current state. Classify workspaces by risk (certified vs. shadow IT) and establish a triage plan."</a:t>
            </a:r>
            <a:endParaRPr lang="en-US" sz="900" dirty="0"/>
          </a:p>
        </p:txBody>
      </p:sp>
      <p:sp>
        <p:nvSpPr>
          <p:cNvPr id="29" name="Text 27"/>
          <p:cNvSpPr/>
          <p:nvPr/>
        </p:nvSpPr>
        <p:spPr>
          <a:xfrm>
            <a:off x="4892040" y="2194560"/>
            <a:ext cx="3749040" cy="228600"/>
          </a:xfrm>
          <a:prstGeom prst="rect">
            <a:avLst/>
          </a:prstGeom>
          <a:noFill/>
          <a:ln/>
        </p:spPr>
        <p:txBody>
          <a:bodyPr wrap="square" lIns="0" tIns="0" rIns="0" bIns="0" rtlCol="0" anchor="ctr"/>
          <a:lstStyle/>
          <a:p>
            <a:pPr indent="0" marL="0">
              <a:buNone/>
            </a:pPr>
            <a:r>
              <a:rPr lang="en-US" sz="950" b="1" dirty="0">
                <a:solidFill>
                  <a:srgbClr val="12122A"/>
                </a:solidFill>
              </a:rPr>
              <a:t>Q: How do you drive adoption?</a:t>
            </a:r>
            <a:endParaRPr lang="en-US" sz="950" dirty="0"/>
          </a:p>
        </p:txBody>
      </p:sp>
      <p:sp>
        <p:nvSpPr>
          <p:cNvPr id="30" name="Text 28"/>
          <p:cNvSpPr/>
          <p:nvPr/>
        </p:nvSpPr>
        <p:spPr>
          <a:xfrm>
            <a:off x="4892040" y="2432304"/>
            <a:ext cx="3749040" cy="621792"/>
          </a:xfrm>
          <a:prstGeom prst="rect">
            <a:avLst/>
          </a:prstGeom>
          <a:noFill/>
          <a:ln/>
        </p:spPr>
        <p:txBody>
          <a:bodyPr wrap="square" lIns="0" tIns="0" rIns="0" bIns="0" rtlCol="0" anchor="ctr"/>
          <a:lstStyle/>
          <a:p>
            <a:pPr indent="0" marL="0">
              <a:buNone/>
            </a:pPr>
            <a:r>
              <a:rPr lang="en-US" sz="900" dirty="0">
                <a:solidFill>
                  <a:srgbClr val="1A1A2E"/>
                </a:solidFill>
              </a:rPr>
              <a:t>"Center of Excellence + champion network. Monthly office hours, not just training. Measure self-service report creation rate, not just active users."</a:t>
            </a:r>
            <a:endParaRPr lang="en-US" sz="900" dirty="0"/>
          </a:p>
        </p:txBody>
      </p:sp>
      <p:sp>
        <p:nvSpPr>
          <p:cNvPr id="31" name="Text 29"/>
          <p:cNvSpPr/>
          <p:nvPr/>
        </p:nvSpPr>
        <p:spPr>
          <a:xfrm>
            <a:off x="4892040" y="3127248"/>
            <a:ext cx="3749040" cy="228600"/>
          </a:xfrm>
          <a:prstGeom prst="rect">
            <a:avLst/>
          </a:prstGeom>
          <a:noFill/>
          <a:ln/>
        </p:spPr>
        <p:txBody>
          <a:bodyPr wrap="square" lIns="0" tIns="0" rIns="0" bIns="0" rtlCol="0" anchor="ctr"/>
          <a:lstStyle/>
          <a:p>
            <a:pPr indent="0" marL="0">
              <a:buNone/>
            </a:pPr>
            <a:r>
              <a:rPr lang="en-US" sz="950" b="1" dirty="0">
                <a:solidFill>
                  <a:srgbClr val="12122A"/>
                </a:solidFill>
              </a:rPr>
              <a:t>Q: How do you enforce standards globally?</a:t>
            </a:r>
            <a:endParaRPr lang="en-US" sz="950" dirty="0"/>
          </a:p>
        </p:txBody>
      </p:sp>
      <p:sp>
        <p:nvSpPr>
          <p:cNvPr id="32" name="Text 30"/>
          <p:cNvSpPr/>
          <p:nvPr/>
        </p:nvSpPr>
        <p:spPr>
          <a:xfrm>
            <a:off x="4892040" y="3364992"/>
            <a:ext cx="3749040" cy="621792"/>
          </a:xfrm>
          <a:prstGeom prst="rect">
            <a:avLst/>
          </a:prstGeom>
          <a:noFill/>
          <a:ln/>
        </p:spPr>
        <p:txBody>
          <a:bodyPr wrap="square" lIns="0" tIns="0" rIns="0" bIns="0" rtlCol="0" anchor="ctr"/>
          <a:lstStyle/>
          <a:p>
            <a:pPr indent="0" marL="0">
              <a:buNone/>
            </a:pPr>
            <a:r>
              <a:rPr lang="en-US" sz="900" dirty="0">
                <a:solidFill>
                  <a:srgbClr val="1A1A2E"/>
                </a:solidFill>
              </a:rPr>
              <a:t>"Governance doesn't scale through policing — it scales through tooling. Pre-built templates, endorsed shared datasets, and automated workspace health alerts."</a:t>
            </a:r>
            <a:endParaRPr lang="en-US" sz="900" dirty="0"/>
          </a:p>
        </p:txBody>
      </p:sp>
      <p:sp>
        <p:nvSpPr>
          <p:cNvPr id="33" name="Text 31"/>
          <p:cNvSpPr/>
          <p:nvPr/>
        </p:nvSpPr>
        <p:spPr>
          <a:xfrm>
            <a:off x="4892040" y="4059936"/>
            <a:ext cx="3749040" cy="228600"/>
          </a:xfrm>
          <a:prstGeom prst="rect">
            <a:avLst/>
          </a:prstGeom>
          <a:noFill/>
          <a:ln/>
        </p:spPr>
        <p:txBody>
          <a:bodyPr wrap="square" lIns="0" tIns="0" rIns="0" bIns="0" rtlCol="0" anchor="ctr"/>
          <a:lstStyle/>
          <a:p>
            <a:pPr indent="0" marL="0">
              <a:buNone/>
            </a:pPr>
            <a:r>
              <a:rPr lang="en-US" sz="950" b="1" dirty="0">
                <a:solidFill>
                  <a:srgbClr val="12122A"/>
                </a:solidFill>
              </a:rPr>
              <a:t>Q: How do you handle a non-compliant team?</a:t>
            </a:r>
            <a:endParaRPr lang="en-US" sz="950" dirty="0"/>
          </a:p>
        </p:txBody>
      </p:sp>
      <p:sp>
        <p:nvSpPr>
          <p:cNvPr id="34" name="Text 32"/>
          <p:cNvSpPr/>
          <p:nvPr/>
        </p:nvSpPr>
        <p:spPr>
          <a:xfrm>
            <a:off x="4892040" y="4297680"/>
            <a:ext cx="3749040" cy="621792"/>
          </a:xfrm>
          <a:prstGeom prst="rect">
            <a:avLst/>
          </a:prstGeom>
          <a:noFill/>
          <a:ln/>
        </p:spPr>
        <p:txBody>
          <a:bodyPr wrap="square" lIns="0" tIns="0" rIns="0" bIns="0" rtlCol="0" anchor="ctr"/>
          <a:lstStyle/>
          <a:p>
            <a:pPr indent="0" marL="0">
              <a:buNone/>
            </a:pPr>
            <a:r>
              <a:rPr lang="en-US" sz="900" dirty="0">
                <a:solidFill>
                  <a:srgbClr val="1A1A2E"/>
                </a:solidFill>
              </a:rPr>
              <a:t>"Escalation is the last resort. First: understand why they deviated (likely a real unmet need). Fix the standard to meet the need, then migrate them."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Premium Capacity Management — Running the Platform</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5029200" cy="146304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6" name="Shape 4"/>
          <p:cNvSpPr/>
          <p:nvPr/>
        </p:nvSpPr>
        <p:spPr>
          <a:xfrm>
            <a:off x="365760" y="868680"/>
            <a:ext cx="5029200" cy="274320"/>
          </a:xfrm>
          <a:prstGeom prst="rect">
            <a:avLst/>
          </a:prstGeom>
          <a:solidFill>
            <a:srgbClr val="12122A"/>
          </a:solidFill>
          <a:ln w="12700">
            <a:solidFill>
              <a:srgbClr val="12122A"/>
            </a:solidFill>
            <a:prstDash val="solid"/>
          </a:ln>
        </p:spPr>
      </p:sp>
      <p:sp>
        <p:nvSpPr>
          <p:cNvPr id="7" name="Text 5"/>
          <p:cNvSpPr/>
          <p:nvPr/>
        </p:nvSpPr>
        <p:spPr>
          <a:xfrm>
            <a:off x="365760" y="868680"/>
            <a:ext cx="5029200" cy="274320"/>
          </a:xfrm>
          <a:prstGeom prst="rect">
            <a:avLst/>
          </a:prstGeom>
          <a:noFill/>
          <a:ln/>
        </p:spPr>
        <p:txBody>
          <a:bodyPr wrap="square" lIns="0" tIns="0" rIns="0" bIns="0" rtlCol="0" anchor="ctr"/>
          <a:lstStyle/>
          <a:p>
            <a:pPr algn="ctr" indent="0" marL="0">
              <a:buNone/>
            </a:pPr>
            <a:r>
              <a:rPr lang="en-US" sz="900" b="1" spc="100" kern="0" dirty="0">
                <a:solidFill>
                  <a:srgbClr val="C9A84C"/>
                </a:solidFill>
              </a:rPr>
              <a:t>CAPACITY SKU REFERENCE</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5029200" cy="1188720"/>
        </p:xfrm>
        <a:graphic>
          <a:graphicData uri="http://schemas.openxmlformats.org/drawingml/2006/table">
            <a:tbl>
              <a:tblPr/>
              <a:tblGrid>
                <a:gridCol w="822960"/>
                <a:gridCol w="822960"/>
                <a:gridCol w="822960"/>
                <a:gridCol w="2560320"/>
              </a:tblGrid>
              <a:tr h="237744">
                <a:tc>
                  <a:txBody>
                    <a:bodyPr/>
                    <a:lstStyle/>
                    <a:p>
                      <a:pPr algn="l" indent="0" marL="0">
                        <a:buNone/>
                      </a:pPr>
                      <a:r>
                        <a:rPr lang="en-US" sz="950" b="1" dirty="0">
                          <a:solidFill>
                            <a:srgbClr val="FFFFFF"/>
                          </a:solidFill>
                        </a:rPr>
                        <a:t>SKU</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1E1E42"/>
                    </a:solidFill>
                  </a:tcPr>
                </a:tc>
                <a:tc>
                  <a:txBody>
                    <a:bodyPr/>
                    <a:lstStyle/>
                    <a:p>
                      <a:pPr algn="ctr" indent="0" marL="0">
                        <a:buNone/>
                      </a:pPr>
                      <a:r>
                        <a:rPr lang="en-US" sz="950" b="1" dirty="0">
                          <a:solidFill>
                            <a:srgbClr val="FFFFFF"/>
                          </a:solidFill>
                        </a:rPr>
                        <a:t>v-Cores</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1E1E42"/>
                    </a:solidFill>
                  </a:tcPr>
                </a:tc>
                <a:tc>
                  <a:txBody>
                    <a:bodyPr/>
                    <a:lstStyle/>
                    <a:p>
                      <a:pPr algn="ctr" indent="0" marL="0">
                        <a:buNone/>
                      </a:pPr>
                      <a:r>
                        <a:rPr lang="en-US" sz="950" b="1" dirty="0">
                          <a:solidFill>
                            <a:srgbClr val="FFFFFF"/>
                          </a:solidFill>
                        </a:rPr>
                        <a:t>RAM</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1E1E42"/>
                    </a:solidFill>
                  </a:tcPr>
                </a:tc>
                <a:tc>
                  <a:txBody>
                    <a:bodyPr/>
                    <a:lstStyle/>
                    <a:p>
                      <a:pPr algn="ctr" indent="0" marL="0">
                        <a:buNone/>
                      </a:pPr>
                      <a:r>
                        <a:rPr lang="en-US" sz="950" b="1" dirty="0">
                          <a:solidFill>
                            <a:srgbClr val="FFFFFF"/>
                          </a:solidFill>
                        </a:rPr>
                        <a:t>Use Case</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1E1E42"/>
                    </a:solidFill>
                  </a:tcPr>
                </a:tc>
              </a:tr>
              <a:tr h="237744">
                <a:tc>
                  <a:txBody>
                    <a:bodyPr/>
                    <a:lstStyle/>
                    <a:p>
                      <a:pPr algn="l" indent="0" marL="0">
                        <a:buNone/>
                      </a:pPr>
                      <a:r>
                        <a:rPr lang="en-US" sz="950" b="1" dirty="0">
                          <a:solidFill>
                            <a:srgbClr val="1A1A2E"/>
                          </a:solidFill>
                        </a:rPr>
                        <a:t>P1</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2E"/>
                          </a:solidFill>
                        </a:rPr>
                        <a:t>8</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2E"/>
                          </a:solidFill>
                        </a:rPr>
                        <a:t>25 GB</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2E"/>
                          </a:solidFill>
                        </a:rPr>
                        <a:t>Small-to-mid LATAM org</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FFFFF"/>
                    </a:solidFill>
                  </a:tcPr>
                </a:tc>
              </a:tr>
              <a:tr h="237744">
                <a:tc>
                  <a:txBody>
                    <a:bodyPr/>
                    <a:lstStyle/>
                    <a:p>
                      <a:pPr algn="l" indent="0" marL="0">
                        <a:buNone/>
                      </a:pPr>
                      <a:r>
                        <a:rPr lang="en-US" sz="950" b="1" dirty="0">
                          <a:solidFill>
                            <a:srgbClr val="1A1A2E"/>
                          </a:solidFill>
                        </a:rPr>
                        <a:t>P2</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0F2FA"/>
                    </a:solidFill>
                  </a:tcPr>
                </a:tc>
                <a:tc>
                  <a:txBody>
                    <a:bodyPr/>
                    <a:lstStyle/>
                    <a:p>
                      <a:pPr algn="ctr" indent="0" marL="0">
                        <a:buNone/>
                      </a:pPr>
                      <a:r>
                        <a:rPr lang="en-US" sz="950" dirty="0">
                          <a:solidFill>
                            <a:srgbClr val="1A1A2E"/>
                          </a:solidFill>
                        </a:rPr>
                        <a:t>16</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0F2FA"/>
                    </a:solidFill>
                  </a:tcPr>
                </a:tc>
                <a:tc>
                  <a:txBody>
                    <a:bodyPr/>
                    <a:lstStyle/>
                    <a:p>
                      <a:pPr algn="ctr" indent="0" marL="0">
                        <a:buNone/>
                      </a:pPr>
                      <a:r>
                        <a:rPr lang="en-US" sz="950" dirty="0">
                          <a:solidFill>
                            <a:srgbClr val="1A1A2E"/>
                          </a:solidFill>
                        </a:rPr>
                        <a:t>50 GB</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0F2FA"/>
                    </a:solidFill>
                  </a:tcPr>
                </a:tc>
                <a:tc>
                  <a:txBody>
                    <a:bodyPr/>
                    <a:lstStyle/>
                    <a:p>
                      <a:pPr algn="ctr" indent="0" marL="0">
                        <a:buNone/>
                      </a:pPr>
                      <a:r>
                        <a:rPr lang="en-US" sz="950" dirty="0">
                          <a:solidFill>
                            <a:srgbClr val="1A1A2E"/>
                          </a:solidFill>
                        </a:rPr>
                        <a:t>Heavy usage, many concurrent users</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0F2FA"/>
                    </a:solidFill>
                  </a:tcPr>
                </a:tc>
              </a:tr>
              <a:tr h="237744">
                <a:tc>
                  <a:txBody>
                    <a:bodyPr/>
                    <a:lstStyle/>
                    <a:p>
                      <a:pPr algn="l" indent="0" marL="0">
                        <a:buNone/>
                      </a:pPr>
                      <a:r>
                        <a:rPr lang="en-US" sz="950" b="1" dirty="0">
                          <a:solidFill>
                            <a:srgbClr val="1A1A2E"/>
                          </a:solidFill>
                        </a:rPr>
                        <a:t>P3</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2E"/>
                          </a:solidFill>
                        </a:rPr>
                        <a:t>32</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2E"/>
                          </a:solidFill>
                        </a:rPr>
                        <a:t>100 GB</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1A2E"/>
                          </a:solidFill>
                        </a:rPr>
                        <a:t>Enterprise/global</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FFFFF"/>
                    </a:solidFill>
                  </a:tcPr>
                </a:tc>
              </a:tr>
              <a:tr h="237744">
                <a:tc>
                  <a:txBody>
                    <a:bodyPr/>
                    <a:lstStyle/>
                    <a:p>
                      <a:pPr algn="l" indent="0" marL="0">
                        <a:buNone/>
                      </a:pPr>
                      <a:r>
                        <a:rPr lang="en-US" sz="950" b="1" dirty="0">
                          <a:solidFill>
                            <a:srgbClr val="1A1A2E"/>
                          </a:solidFill>
                        </a:rPr>
                        <a:t>F64 (Fabric)</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0F2FA"/>
                    </a:solidFill>
                  </a:tcPr>
                </a:tc>
                <a:tc>
                  <a:txBody>
                    <a:bodyPr/>
                    <a:lstStyle/>
                    <a:p>
                      <a:pPr algn="ctr" indent="0" marL="0">
                        <a:buNone/>
                      </a:pPr>
                      <a:r>
                        <a:rPr lang="en-US" sz="950" dirty="0">
                          <a:solidFill>
                            <a:srgbClr val="1A1A2E"/>
                          </a:solidFill>
                        </a:rPr>
                        <a:t>64 FP</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0F2FA"/>
                    </a:solidFill>
                  </a:tcPr>
                </a:tc>
                <a:tc>
                  <a:txBody>
                    <a:bodyPr/>
                    <a:lstStyle/>
                    <a:p>
                      <a:pPr algn="ctr" indent="0" marL="0">
                        <a:buNone/>
                      </a:pPr>
                      <a:r>
                        <a:rPr lang="en-US" sz="950" dirty="0">
                          <a:solidFill>
                            <a:srgbClr val="1A1A2E"/>
                          </a:solidFill>
                        </a:rPr>
                        <a:t>–</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0F2FA"/>
                    </a:solidFill>
                  </a:tcPr>
                </a:tc>
                <a:tc>
                  <a:txBody>
                    <a:bodyPr/>
                    <a:lstStyle/>
                    <a:p>
                      <a:pPr algn="ctr" indent="0" marL="0">
                        <a:buNone/>
                      </a:pPr>
                      <a:r>
                        <a:rPr lang="en-US" sz="950" dirty="0">
                          <a:solidFill>
                            <a:srgbClr val="1A1A2E"/>
                          </a:solidFill>
                        </a:rPr>
                        <a:t>Fabric-era replacement for P2/P3</a:t>
                      </a:r>
                      <a:endParaRPr lang="en-US" sz="9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F0F2FA"/>
                    </a:solidFill>
                  </a:tcPr>
                </a:tc>
              </a:tr>
            </a:tbl>
          </a:graphicData>
        </a:graphic>
      </p:graphicFrame>
      <p:sp>
        <p:nvSpPr>
          <p:cNvPr id="9" name="Shape 6"/>
          <p:cNvSpPr/>
          <p:nvPr/>
        </p:nvSpPr>
        <p:spPr>
          <a:xfrm>
            <a:off x="5577840" y="868680"/>
            <a:ext cx="3200400" cy="1463040"/>
          </a:xfrm>
          <a:prstGeom prst="rect">
            <a:avLst/>
          </a:prstGeom>
          <a:solidFill>
            <a:srgbClr val="FEF5E7"/>
          </a:solidFill>
          <a:ln w="9525">
            <a:solidFill>
              <a:srgbClr val="C9A84C"/>
            </a:solidFill>
            <a:prstDash val="solid"/>
          </a:ln>
          <a:effectLst>
            <a:outerShdw sx="100000" sy="100000" kx="0" ky="0" algn="bl" rotWithShape="0" blurRad="50800" dist="12700" dir="8100000">
              <a:srgbClr val="000000">
                <a:alpha val="7000"/>
              </a:srgbClr>
            </a:outerShdw>
          </a:effectLst>
        </p:spPr>
      </p:sp>
      <p:sp>
        <p:nvSpPr>
          <p:cNvPr id="10" name="Shape 7"/>
          <p:cNvSpPr/>
          <p:nvPr/>
        </p:nvSpPr>
        <p:spPr>
          <a:xfrm>
            <a:off x="5577840" y="868680"/>
            <a:ext cx="3200400" cy="274320"/>
          </a:xfrm>
          <a:prstGeom prst="rect">
            <a:avLst/>
          </a:prstGeom>
          <a:solidFill>
            <a:srgbClr val="C9A84C"/>
          </a:solidFill>
          <a:ln w="12700">
            <a:solidFill>
              <a:srgbClr val="C9A84C"/>
            </a:solidFill>
            <a:prstDash val="solid"/>
          </a:ln>
        </p:spPr>
      </p:sp>
      <p:sp>
        <p:nvSpPr>
          <p:cNvPr id="11" name="Text 8"/>
          <p:cNvSpPr/>
          <p:nvPr/>
        </p:nvSpPr>
        <p:spPr>
          <a:xfrm>
            <a:off x="5577840" y="868680"/>
            <a:ext cx="3200400" cy="274320"/>
          </a:xfrm>
          <a:prstGeom prst="rect">
            <a:avLst/>
          </a:prstGeom>
          <a:noFill/>
          <a:ln/>
        </p:spPr>
        <p:txBody>
          <a:bodyPr wrap="square" lIns="0" tIns="0" rIns="0" bIns="0" rtlCol="0" anchor="ctr"/>
          <a:lstStyle/>
          <a:p>
            <a:pPr algn="ctr" indent="0" marL="0">
              <a:buNone/>
            </a:pPr>
            <a:r>
              <a:rPr lang="en-US" sz="900" b="1" spc="100" kern="0" dirty="0">
                <a:solidFill>
                  <a:srgbClr val="12122A"/>
                </a:solidFill>
              </a:rPr>
              <a:t>KEY METRICS TO MONITOR</a:t>
            </a:r>
            <a:endParaRPr lang="en-US" sz="900" dirty="0"/>
          </a:p>
        </p:txBody>
      </p:sp>
      <p:sp>
        <p:nvSpPr>
          <p:cNvPr id="12" name="Text 9"/>
          <p:cNvSpPr/>
          <p:nvPr/>
        </p:nvSpPr>
        <p:spPr>
          <a:xfrm>
            <a:off x="5669280" y="1188720"/>
            <a:ext cx="3017520" cy="1097280"/>
          </a:xfrm>
          <a:prstGeom prst="rect">
            <a:avLst/>
          </a:prstGeom>
          <a:noFill/>
          <a:ln/>
        </p:spPr>
        <p:txBody>
          <a:bodyPr wrap="square" lIns="0" tIns="0" rIns="0" bIns="0" rtlCol="0" anchor="ctr"/>
          <a:lstStyle/>
          <a:p>
            <a:pPr indent="0" marL="0">
              <a:spcAft>
                <a:spcPts val="200"/>
              </a:spcAft>
              <a:buNone/>
            </a:pPr>
            <a:r>
              <a:rPr lang="en-US" sz="950" dirty="0">
                <a:solidFill>
                  <a:srgbClr val="C9A84C"/>
                </a:solidFill>
              </a:rPr>
              <a:t>✦ </a:t>
            </a:r>
            <a:pPr indent="0" marL="0">
              <a:spcAft>
                <a:spcPts val="200"/>
              </a:spcAft>
              <a:buNone/>
            </a:pPr>
            <a:r>
              <a:rPr lang="en-US" sz="950" dirty="0">
                <a:solidFill>
                  <a:srgbClr val="1A1A2E"/>
                </a:solidFill>
              </a:rPr>
              <a:t>CPU throttling (&gt;70% = risk)</a:t>
            </a:r>
            <a:pPr indent="0" marL="0">
              <a:spcAft>
                <a:spcPts val="200"/>
              </a:spcAft>
              <a:buNone/>
            </a:pPr>
            <a:endParaRPr lang="en-US" sz="950" dirty="0"/>
          </a:p>
          <a:p>
            <a:pPr indent="0" marL="0">
              <a:spcAft>
                <a:spcPts val="200"/>
              </a:spcAft>
              <a:buNone/>
            </a:pPr>
            <a:r>
              <a:rPr lang="en-US" sz="950" dirty="0">
                <a:solidFill>
                  <a:srgbClr val="C9A84C"/>
                </a:solidFill>
              </a:rPr>
              <a:t>✦ </a:t>
            </a:r>
            <a:pPr indent="0" marL="0">
              <a:spcAft>
                <a:spcPts val="200"/>
              </a:spcAft>
              <a:buNone/>
            </a:pPr>
            <a:r>
              <a:rPr lang="en-US" sz="950" dirty="0">
                <a:solidFill>
                  <a:srgbClr val="1A1A2E"/>
                </a:solidFill>
              </a:rPr>
              <a:t>Memory pressure &amp; dataset evictions</a:t>
            </a:r>
            <a:pPr indent="0" marL="0">
              <a:spcAft>
                <a:spcPts val="200"/>
              </a:spcAft>
              <a:buNone/>
            </a:pPr>
            <a:endParaRPr lang="en-US" sz="950" dirty="0"/>
          </a:p>
          <a:p>
            <a:pPr indent="0" marL="0">
              <a:spcAft>
                <a:spcPts val="200"/>
              </a:spcAft>
              <a:buNone/>
            </a:pPr>
            <a:r>
              <a:rPr lang="en-US" sz="950" dirty="0">
                <a:solidFill>
                  <a:srgbClr val="C9A84C"/>
                </a:solidFill>
              </a:rPr>
              <a:t>✦ </a:t>
            </a:r>
            <a:pPr indent="0" marL="0">
              <a:spcAft>
                <a:spcPts val="200"/>
              </a:spcAft>
              <a:buNone/>
            </a:pPr>
            <a:r>
              <a:rPr lang="en-US" sz="950" dirty="0">
                <a:solidFill>
                  <a:srgbClr val="1A1A2E"/>
                </a:solidFill>
              </a:rPr>
              <a:t>Query wait time (&gt;3s = investigate)</a:t>
            </a:r>
            <a:pPr indent="0" marL="0">
              <a:spcAft>
                <a:spcPts val="200"/>
              </a:spcAft>
              <a:buNone/>
            </a:pPr>
            <a:endParaRPr lang="en-US" sz="950" dirty="0"/>
          </a:p>
          <a:p>
            <a:pPr indent="0" marL="0">
              <a:spcAft>
                <a:spcPts val="200"/>
              </a:spcAft>
              <a:buNone/>
            </a:pPr>
            <a:r>
              <a:rPr lang="en-US" sz="950" dirty="0">
                <a:solidFill>
                  <a:srgbClr val="C9A84C"/>
                </a:solidFill>
              </a:rPr>
              <a:t>✦ </a:t>
            </a:r>
            <a:pPr indent="0" marL="0">
              <a:spcAft>
                <a:spcPts val="200"/>
              </a:spcAft>
              <a:buNone/>
            </a:pPr>
            <a:r>
              <a:rPr lang="en-US" sz="950" dirty="0">
                <a:solidFill>
                  <a:srgbClr val="1A1A2E"/>
                </a:solidFill>
              </a:rPr>
              <a:t>Dataset refresh failures &amp; duration</a:t>
            </a:r>
            <a:pPr indent="0" marL="0">
              <a:spcAft>
                <a:spcPts val="200"/>
              </a:spcAft>
              <a:buNone/>
            </a:pPr>
            <a:endParaRPr lang="en-US" sz="950" dirty="0"/>
          </a:p>
          <a:p>
            <a:pPr indent="0" marL="0">
              <a:spcAft>
                <a:spcPts val="200"/>
              </a:spcAft>
              <a:buNone/>
            </a:pPr>
            <a:r>
              <a:rPr lang="en-US" sz="950" dirty="0">
                <a:solidFill>
                  <a:srgbClr val="C9A84C"/>
                </a:solidFill>
              </a:rPr>
              <a:t>✦ </a:t>
            </a:r>
            <a:pPr indent="0" marL="0">
              <a:spcAft>
                <a:spcPts val="200"/>
              </a:spcAft>
              <a:buNone/>
            </a:pPr>
            <a:r>
              <a:rPr lang="en-US" sz="950" dirty="0">
                <a:solidFill>
                  <a:srgbClr val="1A1A2E"/>
                </a:solidFill>
              </a:rPr>
              <a:t>Concurrent query count peaks</a:t>
            </a:r>
            <a:endParaRPr lang="en-US" sz="950" dirty="0"/>
          </a:p>
        </p:txBody>
      </p:sp>
      <p:sp>
        <p:nvSpPr>
          <p:cNvPr id="13" name="Shape 10"/>
          <p:cNvSpPr/>
          <p:nvPr/>
        </p:nvSpPr>
        <p:spPr>
          <a:xfrm>
            <a:off x="365760" y="2487168"/>
            <a:ext cx="2011680" cy="246888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4" name="Shape 11"/>
          <p:cNvSpPr/>
          <p:nvPr/>
        </p:nvSpPr>
        <p:spPr>
          <a:xfrm>
            <a:off x="365760" y="2487168"/>
            <a:ext cx="2011680" cy="274320"/>
          </a:xfrm>
          <a:prstGeom prst="rect">
            <a:avLst/>
          </a:prstGeom>
          <a:solidFill>
            <a:srgbClr val="1E1E42"/>
          </a:solidFill>
          <a:ln w="12700">
            <a:solidFill>
              <a:srgbClr val="1E1E42"/>
            </a:solidFill>
            <a:prstDash val="solid"/>
          </a:ln>
        </p:spPr>
      </p:sp>
      <p:sp>
        <p:nvSpPr>
          <p:cNvPr id="15" name="Text 12"/>
          <p:cNvSpPr/>
          <p:nvPr/>
        </p:nvSpPr>
        <p:spPr>
          <a:xfrm>
            <a:off x="411480" y="2487168"/>
            <a:ext cx="1920240" cy="274320"/>
          </a:xfrm>
          <a:prstGeom prst="rect">
            <a:avLst/>
          </a:prstGeom>
          <a:noFill/>
          <a:ln/>
        </p:spPr>
        <p:txBody>
          <a:bodyPr wrap="square" lIns="0" tIns="0" rIns="0" bIns="0" rtlCol="0" anchor="ctr"/>
          <a:lstStyle/>
          <a:p>
            <a:pPr indent="0" marL="0">
              <a:buNone/>
            </a:pPr>
            <a:r>
              <a:rPr lang="en-US" sz="950" b="1" dirty="0">
                <a:solidFill>
                  <a:srgbClr val="C9A84C"/>
                </a:solidFill>
              </a:rPr>
              <a:t>Premium Gen2</a:t>
            </a:r>
            <a:endParaRPr lang="en-US" sz="950" dirty="0"/>
          </a:p>
        </p:txBody>
      </p:sp>
      <p:sp>
        <p:nvSpPr>
          <p:cNvPr id="16" name="Text 13"/>
          <p:cNvSpPr/>
          <p:nvPr/>
        </p:nvSpPr>
        <p:spPr>
          <a:xfrm>
            <a:off x="457200" y="2807208"/>
            <a:ext cx="1828800" cy="2057400"/>
          </a:xfrm>
          <a:prstGeom prst="rect">
            <a:avLst/>
          </a:prstGeom>
          <a:noFill/>
          <a:ln/>
        </p:spPr>
        <p:txBody>
          <a:bodyPr wrap="square" lIns="0" tIns="0" rIns="0" bIns="0" rtlCol="0" anchor="ctr"/>
          <a:lstStyle/>
          <a:p>
            <a:pPr indent="0" marL="0">
              <a:buNone/>
            </a:pPr>
            <a:r>
              <a:rPr lang="en-US" sz="950" dirty="0">
                <a:solidFill>
                  <a:srgbClr val="1A1A2E"/>
                </a:solidFill>
              </a:rPr>
              <a:t>Auto-scale per workload. No global memory cap — each item gets its own memory. Enable "Enhanced Compute Engine" for faster DAX.</a:t>
            </a:r>
            <a:endParaRPr lang="en-US" sz="950" dirty="0"/>
          </a:p>
        </p:txBody>
      </p:sp>
      <p:sp>
        <p:nvSpPr>
          <p:cNvPr id="17" name="Shape 14"/>
          <p:cNvSpPr/>
          <p:nvPr/>
        </p:nvSpPr>
        <p:spPr>
          <a:xfrm>
            <a:off x="2514600" y="2487168"/>
            <a:ext cx="2011680" cy="246888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8" name="Shape 15"/>
          <p:cNvSpPr/>
          <p:nvPr/>
        </p:nvSpPr>
        <p:spPr>
          <a:xfrm>
            <a:off x="2514600" y="2487168"/>
            <a:ext cx="2011680" cy="274320"/>
          </a:xfrm>
          <a:prstGeom prst="rect">
            <a:avLst/>
          </a:prstGeom>
          <a:solidFill>
            <a:srgbClr val="1E1E42"/>
          </a:solidFill>
          <a:ln w="12700">
            <a:solidFill>
              <a:srgbClr val="1E1E42"/>
            </a:solidFill>
            <a:prstDash val="solid"/>
          </a:ln>
        </p:spPr>
      </p:sp>
      <p:sp>
        <p:nvSpPr>
          <p:cNvPr id="19" name="Text 16"/>
          <p:cNvSpPr/>
          <p:nvPr/>
        </p:nvSpPr>
        <p:spPr>
          <a:xfrm>
            <a:off x="2560320" y="2487168"/>
            <a:ext cx="1920240" cy="274320"/>
          </a:xfrm>
          <a:prstGeom prst="rect">
            <a:avLst/>
          </a:prstGeom>
          <a:noFill/>
          <a:ln/>
        </p:spPr>
        <p:txBody>
          <a:bodyPr wrap="square" lIns="0" tIns="0" rIns="0" bIns="0" rtlCol="0" anchor="ctr"/>
          <a:lstStyle/>
          <a:p>
            <a:pPr indent="0" marL="0">
              <a:buNone/>
            </a:pPr>
            <a:r>
              <a:rPr lang="en-US" sz="950" b="1" dirty="0">
                <a:solidFill>
                  <a:srgbClr val="C9A84C"/>
                </a:solidFill>
              </a:rPr>
              <a:t>Capacity Metrics App</a:t>
            </a:r>
            <a:endParaRPr lang="en-US" sz="950" dirty="0"/>
          </a:p>
        </p:txBody>
      </p:sp>
      <p:sp>
        <p:nvSpPr>
          <p:cNvPr id="20" name="Text 17"/>
          <p:cNvSpPr/>
          <p:nvPr/>
        </p:nvSpPr>
        <p:spPr>
          <a:xfrm>
            <a:off x="2606040" y="2807208"/>
            <a:ext cx="1828800" cy="2057400"/>
          </a:xfrm>
          <a:prstGeom prst="rect">
            <a:avLst/>
          </a:prstGeom>
          <a:noFill/>
          <a:ln/>
        </p:spPr>
        <p:txBody>
          <a:bodyPr wrap="square" lIns="0" tIns="0" rIns="0" bIns="0" rtlCol="0" anchor="ctr"/>
          <a:lstStyle/>
          <a:p>
            <a:pPr indent="0" marL="0">
              <a:buNone/>
            </a:pPr>
            <a:r>
              <a:rPr lang="en-US" sz="950" dirty="0">
                <a:solidFill>
                  <a:srgbClr val="1A1A2E"/>
                </a:solidFill>
              </a:rPr>
              <a:t>Official Microsoft app. Tracks CPU, memory, DQ/LC operations. Pin the 7-day trend charts. Check after every major report launch.</a:t>
            </a:r>
            <a:endParaRPr lang="en-US" sz="950" dirty="0"/>
          </a:p>
        </p:txBody>
      </p:sp>
      <p:sp>
        <p:nvSpPr>
          <p:cNvPr id="21" name="Shape 18"/>
          <p:cNvSpPr/>
          <p:nvPr/>
        </p:nvSpPr>
        <p:spPr>
          <a:xfrm>
            <a:off x="4663440" y="2487168"/>
            <a:ext cx="2011680" cy="246888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22" name="Shape 19"/>
          <p:cNvSpPr/>
          <p:nvPr/>
        </p:nvSpPr>
        <p:spPr>
          <a:xfrm>
            <a:off x="4663440" y="2487168"/>
            <a:ext cx="2011680" cy="274320"/>
          </a:xfrm>
          <a:prstGeom prst="rect">
            <a:avLst/>
          </a:prstGeom>
          <a:solidFill>
            <a:srgbClr val="1E1E42"/>
          </a:solidFill>
          <a:ln w="12700">
            <a:solidFill>
              <a:srgbClr val="1E1E42"/>
            </a:solidFill>
            <a:prstDash val="solid"/>
          </a:ln>
        </p:spPr>
      </p:sp>
      <p:sp>
        <p:nvSpPr>
          <p:cNvPr id="23" name="Text 20"/>
          <p:cNvSpPr/>
          <p:nvPr/>
        </p:nvSpPr>
        <p:spPr>
          <a:xfrm>
            <a:off x="4709160" y="2487168"/>
            <a:ext cx="1920240" cy="274320"/>
          </a:xfrm>
          <a:prstGeom prst="rect">
            <a:avLst/>
          </a:prstGeom>
          <a:noFill/>
          <a:ln/>
        </p:spPr>
        <p:txBody>
          <a:bodyPr wrap="square" lIns="0" tIns="0" rIns="0" bIns="0" rtlCol="0" anchor="ctr"/>
          <a:lstStyle/>
          <a:p>
            <a:pPr indent="0" marL="0">
              <a:buNone/>
            </a:pPr>
            <a:r>
              <a:rPr lang="en-US" sz="950" b="1" dirty="0">
                <a:solidFill>
                  <a:srgbClr val="C9A84C"/>
                </a:solidFill>
              </a:rPr>
              <a:t>Dataset Evictions</a:t>
            </a:r>
            <a:endParaRPr lang="en-US" sz="950" dirty="0"/>
          </a:p>
        </p:txBody>
      </p:sp>
      <p:sp>
        <p:nvSpPr>
          <p:cNvPr id="24" name="Text 21"/>
          <p:cNvSpPr/>
          <p:nvPr/>
        </p:nvSpPr>
        <p:spPr>
          <a:xfrm>
            <a:off x="4754880" y="2807208"/>
            <a:ext cx="1828800" cy="2057400"/>
          </a:xfrm>
          <a:prstGeom prst="rect">
            <a:avLst/>
          </a:prstGeom>
          <a:noFill/>
          <a:ln/>
        </p:spPr>
        <p:txBody>
          <a:bodyPr wrap="square" lIns="0" tIns="0" rIns="0" bIns="0" rtlCol="0" anchor="ctr"/>
          <a:lstStyle/>
          <a:p>
            <a:pPr indent="0" marL="0">
              <a:buNone/>
            </a:pPr>
            <a:r>
              <a:rPr lang="en-US" sz="950" dirty="0">
                <a:solidFill>
                  <a:srgbClr val="1A1A2E"/>
                </a:solidFill>
              </a:rPr>
              <a:t>When memory is full, datasets are evicted (unloaded). Next query re-loads = slow. Fix: optimise model size, or upgrade SKU.</a:t>
            </a:r>
            <a:endParaRPr lang="en-US" sz="950" dirty="0"/>
          </a:p>
        </p:txBody>
      </p:sp>
      <p:sp>
        <p:nvSpPr>
          <p:cNvPr id="25" name="Shape 22"/>
          <p:cNvSpPr/>
          <p:nvPr/>
        </p:nvSpPr>
        <p:spPr>
          <a:xfrm>
            <a:off x="6812280" y="2487168"/>
            <a:ext cx="2011680" cy="246888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26" name="Shape 23"/>
          <p:cNvSpPr/>
          <p:nvPr/>
        </p:nvSpPr>
        <p:spPr>
          <a:xfrm>
            <a:off x="6812280" y="2487168"/>
            <a:ext cx="2011680" cy="274320"/>
          </a:xfrm>
          <a:prstGeom prst="rect">
            <a:avLst/>
          </a:prstGeom>
          <a:solidFill>
            <a:srgbClr val="1E1E42"/>
          </a:solidFill>
          <a:ln w="12700">
            <a:solidFill>
              <a:srgbClr val="1E1E42"/>
            </a:solidFill>
            <a:prstDash val="solid"/>
          </a:ln>
        </p:spPr>
      </p:sp>
      <p:sp>
        <p:nvSpPr>
          <p:cNvPr id="27" name="Text 24"/>
          <p:cNvSpPr/>
          <p:nvPr/>
        </p:nvSpPr>
        <p:spPr>
          <a:xfrm>
            <a:off x="6858000" y="2487168"/>
            <a:ext cx="1920240" cy="274320"/>
          </a:xfrm>
          <a:prstGeom prst="rect">
            <a:avLst/>
          </a:prstGeom>
          <a:noFill/>
          <a:ln/>
        </p:spPr>
        <p:txBody>
          <a:bodyPr wrap="square" lIns="0" tIns="0" rIns="0" bIns="0" rtlCol="0" anchor="ctr"/>
          <a:lstStyle/>
          <a:p>
            <a:pPr indent="0" marL="0">
              <a:buNone/>
            </a:pPr>
            <a:r>
              <a:rPr lang="en-US" sz="950" b="1" dirty="0">
                <a:solidFill>
                  <a:srgbClr val="C9A84C"/>
                </a:solidFill>
              </a:rPr>
              <a:t>XMLA Endpoint</a:t>
            </a:r>
            <a:endParaRPr lang="en-US" sz="950" dirty="0"/>
          </a:p>
        </p:txBody>
      </p:sp>
      <p:sp>
        <p:nvSpPr>
          <p:cNvPr id="28" name="Text 25"/>
          <p:cNvSpPr/>
          <p:nvPr/>
        </p:nvSpPr>
        <p:spPr>
          <a:xfrm>
            <a:off x="6903720" y="2807208"/>
            <a:ext cx="1828800" cy="2057400"/>
          </a:xfrm>
          <a:prstGeom prst="rect">
            <a:avLst/>
          </a:prstGeom>
          <a:noFill/>
          <a:ln/>
        </p:spPr>
        <p:txBody>
          <a:bodyPr wrap="square" lIns="0" tIns="0" rIns="0" bIns="0" rtlCol="0" anchor="ctr"/>
          <a:lstStyle/>
          <a:p>
            <a:pPr indent="0" marL="0">
              <a:buNone/>
            </a:pPr>
            <a:r>
              <a:rPr lang="en-US" sz="950" dirty="0">
                <a:solidFill>
                  <a:srgbClr val="1A1A2E"/>
                </a:solidFill>
              </a:rPr>
              <a:t>Premium enables XMLA. Allows external tools (Tabular Editor, ssms, ALM Toolkit) to connect to the semantic model. Essential for enterprise dev.</a:t>
            </a:r>
            <a:endParaRPr lang="en-US" sz="950" dirty="0"/>
          </a:p>
        </p:txBody>
      </p:sp>
      <p:sp>
        <p:nvSpPr>
          <p:cNvPr id="29" name="Shape 26"/>
          <p:cNvSpPr/>
          <p:nvPr/>
        </p:nvSpPr>
        <p:spPr>
          <a:xfrm>
            <a:off x="365760" y="4919472"/>
            <a:ext cx="8412480" cy="164592"/>
          </a:xfrm>
          <a:prstGeom prst="rect">
            <a:avLst/>
          </a:prstGeom>
          <a:solidFill>
            <a:srgbClr val="DBEAFE"/>
          </a:solidFill>
          <a:ln w="6350">
            <a:solidFill>
              <a:srgbClr val="1D4ED8"/>
            </a:solidFill>
            <a:prstDash val="solid"/>
          </a:ln>
        </p:spPr>
      </p:sp>
      <p:sp>
        <p:nvSpPr>
          <p:cNvPr id="30" name="Text 27"/>
          <p:cNvSpPr/>
          <p:nvPr/>
        </p:nvSpPr>
        <p:spPr>
          <a:xfrm>
            <a:off x="457200" y="4919472"/>
            <a:ext cx="8321040" cy="164592"/>
          </a:xfrm>
          <a:prstGeom prst="rect">
            <a:avLst/>
          </a:prstGeom>
          <a:noFill/>
          <a:ln/>
        </p:spPr>
        <p:txBody>
          <a:bodyPr wrap="square" lIns="0" tIns="0" rIns="0" bIns="0" rtlCol="0" anchor="ctr"/>
          <a:lstStyle/>
          <a:p>
            <a:pPr indent="0" marL="0">
              <a:buNone/>
            </a:pPr>
            <a:r>
              <a:rPr lang="en-US" sz="850" dirty="0">
                <a:solidFill>
                  <a:srgbClr val="1D4ED8"/>
                </a:solidFill>
              </a:rPr>
              <a:t>QUOTE READY: "I use the Capacity Metrics App to triage — CPU throttling usually points to DAX inefficiency, while memory pressure points to model size or large dataset evictions."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GCP &amp; BigQuery — Your Crash Course (Bridge the Gap)</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8412480" cy="347472"/>
          </a:xfrm>
          <a:prstGeom prst="rect">
            <a:avLst/>
          </a:prstGeom>
          <a:solidFill>
            <a:srgbClr val="FEF3C7"/>
          </a:solidFill>
          <a:ln w="12700">
            <a:solidFill>
              <a:srgbClr val="B45309"/>
            </a:solidFill>
            <a:prstDash val="solid"/>
          </a:ln>
        </p:spPr>
      </p:sp>
      <p:sp>
        <p:nvSpPr>
          <p:cNvPr id="6" name="Text 4"/>
          <p:cNvSpPr/>
          <p:nvPr/>
        </p:nvSpPr>
        <p:spPr>
          <a:xfrm>
            <a:off x="457200" y="868680"/>
            <a:ext cx="8229600" cy="347472"/>
          </a:xfrm>
          <a:prstGeom prst="rect">
            <a:avLst/>
          </a:prstGeom>
          <a:noFill/>
          <a:ln/>
        </p:spPr>
        <p:txBody>
          <a:bodyPr wrap="square" lIns="0" tIns="0" rIns="0" bIns="0" rtlCol="0" anchor="ctr"/>
          <a:lstStyle/>
          <a:p>
            <a:pPr indent="0" marL="0">
              <a:buNone/>
            </a:pPr>
            <a:r>
              <a:rPr lang="en-US" sz="1050" b="1" dirty="0">
                <a:solidFill>
                  <a:srgbClr val="B45309"/>
                </a:solidFill>
              </a:rPr>
              <a:t>⚠  CRITICAL: L'Oréal runs 100TB+ on BigQuery. You WILL be asked about BQ. Study this slide until confident.</a:t>
            </a:r>
            <a:endParaRPr lang="en-US" sz="1050" dirty="0"/>
          </a:p>
        </p:txBody>
      </p:sp>
      <p:sp>
        <p:nvSpPr>
          <p:cNvPr id="7" name="Shape 5"/>
          <p:cNvSpPr/>
          <p:nvPr/>
        </p:nvSpPr>
        <p:spPr>
          <a:xfrm>
            <a:off x="365760" y="1316736"/>
            <a:ext cx="4160520" cy="265176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8" name="Shape 6"/>
          <p:cNvSpPr/>
          <p:nvPr/>
        </p:nvSpPr>
        <p:spPr>
          <a:xfrm>
            <a:off x="365760" y="1316736"/>
            <a:ext cx="4160520" cy="274320"/>
          </a:xfrm>
          <a:prstGeom prst="rect">
            <a:avLst/>
          </a:prstGeom>
          <a:solidFill>
            <a:srgbClr val="12122A"/>
          </a:solidFill>
          <a:ln w="12700">
            <a:solidFill>
              <a:srgbClr val="12122A"/>
            </a:solidFill>
            <a:prstDash val="solid"/>
          </a:ln>
        </p:spPr>
      </p:sp>
      <p:sp>
        <p:nvSpPr>
          <p:cNvPr id="9" name="Text 7"/>
          <p:cNvSpPr/>
          <p:nvPr/>
        </p:nvSpPr>
        <p:spPr>
          <a:xfrm>
            <a:off x="365760" y="1316736"/>
            <a:ext cx="4160520" cy="274320"/>
          </a:xfrm>
          <a:prstGeom prst="rect">
            <a:avLst/>
          </a:prstGeom>
          <a:noFill/>
          <a:ln/>
        </p:spPr>
        <p:txBody>
          <a:bodyPr wrap="square" lIns="0" tIns="0" rIns="0" bIns="0" rtlCol="0" anchor="ctr"/>
          <a:lstStyle/>
          <a:p>
            <a:pPr algn="ctr" indent="0" marL="0">
              <a:buNone/>
            </a:pPr>
            <a:r>
              <a:rPr lang="en-US" sz="900" b="1" spc="100" kern="0" dirty="0">
                <a:solidFill>
                  <a:srgbClr val="C9A84C"/>
                </a:solidFill>
              </a:rPr>
              <a:t>BIGQUERY FUNDAMENTALS</a:t>
            </a:r>
            <a:endParaRPr lang="en-US" sz="900" dirty="0"/>
          </a:p>
        </p:txBody>
      </p:sp>
      <p:sp>
        <p:nvSpPr>
          <p:cNvPr id="10" name="Text 8"/>
          <p:cNvSpPr/>
          <p:nvPr/>
        </p:nvSpPr>
        <p:spPr>
          <a:xfrm>
            <a:off x="502920" y="1682496"/>
            <a:ext cx="3931920" cy="182880"/>
          </a:xfrm>
          <a:prstGeom prst="rect">
            <a:avLst/>
          </a:prstGeom>
          <a:noFill/>
          <a:ln/>
        </p:spPr>
        <p:txBody>
          <a:bodyPr wrap="square" lIns="0" tIns="0" rIns="0" bIns="0" rtlCol="0" anchor="ctr"/>
          <a:lstStyle/>
          <a:p>
            <a:pPr indent="0" marL="0">
              <a:buNone/>
            </a:pPr>
            <a:r>
              <a:rPr lang="en-US" sz="1000" b="1" dirty="0">
                <a:solidFill>
                  <a:srgbClr val="12122A"/>
                </a:solidFill>
              </a:rPr>
              <a:t>Serverless &amp; columnar: </a:t>
            </a:r>
            <a:endParaRPr lang="en-US" sz="1000" dirty="0"/>
          </a:p>
        </p:txBody>
      </p:sp>
      <p:sp>
        <p:nvSpPr>
          <p:cNvPr id="11" name="Text 9"/>
          <p:cNvSpPr/>
          <p:nvPr/>
        </p:nvSpPr>
        <p:spPr>
          <a:xfrm>
            <a:off x="502920" y="1865376"/>
            <a:ext cx="3931920" cy="246888"/>
          </a:xfrm>
          <a:prstGeom prst="rect">
            <a:avLst/>
          </a:prstGeom>
          <a:noFill/>
          <a:ln/>
        </p:spPr>
        <p:txBody>
          <a:bodyPr wrap="square" lIns="0" tIns="0" rIns="0" bIns="0" rtlCol="0" anchor="ctr"/>
          <a:lstStyle/>
          <a:p>
            <a:pPr indent="0" marL="0">
              <a:buNone/>
            </a:pPr>
            <a:r>
              <a:rPr lang="en-US" sz="900" dirty="0">
                <a:solidFill>
                  <a:srgbClr val="6B7280"/>
                </a:solidFill>
              </a:rPr>
              <a:t>No indexes, no servers to manage. Scans columns, not rows. Cost = data scanned ($5/TB).</a:t>
            </a:r>
            <a:endParaRPr lang="en-US" sz="900" dirty="0"/>
          </a:p>
        </p:txBody>
      </p:sp>
      <p:sp>
        <p:nvSpPr>
          <p:cNvPr id="12" name="Text 10"/>
          <p:cNvSpPr/>
          <p:nvPr/>
        </p:nvSpPr>
        <p:spPr>
          <a:xfrm>
            <a:off x="502920" y="2130552"/>
            <a:ext cx="3931920" cy="182880"/>
          </a:xfrm>
          <a:prstGeom prst="rect">
            <a:avLst/>
          </a:prstGeom>
          <a:noFill/>
          <a:ln/>
        </p:spPr>
        <p:txBody>
          <a:bodyPr wrap="square" lIns="0" tIns="0" rIns="0" bIns="0" rtlCol="0" anchor="ctr"/>
          <a:lstStyle/>
          <a:p>
            <a:pPr indent="0" marL="0">
              <a:buNone/>
            </a:pPr>
            <a:r>
              <a:rPr lang="en-US" sz="1000" b="1" dirty="0">
                <a:solidFill>
                  <a:srgbClr val="12122A"/>
                </a:solidFill>
              </a:rPr>
              <a:t>Hierarchy: </a:t>
            </a:r>
            <a:endParaRPr lang="en-US" sz="1000" dirty="0"/>
          </a:p>
        </p:txBody>
      </p:sp>
      <p:sp>
        <p:nvSpPr>
          <p:cNvPr id="13" name="Text 11"/>
          <p:cNvSpPr/>
          <p:nvPr/>
        </p:nvSpPr>
        <p:spPr>
          <a:xfrm>
            <a:off x="502920" y="2313432"/>
            <a:ext cx="3931920" cy="246888"/>
          </a:xfrm>
          <a:prstGeom prst="rect">
            <a:avLst/>
          </a:prstGeom>
          <a:noFill/>
          <a:ln/>
        </p:spPr>
        <p:txBody>
          <a:bodyPr wrap="square" lIns="0" tIns="0" rIns="0" bIns="0" rtlCol="0" anchor="ctr"/>
          <a:lstStyle/>
          <a:p>
            <a:pPr indent="0" marL="0">
              <a:buNone/>
            </a:pPr>
            <a:r>
              <a:rPr lang="en-US" sz="900" dirty="0">
                <a:solidFill>
                  <a:srgbClr val="6B7280"/>
                </a:solidFill>
              </a:rPr>
              <a:t>Project → Dataset → Table. Know this cold.</a:t>
            </a:r>
            <a:endParaRPr lang="en-US" sz="900" dirty="0"/>
          </a:p>
        </p:txBody>
      </p:sp>
      <p:sp>
        <p:nvSpPr>
          <p:cNvPr id="14" name="Text 12"/>
          <p:cNvSpPr/>
          <p:nvPr/>
        </p:nvSpPr>
        <p:spPr>
          <a:xfrm>
            <a:off x="502920" y="2578608"/>
            <a:ext cx="3931920" cy="182880"/>
          </a:xfrm>
          <a:prstGeom prst="rect">
            <a:avLst/>
          </a:prstGeom>
          <a:noFill/>
          <a:ln/>
        </p:spPr>
        <p:txBody>
          <a:bodyPr wrap="square" lIns="0" tIns="0" rIns="0" bIns="0" rtlCol="0" anchor="ctr"/>
          <a:lstStyle/>
          <a:p>
            <a:pPr indent="0" marL="0">
              <a:buNone/>
            </a:pPr>
            <a:r>
              <a:rPr lang="en-US" sz="1000" b="1" dirty="0">
                <a:solidFill>
                  <a:srgbClr val="12122A"/>
                </a:solidFill>
              </a:rPr>
              <a:t>Partitioning: </a:t>
            </a:r>
            <a:endParaRPr lang="en-US" sz="1000" dirty="0"/>
          </a:p>
        </p:txBody>
      </p:sp>
      <p:sp>
        <p:nvSpPr>
          <p:cNvPr id="15" name="Text 13"/>
          <p:cNvSpPr/>
          <p:nvPr/>
        </p:nvSpPr>
        <p:spPr>
          <a:xfrm>
            <a:off x="502920" y="2761488"/>
            <a:ext cx="3931920" cy="246888"/>
          </a:xfrm>
          <a:prstGeom prst="rect">
            <a:avLst/>
          </a:prstGeom>
          <a:noFill/>
          <a:ln/>
        </p:spPr>
        <p:txBody>
          <a:bodyPr wrap="square" lIns="0" tIns="0" rIns="0" bIns="0" rtlCol="0" anchor="ctr"/>
          <a:lstStyle/>
          <a:p>
            <a:pPr indent="0" marL="0">
              <a:buNone/>
            </a:pPr>
            <a:r>
              <a:rPr lang="en-US" sz="900" dirty="0">
                <a:solidFill>
                  <a:srgbClr val="6B7280"/>
                </a:solidFill>
              </a:rPr>
              <a:t>Partition by date/datetime column. Queries with WHERE date = "..." only scan that partition. Massive cost &amp; speed win.</a:t>
            </a:r>
            <a:endParaRPr lang="en-US" sz="900" dirty="0"/>
          </a:p>
        </p:txBody>
      </p:sp>
      <p:sp>
        <p:nvSpPr>
          <p:cNvPr id="16" name="Text 14"/>
          <p:cNvSpPr/>
          <p:nvPr/>
        </p:nvSpPr>
        <p:spPr>
          <a:xfrm>
            <a:off x="502920" y="3026664"/>
            <a:ext cx="3931920" cy="182880"/>
          </a:xfrm>
          <a:prstGeom prst="rect">
            <a:avLst/>
          </a:prstGeom>
          <a:noFill/>
          <a:ln/>
        </p:spPr>
        <p:txBody>
          <a:bodyPr wrap="square" lIns="0" tIns="0" rIns="0" bIns="0" rtlCol="0" anchor="ctr"/>
          <a:lstStyle/>
          <a:p>
            <a:pPr indent="0" marL="0">
              <a:buNone/>
            </a:pPr>
            <a:r>
              <a:rPr lang="en-US" sz="1000" b="1" dirty="0">
                <a:solidFill>
                  <a:srgbClr val="12122A"/>
                </a:solidFill>
              </a:rPr>
              <a:t>Clustering: </a:t>
            </a:r>
            <a:endParaRPr lang="en-US" sz="1000" dirty="0"/>
          </a:p>
        </p:txBody>
      </p:sp>
      <p:sp>
        <p:nvSpPr>
          <p:cNvPr id="17" name="Text 15"/>
          <p:cNvSpPr/>
          <p:nvPr/>
        </p:nvSpPr>
        <p:spPr>
          <a:xfrm>
            <a:off x="502920" y="3209544"/>
            <a:ext cx="3931920" cy="246888"/>
          </a:xfrm>
          <a:prstGeom prst="rect">
            <a:avLst/>
          </a:prstGeom>
          <a:noFill/>
          <a:ln/>
        </p:spPr>
        <p:txBody>
          <a:bodyPr wrap="square" lIns="0" tIns="0" rIns="0" bIns="0" rtlCol="0" anchor="ctr"/>
          <a:lstStyle/>
          <a:p>
            <a:pPr indent="0" marL="0">
              <a:buNone/>
            </a:pPr>
            <a:r>
              <a:rPr lang="en-US" sz="900" dirty="0">
                <a:solidFill>
                  <a:srgbClr val="6B7280"/>
                </a:solidFill>
              </a:rPr>
              <a:t>Sort rows by column(s) within each partition. BQ skips irrelevant clusters automatically.</a:t>
            </a:r>
            <a:endParaRPr lang="en-US" sz="900" dirty="0"/>
          </a:p>
        </p:txBody>
      </p:sp>
      <p:sp>
        <p:nvSpPr>
          <p:cNvPr id="18" name="Text 16"/>
          <p:cNvSpPr/>
          <p:nvPr/>
        </p:nvSpPr>
        <p:spPr>
          <a:xfrm>
            <a:off x="502920" y="3474720"/>
            <a:ext cx="3931920" cy="182880"/>
          </a:xfrm>
          <a:prstGeom prst="rect">
            <a:avLst/>
          </a:prstGeom>
          <a:noFill/>
          <a:ln/>
        </p:spPr>
        <p:txBody>
          <a:bodyPr wrap="square" lIns="0" tIns="0" rIns="0" bIns="0" rtlCol="0" anchor="ctr"/>
          <a:lstStyle/>
          <a:p>
            <a:pPr indent="0" marL="0">
              <a:buNone/>
            </a:pPr>
            <a:r>
              <a:rPr lang="en-US" sz="1000" b="1" dirty="0">
                <a:solidFill>
                  <a:srgbClr val="12122A"/>
                </a:solidFill>
              </a:rPr>
              <a:t>Standard SQL: </a:t>
            </a:r>
            <a:endParaRPr lang="en-US" sz="1000" dirty="0"/>
          </a:p>
        </p:txBody>
      </p:sp>
      <p:sp>
        <p:nvSpPr>
          <p:cNvPr id="19" name="Text 17"/>
          <p:cNvSpPr/>
          <p:nvPr/>
        </p:nvSpPr>
        <p:spPr>
          <a:xfrm>
            <a:off x="502920" y="3657600"/>
            <a:ext cx="3931920" cy="246888"/>
          </a:xfrm>
          <a:prstGeom prst="rect">
            <a:avLst/>
          </a:prstGeom>
          <a:noFill/>
          <a:ln/>
        </p:spPr>
        <p:txBody>
          <a:bodyPr wrap="square" lIns="0" tIns="0" rIns="0" bIns="0" rtlCol="0" anchor="ctr"/>
          <a:lstStyle/>
          <a:p>
            <a:pPr indent="0" marL="0">
              <a:buNone/>
            </a:pPr>
            <a:r>
              <a:rPr lang="en-US" sz="900" dirty="0">
                <a:solidFill>
                  <a:srgbClr val="6B7280"/>
                </a:solidFill>
              </a:rPr>
              <a:t>L'Oréal uses Standard SQL (not Legacy). Nearly identical to PostgreSQL syntax.</a:t>
            </a:r>
            <a:endParaRPr lang="en-US" sz="900" dirty="0"/>
          </a:p>
        </p:txBody>
      </p:sp>
      <p:sp>
        <p:nvSpPr>
          <p:cNvPr id="20" name="Shape 18"/>
          <p:cNvSpPr/>
          <p:nvPr/>
        </p:nvSpPr>
        <p:spPr>
          <a:xfrm>
            <a:off x="4754880" y="1316736"/>
            <a:ext cx="4023360" cy="2651760"/>
          </a:xfrm>
          <a:prstGeom prst="rect">
            <a:avLst/>
          </a:prstGeom>
          <a:solidFill>
            <a:srgbClr val="FEF5E7"/>
          </a:solidFill>
          <a:ln w="9525">
            <a:solidFill>
              <a:srgbClr val="C9A84C"/>
            </a:solidFill>
            <a:prstDash val="solid"/>
          </a:ln>
          <a:effectLst>
            <a:outerShdw sx="100000" sy="100000" kx="0" ky="0" algn="bl" rotWithShape="0" blurRad="50800" dist="12700" dir="8100000">
              <a:srgbClr val="000000">
                <a:alpha val="7000"/>
              </a:srgbClr>
            </a:outerShdw>
          </a:effectLst>
        </p:spPr>
      </p:sp>
      <p:sp>
        <p:nvSpPr>
          <p:cNvPr id="21" name="Shape 19"/>
          <p:cNvSpPr/>
          <p:nvPr/>
        </p:nvSpPr>
        <p:spPr>
          <a:xfrm>
            <a:off x="4754880" y="1316736"/>
            <a:ext cx="4023360" cy="274320"/>
          </a:xfrm>
          <a:prstGeom prst="rect">
            <a:avLst/>
          </a:prstGeom>
          <a:solidFill>
            <a:srgbClr val="C9A84C"/>
          </a:solidFill>
          <a:ln w="12700">
            <a:solidFill>
              <a:srgbClr val="C9A84C"/>
            </a:solidFill>
            <a:prstDash val="solid"/>
          </a:ln>
        </p:spPr>
      </p:sp>
      <p:sp>
        <p:nvSpPr>
          <p:cNvPr id="22" name="Text 20"/>
          <p:cNvSpPr/>
          <p:nvPr/>
        </p:nvSpPr>
        <p:spPr>
          <a:xfrm>
            <a:off x="4754880" y="1316736"/>
            <a:ext cx="4023360" cy="274320"/>
          </a:xfrm>
          <a:prstGeom prst="rect">
            <a:avLst/>
          </a:prstGeom>
          <a:noFill/>
          <a:ln/>
        </p:spPr>
        <p:txBody>
          <a:bodyPr wrap="square" lIns="0" tIns="0" rIns="0" bIns="0" rtlCol="0" anchor="ctr"/>
          <a:lstStyle/>
          <a:p>
            <a:pPr algn="ctr" indent="0" marL="0">
              <a:buNone/>
            </a:pPr>
            <a:r>
              <a:rPr lang="en-US" sz="900" b="1" spc="100" kern="0" dirty="0">
                <a:solidFill>
                  <a:srgbClr val="12122A"/>
                </a:solidFill>
              </a:rPr>
              <a:t>POWER BI ↔ BIGQUERY</a:t>
            </a:r>
            <a:endParaRPr lang="en-US" sz="900" dirty="0"/>
          </a:p>
        </p:txBody>
      </p:sp>
      <p:sp>
        <p:nvSpPr>
          <p:cNvPr id="23" name="Text 21"/>
          <p:cNvSpPr/>
          <p:nvPr/>
        </p:nvSpPr>
        <p:spPr>
          <a:xfrm>
            <a:off x="4892040" y="1682496"/>
            <a:ext cx="3840480" cy="182880"/>
          </a:xfrm>
          <a:prstGeom prst="rect">
            <a:avLst/>
          </a:prstGeom>
          <a:noFill/>
          <a:ln/>
        </p:spPr>
        <p:txBody>
          <a:bodyPr wrap="square" lIns="0" tIns="0" rIns="0" bIns="0" rtlCol="0" anchor="ctr"/>
          <a:lstStyle/>
          <a:p>
            <a:pPr indent="0" marL="0">
              <a:buNone/>
            </a:pPr>
            <a:r>
              <a:rPr lang="en-US" sz="1000" b="1" dirty="0">
                <a:solidFill>
                  <a:srgbClr val="12122A"/>
                </a:solidFill>
              </a:rPr>
              <a:t>Native BigQuery Connector: </a:t>
            </a:r>
            <a:endParaRPr lang="en-US" sz="1000" dirty="0"/>
          </a:p>
        </p:txBody>
      </p:sp>
      <p:sp>
        <p:nvSpPr>
          <p:cNvPr id="24" name="Text 22"/>
          <p:cNvSpPr/>
          <p:nvPr/>
        </p:nvSpPr>
        <p:spPr>
          <a:xfrm>
            <a:off x="4892040" y="1865376"/>
            <a:ext cx="3840480" cy="246888"/>
          </a:xfrm>
          <a:prstGeom prst="rect">
            <a:avLst/>
          </a:prstGeom>
          <a:noFill/>
          <a:ln/>
        </p:spPr>
        <p:txBody>
          <a:bodyPr wrap="square" lIns="0" tIns="0" rIns="0" bIns="0" rtlCol="0" anchor="ctr"/>
          <a:lstStyle/>
          <a:p>
            <a:pPr indent="0" marL="0">
              <a:buNone/>
            </a:pPr>
            <a:r>
              <a:rPr lang="en-US" sz="900" dirty="0">
                <a:solidFill>
                  <a:srgbClr val="6B7280"/>
                </a:solidFill>
              </a:rPr>
              <a:t>Use "Google BigQuery" connector in Power BI. Supports both Import and DirectQuery modes.</a:t>
            </a:r>
            <a:endParaRPr lang="en-US" sz="900" dirty="0"/>
          </a:p>
        </p:txBody>
      </p:sp>
      <p:sp>
        <p:nvSpPr>
          <p:cNvPr id="25" name="Text 23"/>
          <p:cNvSpPr/>
          <p:nvPr/>
        </p:nvSpPr>
        <p:spPr>
          <a:xfrm>
            <a:off x="4892040" y="2130552"/>
            <a:ext cx="3840480" cy="182880"/>
          </a:xfrm>
          <a:prstGeom prst="rect">
            <a:avLst/>
          </a:prstGeom>
          <a:noFill/>
          <a:ln/>
        </p:spPr>
        <p:txBody>
          <a:bodyPr wrap="square" lIns="0" tIns="0" rIns="0" bIns="0" rtlCol="0" anchor="ctr"/>
          <a:lstStyle/>
          <a:p>
            <a:pPr indent="0" marL="0">
              <a:buNone/>
            </a:pPr>
            <a:r>
              <a:rPr lang="en-US" sz="1000" b="1" dirty="0">
                <a:solidFill>
                  <a:srgbClr val="12122A"/>
                </a:solidFill>
              </a:rPr>
              <a:t>DirectQuery on BQ: </a:t>
            </a:r>
            <a:endParaRPr lang="en-US" sz="1000" dirty="0"/>
          </a:p>
        </p:txBody>
      </p:sp>
      <p:sp>
        <p:nvSpPr>
          <p:cNvPr id="26" name="Text 24"/>
          <p:cNvSpPr/>
          <p:nvPr/>
        </p:nvSpPr>
        <p:spPr>
          <a:xfrm>
            <a:off x="4892040" y="2313432"/>
            <a:ext cx="3840480" cy="246888"/>
          </a:xfrm>
          <a:prstGeom prst="rect">
            <a:avLst/>
          </a:prstGeom>
          <a:noFill/>
          <a:ln/>
        </p:spPr>
        <p:txBody>
          <a:bodyPr wrap="square" lIns="0" tIns="0" rIns="0" bIns="0" rtlCol="0" anchor="ctr"/>
          <a:lstStyle/>
          <a:p>
            <a:pPr indent="0" marL="0">
              <a:buNone/>
            </a:pPr>
            <a:r>
              <a:rPr lang="en-US" sz="900" dirty="0">
                <a:solidFill>
                  <a:srgbClr val="6B7280"/>
                </a:solidFill>
              </a:rPr>
              <a:t>Best for L'Oréal's real-time needs. Ensure BQ tables are partitioned + clustered on filter columns — otherwise every visual fires a full-table scan.</a:t>
            </a:r>
            <a:endParaRPr lang="en-US" sz="900" dirty="0"/>
          </a:p>
        </p:txBody>
      </p:sp>
      <p:sp>
        <p:nvSpPr>
          <p:cNvPr id="27" name="Text 25"/>
          <p:cNvSpPr/>
          <p:nvPr/>
        </p:nvSpPr>
        <p:spPr>
          <a:xfrm>
            <a:off x="4892040" y="2578608"/>
            <a:ext cx="3840480" cy="182880"/>
          </a:xfrm>
          <a:prstGeom prst="rect">
            <a:avLst/>
          </a:prstGeom>
          <a:noFill/>
          <a:ln/>
        </p:spPr>
        <p:txBody>
          <a:bodyPr wrap="square" lIns="0" tIns="0" rIns="0" bIns="0" rtlCol="0" anchor="ctr"/>
          <a:lstStyle/>
          <a:p>
            <a:pPr indent="0" marL="0">
              <a:buNone/>
            </a:pPr>
            <a:r>
              <a:rPr lang="en-US" sz="1000" b="1" dirty="0">
                <a:solidFill>
                  <a:srgbClr val="12122A"/>
                </a:solidFill>
              </a:rPr>
              <a:t>Import via Scheduled Refresh: </a:t>
            </a:r>
            <a:endParaRPr lang="en-US" sz="1000" dirty="0"/>
          </a:p>
        </p:txBody>
      </p:sp>
      <p:sp>
        <p:nvSpPr>
          <p:cNvPr id="28" name="Text 26"/>
          <p:cNvSpPr/>
          <p:nvPr/>
        </p:nvSpPr>
        <p:spPr>
          <a:xfrm>
            <a:off x="4892040" y="2761488"/>
            <a:ext cx="3840480" cy="246888"/>
          </a:xfrm>
          <a:prstGeom prst="rect">
            <a:avLst/>
          </a:prstGeom>
          <a:noFill/>
          <a:ln/>
        </p:spPr>
        <p:txBody>
          <a:bodyPr wrap="square" lIns="0" tIns="0" rIns="0" bIns="0" rtlCol="0" anchor="ctr"/>
          <a:lstStyle/>
          <a:p>
            <a:pPr indent="0" marL="0">
              <a:buNone/>
            </a:pPr>
            <a:r>
              <a:rPr lang="en-US" sz="900" dirty="0">
                <a:solidFill>
                  <a:srgbClr val="6B7280"/>
                </a:solidFill>
              </a:rPr>
              <a:t>Pull pre-aggregated tables from BQ into Power BI on a schedule. Fastest query performance, but not real-time.</a:t>
            </a:r>
            <a:endParaRPr lang="en-US" sz="900" dirty="0"/>
          </a:p>
        </p:txBody>
      </p:sp>
      <p:sp>
        <p:nvSpPr>
          <p:cNvPr id="29" name="Text 27"/>
          <p:cNvSpPr/>
          <p:nvPr/>
        </p:nvSpPr>
        <p:spPr>
          <a:xfrm>
            <a:off x="4892040" y="3026664"/>
            <a:ext cx="3840480" cy="182880"/>
          </a:xfrm>
          <a:prstGeom prst="rect">
            <a:avLst/>
          </a:prstGeom>
          <a:noFill/>
          <a:ln/>
        </p:spPr>
        <p:txBody>
          <a:bodyPr wrap="square" lIns="0" tIns="0" rIns="0" bIns="0" rtlCol="0" anchor="ctr"/>
          <a:lstStyle/>
          <a:p>
            <a:pPr indent="0" marL="0">
              <a:buNone/>
            </a:pPr>
            <a:r>
              <a:rPr lang="en-US" sz="1000" b="1" dirty="0">
                <a:solidFill>
                  <a:srgbClr val="12122A"/>
                </a:solidFill>
              </a:rPr>
              <a:t>Composite (recommended): </a:t>
            </a:r>
            <a:endParaRPr lang="en-US" sz="1000" dirty="0"/>
          </a:p>
        </p:txBody>
      </p:sp>
      <p:sp>
        <p:nvSpPr>
          <p:cNvPr id="30" name="Text 28"/>
          <p:cNvSpPr/>
          <p:nvPr/>
        </p:nvSpPr>
        <p:spPr>
          <a:xfrm>
            <a:off x="4892040" y="3209544"/>
            <a:ext cx="3840480" cy="246888"/>
          </a:xfrm>
          <a:prstGeom prst="rect">
            <a:avLst/>
          </a:prstGeom>
          <a:noFill/>
          <a:ln/>
        </p:spPr>
        <p:txBody>
          <a:bodyPr wrap="square" lIns="0" tIns="0" rIns="0" bIns="0" rtlCol="0" anchor="ctr"/>
          <a:lstStyle/>
          <a:p>
            <a:pPr indent="0" marL="0">
              <a:buNone/>
            </a:pPr>
            <a:r>
              <a:rPr lang="en-US" sz="900" dirty="0">
                <a:solidFill>
                  <a:srgbClr val="6B7280"/>
                </a:solidFill>
              </a:rPr>
              <a:t>Import summary aggregation tables from BQ + DQ for row-level detail. Best of both worlds.</a:t>
            </a:r>
            <a:endParaRPr lang="en-US" sz="900" dirty="0"/>
          </a:p>
        </p:txBody>
      </p:sp>
      <p:sp>
        <p:nvSpPr>
          <p:cNvPr id="31" name="Text 29"/>
          <p:cNvSpPr/>
          <p:nvPr/>
        </p:nvSpPr>
        <p:spPr>
          <a:xfrm>
            <a:off x="4892040" y="3474720"/>
            <a:ext cx="3840480" cy="182880"/>
          </a:xfrm>
          <a:prstGeom prst="rect">
            <a:avLst/>
          </a:prstGeom>
          <a:noFill/>
          <a:ln/>
        </p:spPr>
        <p:txBody>
          <a:bodyPr wrap="square" lIns="0" tIns="0" rIns="0" bIns="0" rtlCol="0" anchor="ctr"/>
          <a:lstStyle/>
          <a:p>
            <a:pPr indent="0" marL="0">
              <a:buNone/>
            </a:pPr>
            <a:r>
              <a:rPr lang="en-US" sz="1000" b="1" dirty="0">
                <a:solidFill>
                  <a:srgbClr val="12122A"/>
                </a:solidFill>
              </a:rPr>
              <a:t>BQ Views &amp; Materialized Views: </a:t>
            </a:r>
            <a:endParaRPr lang="en-US" sz="1000" dirty="0"/>
          </a:p>
        </p:txBody>
      </p:sp>
      <p:sp>
        <p:nvSpPr>
          <p:cNvPr id="32" name="Text 30"/>
          <p:cNvSpPr/>
          <p:nvPr/>
        </p:nvSpPr>
        <p:spPr>
          <a:xfrm>
            <a:off x="4892040" y="3657600"/>
            <a:ext cx="3840480" cy="246888"/>
          </a:xfrm>
          <a:prstGeom prst="rect">
            <a:avLst/>
          </a:prstGeom>
          <a:noFill/>
          <a:ln/>
        </p:spPr>
        <p:txBody>
          <a:bodyPr wrap="square" lIns="0" tIns="0" rIns="0" bIns="0" rtlCol="0" anchor="ctr"/>
          <a:lstStyle/>
          <a:p>
            <a:pPr indent="0" marL="0">
              <a:buNone/>
            </a:pPr>
            <a:r>
              <a:rPr lang="en-US" sz="900" dirty="0">
                <a:solidFill>
                  <a:srgbClr val="6B7280"/>
                </a:solidFill>
              </a:rPr>
              <a:t>Power BI can query BQ views. Materialized views pre-cache results — use them to speed up DQ reports.</a:t>
            </a:r>
            <a:endParaRPr lang="en-US" sz="900" dirty="0"/>
          </a:p>
        </p:txBody>
      </p:sp>
      <p:sp>
        <p:nvSpPr>
          <p:cNvPr id="33" name="Shape 31"/>
          <p:cNvSpPr/>
          <p:nvPr/>
        </p:nvSpPr>
        <p:spPr>
          <a:xfrm>
            <a:off x="365760" y="4059936"/>
            <a:ext cx="8412480" cy="1005840"/>
          </a:xfrm>
          <a:prstGeom prst="rect">
            <a:avLst/>
          </a:prstGeom>
          <a:solidFill>
            <a:srgbClr val="1E1E3F"/>
          </a:solidFill>
          <a:ln w="9525">
            <a:solidFill>
              <a:srgbClr val="4A4A7A"/>
            </a:solidFill>
            <a:prstDash val="solid"/>
          </a:ln>
        </p:spPr>
      </p:sp>
      <p:sp>
        <p:nvSpPr>
          <p:cNvPr id="34" name="Shape 32"/>
          <p:cNvSpPr/>
          <p:nvPr/>
        </p:nvSpPr>
        <p:spPr>
          <a:xfrm>
            <a:off x="365760" y="4059936"/>
            <a:ext cx="822960" cy="201168"/>
          </a:xfrm>
          <a:prstGeom prst="rect">
            <a:avLst/>
          </a:prstGeom>
          <a:solidFill>
            <a:srgbClr val="C9A84C"/>
          </a:solidFill>
          <a:ln w="12700">
            <a:solidFill>
              <a:srgbClr val="C9A84C"/>
            </a:solidFill>
            <a:prstDash val="solid"/>
          </a:ln>
        </p:spPr>
      </p:sp>
      <p:sp>
        <p:nvSpPr>
          <p:cNvPr id="35" name="Text 33"/>
          <p:cNvSpPr/>
          <p:nvPr/>
        </p:nvSpPr>
        <p:spPr>
          <a:xfrm>
            <a:off x="384048" y="4078224"/>
            <a:ext cx="786384" cy="164592"/>
          </a:xfrm>
          <a:prstGeom prst="rect">
            <a:avLst/>
          </a:prstGeom>
          <a:noFill/>
          <a:ln/>
        </p:spPr>
        <p:txBody>
          <a:bodyPr wrap="square" lIns="0" tIns="0" rIns="0" bIns="0" rtlCol="0" anchor="ctr"/>
          <a:lstStyle/>
          <a:p>
            <a:pPr algn="ctr" indent="0" marL="0">
              <a:buNone/>
            </a:pPr>
            <a:r>
              <a:rPr lang="en-US" sz="800" b="1" dirty="0">
                <a:solidFill>
                  <a:srgbClr val="12122A"/>
                </a:solidFill>
              </a:rPr>
              <a:t>BigQuery SQL</a:t>
            </a:r>
            <a:endParaRPr lang="en-US" sz="800" dirty="0"/>
          </a:p>
        </p:txBody>
      </p:sp>
      <p:sp>
        <p:nvSpPr>
          <p:cNvPr id="36" name="Text 34"/>
          <p:cNvSpPr/>
          <p:nvPr/>
        </p:nvSpPr>
        <p:spPr>
          <a:xfrm>
            <a:off x="475488" y="4297680"/>
            <a:ext cx="8193024" cy="676656"/>
          </a:xfrm>
          <a:prstGeom prst="rect">
            <a:avLst/>
          </a:prstGeom>
          <a:noFill/>
          <a:ln/>
        </p:spPr>
        <p:txBody>
          <a:bodyPr wrap="square" lIns="0" tIns="0" rIns="0" bIns="0" rtlCol="0" anchor="t"/>
          <a:lstStyle/>
          <a:p>
            <a:pPr indent="0" marL="0">
              <a:buNone/>
            </a:pPr>
            <a:r>
              <a:rPr lang="en-US" sz="950" dirty="0">
                <a:solidFill>
                  <a:srgbClr val="A8D8A8"/>
                </a:solidFill>
                <a:latin typeface="Consolas" pitchFamily="34" charset="0"/>
                <a:ea typeface="Consolas" pitchFamily="34" charset="-122"/>
                <a:cs typeface="Consolas" pitchFamily="34" charset="-120"/>
              </a:rPr>
              <a:t>-- ✅ BigQuery Best Practice: always filter on partitioned column, SELECT specific cols (not *)</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SELECT product_id, region, SUM(sales_amount) AS total_sales</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FROM `loreal_latam.sales.transactions`</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WHERE DATE(transaction_date) BETWEEN '2025-01-01' AND '2025-12-31'  -- uses partition pruning</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  AND region = 'LATAM'  -- uses clustering skip</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GROUP BY product_id, region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SQL Optimization — What They'll Test You On</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4069080" cy="114300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6" name="Shape 4"/>
          <p:cNvSpPr/>
          <p:nvPr/>
        </p:nvSpPr>
        <p:spPr>
          <a:xfrm>
            <a:off x="365760" y="868680"/>
            <a:ext cx="4069080" cy="274320"/>
          </a:xfrm>
          <a:prstGeom prst="rect">
            <a:avLst/>
          </a:prstGeom>
          <a:solidFill>
            <a:srgbClr val="12122A"/>
          </a:solidFill>
          <a:ln w="12700">
            <a:solidFill>
              <a:srgbClr val="12122A"/>
            </a:solidFill>
            <a:prstDash val="solid"/>
          </a:ln>
        </p:spPr>
      </p:sp>
      <p:sp>
        <p:nvSpPr>
          <p:cNvPr id="7" name="Text 5"/>
          <p:cNvSpPr/>
          <p:nvPr/>
        </p:nvSpPr>
        <p:spPr>
          <a:xfrm>
            <a:off x="457200" y="868680"/>
            <a:ext cx="3886200" cy="274320"/>
          </a:xfrm>
          <a:prstGeom prst="rect">
            <a:avLst/>
          </a:prstGeom>
          <a:noFill/>
          <a:ln/>
        </p:spPr>
        <p:txBody>
          <a:bodyPr wrap="square" lIns="0" tIns="0" rIns="0" bIns="0" rtlCol="0" anchor="ctr"/>
          <a:lstStyle/>
          <a:p>
            <a:pPr indent="0" marL="0">
              <a:buNone/>
            </a:pPr>
            <a:r>
              <a:rPr lang="en-US" sz="1000" b="1" dirty="0">
                <a:solidFill>
                  <a:srgbClr val="C9A84C"/>
                </a:solidFill>
              </a:rPr>
              <a:t>Window Functions</a:t>
            </a:r>
            <a:endParaRPr lang="en-US" sz="1000" dirty="0"/>
          </a:p>
        </p:txBody>
      </p:sp>
      <p:sp>
        <p:nvSpPr>
          <p:cNvPr id="8" name="Text 6"/>
          <p:cNvSpPr/>
          <p:nvPr/>
        </p:nvSpPr>
        <p:spPr>
          <a:xfrm>
            <a:off x="457200" y="1188720"/>
            <a:ext cx="3886200" cy="777240"/>
          </a:xfrm>
          <a:prstGeom prst="rect">
            <a:avLst/>
          </a:prstGeom>
          <a:noFill/>
          <a:ln/>
        </p:spPr>
        <p:txBody>
          <a:bodyPr wrap="square" lIns="0" tIns="0" rIns="0" bIns="0" rtlCol="0" anchor="ctr"/>
          <a:lstStyle/>
          <a:p>
            <a:pPr indent="0" marL="0">
              <a:buNone/>
            </a:pPr>
            <a:r>
              <a:rPr lang="en-US" sz="950" dirty="0">
                <a:solidFill>
                  <a:srgbClr val="1A1A2E"/>
                </a:solidFill>
              </a:rPr>
              <a:t>ROW_NUMBER(), RANK(), DENSE_RANK(), LAG(), LEAD(), SUM() OVER(). Used for running totals, rankings, period comparisons — key for BI queries.</a:t>
            </a:r>
            <a:endParaRPr lang="en-US" sz="950" dirty="0"/>
          </a:p>
        </p:txBody>
      </p:sp>
      <p:sp>
        <p:nvSpPr>
          <p:cNvPr id="9" name="Shape 7"/>
          <p:cNvSpPr/>
          <p:nvPr/>
        </p:nvSpPr>
        <p:spPr>
          <a:xfrm>
            <a:off x="4617720" y="868680"/>
            <a:ext cx="4069080" cy="114300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0" name="Shape 8"/>
          <p:cNvSpPr/>
          <p:nvPr/>
        </p:nvSpPr>
        <p:spPr>
          <a:xfrm>
            <a:off x="4617720" y="868680"/>
            <a:ext cx="4069080" cy="274320"/>
          </a:xfrm>
          <a:prstGeom prst="rect">
            <a:avLst/>
          </a:prstGeom>
          <a:solidFill>
            <a:srgbClr val="12122A"/>
          </a:solidFill>
          <a:ln w="12700">
            <a:solidFill>
              <a:srgbClr val="12122A"/>
            </a:solidFill>
            <a:prstDash val="solid"/>
          </a:ln>
        </p:spPr>
      </p:sp>
      <p:sp>
        <p:nvSpPr>
          <p:cNvPr id="11" name="Text 9"/>
          <p:cNvSpPr/>
          <p:nvPr/>
        </p:nvSpPr>
        <p:spPr>
          <a:xfrm>
            <a:off x="4709160" y="868680"/>
            <a:ext cx="3886200" cy="274320"/>
          </a:xfrm>
          <a:prstGeom prst="rect">
            <a:avLst/>
          </a:prstGeom>
          <a:noFill/>
          <a:ln/>
        </p:spPr>
        <p:txBody>
          <a:bodyPr wrap="square" lIns="0" tIns="0" rIns="0" bIns="0" rtlCol="0" anchor="ctr"/>
          <a:lstStyle/>
          <a:p>
            <a:pPr indent="0" marL="0">
              <a:buNone/>
            </a:pPr>
            <a:r>
              <a:rPr lang="en-US" sz="1000" b="1" dirty="0">
                <a:solidFill>
                  <a:srgbClr val="C9A84C"/>
                </a:solidFill>
              </a:rPr>
              <a:t>CTEs vs. Subqueries</a:t>
            </a:r>
            <a:endParaRPr lang="en-US" sz="1000" dirty="0"/>
          </a:p>
        </p:txBody>
      </p:sp>
      <p:sp>
        <p:nvSpPr>
          <p:cNvPr id="12" name="Text 10"/>
          <p:cNvSpPr/>
          <p:nvPr/>
        </p:nvSpPr>
        <p:spPr>
          <a:xfrm>
            <a:off x="4709160" y="1188720"/>
            <a:ext cx="3886200" cy="777240"/>
          </a:xfrm>
          <a:prstGeom prst="rect">
            <a:avLst/>
          </a:prstGeom>
          <a:noFill/>
          <a:ln/>
        </p:spPr>
        <p:txBody>
          <a:bodyPr wrap="square" lIns="0" tIns="0" rIns="0" bIns="0" rtlCol="0" anchor="ctr"/>
          <a:lstStyle/>
          <a:p>
            <a:pPr indent="0" marL="0">
              <a:buNone/>
            </a:pPr>
            <a:r>
              <a:rPr lang="en-US" sz="950" dirty="0">
                <a:solidFill>
                  <a:srgbClr val="1A1A2E"/>
                </a:solidFill>
              </a:rPr>
              <a:t>CTEs (WITH clause) improve readability and are often optimized identically. Prefer CTEs for complex multi-step logic. Subqueries harder to debug.</a:t>
            </a:r>
            <a:endParaRPr lang="en-US" sz="950" dirty="0"/>
          </a:p>
        </p:txBody>
      </p:sp>
      <p:sp>
        <p:nvSpPr>
          <p:cNvPr id="13" name="Shape 11"/>
          <p:cNvSpPr/>
          <p:nvPr/>
        </p:nvSpPr>
        <p:spPr>
          <a:xfrm>
            <a:off x="365760" y="2103120"/>
            <a:ext cx="4069080" cy="114300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4" name="Shape 12"/>
          <p:cNvSpPr/>
          <p:nvPr/>
        </p:nvSpPr>
        <p:spPr>
          <a:xfrm>
            <a:off x="365760" y="2103120"/>
            <a:ext cx="4069080" cy="274320"/>
          </a:xfrm>
          <a:prstGeom prst="rect">
            <a:avLst/>
          </a:prstGeom>
          <a:solidFill>
            <a:srgbClr val="12122A"/>
          </a:solidFill>
          <a:ln w="12700">
            <a:solidFill>
              <a:srgbClr val="12122A"/>
            </a:solidFill>
            <a:prstDash val="solid"/>
          </a:ln>
        </p:spPr>
      </p:sp>
      <p:sp>
        <p:nvSpPr>
          <p:cNvPr id="15" name="Text 13"/>
          <p:cNvSpPr/>
          <p:nvPr/>
        </p:nvSpPr>
        <p:spPr>
          <a:xfrm>
            <a:off x="457200" y="2103120"/>
            <a:ext cx="3886200" cy="274320"/>
          </a:xfrm>
          <a:prstGeom prst="rect">
            <a:avLst/>
          </a:prstGeom>
          <a:noFill/>
          <a:ln/>
        </p:spPr>
        <p:txBody>
          <a:bodyPr wrap="square" lIns="0" tIns="0" rIns="0" bIns="0" rtlCol="0" anchor="ctr"/>
          <a:lstStyle/>
          <a:p>
            <a:pPr indent="0" marL="0">
              <a:buNone/>
            </a:pPr>
            <a:r>
              <a:rPr lang="en-US" sz="1000" b="1" dirty="0">
                <a:solidFill>
                  <a:srgbClr val="C9A84C"/>
                </a:solidFill>
              </a:rPr>
              <a:t>Correlated Subqueries</a:t>
            </a:r>
            <a:endParaRPr lang="en-US" sz="1000" dirty="0"/>
          </a:p>
        </p:txBody>
      </p:sp>
      <p:sp>
        <p:nvSpPr>
          <p:cNvPr id="16" name="Text 14"/>
          <p:cNvSpPr/>
          <p:nvPr/>
        </p:nvSpPr>
        <p:spPr>
          <a:xfrm>
            <a:off x="457200" y="2423160"/>
            <a:ext cx="3886200" cy="777240"/>
          </a:xfrm>
          <a:prstGeom prst="rect">
            <a:avLst/>
          </a:prstGeom>
          <a:noFill/>
          <a:ln/>
        </p:spPr>
        <p:txBody>
          <a:bodyPr wrap="square" lIns="0" tIns="0" rIns="0" bIns="0" rtlCol="0" anchor="ctr"/>
          <a:lstStyle/>
          <a:p>
            <a:pPr indent="0" marL="0">
              <a:buNone/>
            </a:pPr>
            <a:r>
              <a:rPr lang="en-US" sz="950" dirty="0">
                <a:solidFill>
                  <a:srgbClr val="1A1A2E"/>
                </a:solidFill>
              </a:rPr>
              <a:t>Evaluated once per row — extremely slow at scale. Rewrite as JOIN or window function. Red flag in any interview code review.</a:t>
            </a:r>
            <a:endParaRPr lang="en-US" sz="950" dirty="0"/>
          </a:p>
        </p:txBody>
      </p:sp>
      <p:sp>
        <p:nvSpPr>
          <p:cNvPr id="17" name="Shape 15"/>
          <p:cNvSpPr/>
          <p:nvPr/>
        </p:nvSpPr>
        <p:spPr>
          <a:xfrm>
            <a:off x="4617720" y="2103120"/>
            <a:ext cx="4069080" cy="114300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8" name="Shape 16"/>
          <p:cNvSpPr/>
          <p:nvPr/>
        </p:nvSpPr>
        <p:spPr>
          <a:xfrm>
            <a:off x="4617720" y="2103120"/>
            <a:ext cx="4069080" cy="274320"/>
          </a:xfrm>
          <a:prstGeom prst="rect">
            <a:avLst/>
          </a:prstGeom>
          <a:solidFill>
            <a:srgbClr val="12122A"/>
          </a:solidFill>
          <a:ln w="12700">
            <a:solidFill>
              <a:srgbClr val="12122A"/>
            </a:solidFill>
            <a:prstDash val="solid"/>
          </a:ln>
        </p:spPr>
      </p:sp>
      <p:sp>
        <p:nvSpPr>
          <p:cNvPr id="19" name="Text 17"/>
          <p:cNvSpPr/>
          <p:nvPr/>
        </p:nvSpPr>
        <p:spPr>
          <a:xfrm>
            <a:off x="4709160" y="2103120"/>
            <a:ext cx="3886200" cy="274320"/>
          </a:xfrm>
          <a:prstGeom prst="rect">
            <a:avLst/>
          </a:prstGeom>
          <a:noFill/>
          <a:ln/>
        </p:spPr>
        <p:txBody>
          <a:bodyPr wrap="square" lIns="0" tIns="0" rIns="0" bIns="0" rtlCol="0" anchor="ctr"/>
          <a:lstStyle/>
          <a:p>
            <a:pPr indent="0" marL="0">
              <a:buNone/>
            </a:pPr>
            <a:r>
              <a:rPr lang="en-US" sz="1000" b="1" dirty="0">
                <a:solidFill>
                  <a:srgbClr val="C9A84C"/>
                </a:solidFill>
              </a:rPr>
              <a:t>Execution Plans</a:t>
            </a:r>
            <a:endParaRPr lang="en-US" sz="1000" dirty="0"/>
          </a:p>
        </p:txBody>
      </p:sp>
      <p:sp>
        <p:nvSpPr>
          <p:cNvPr id="20" name="Text 18"/>
          <p:cNvSpPr/>
          <p:nvPr/>
        </p:nvSpPr>
        <p:spPr>
          <a:xfrm>
            <a:off x="4709160" y="2423160"/>
            <a:ext cx="3886200" cy="777240"/>
          </a:xfrm>
          <a:prstGeom prst="rect">
            <a:avLst/>
          </a:prstGeom>
          <a:noFill/>
          <a:ln/>
        </p:spPr>
        <p:txBody>
          <a:bodyPr wrap="square" lIns="0" tIns="0" rIns="0" bIns="0" rtlCol="0" anchor="ctr"/>
          <a:lstStyle/>
          <a:p>
            <a:pPr indent="0" marL="0">
              <a:buNone/>
            </a:pPr>
            <a:r>
              <a:rPr lang="en-US" sz="950" dirty="0">
                <a:solidFill>
                  <a:srgbClr val="1A1A2E"/>
                </a:solidFill>
              </a:rPr>
              <a:t>In BQ: use EXPLAIN or the Query Plan Explanation tab. Look for full table scans, expensive joins, and high bytes processed.</a:t>
            </a:r>
            <a:endParaRPr lang="en-US" sz="950" dirty="0"/>
          </a:p>
        </p:txBody>
      </p:sp>
      <p:sp>
        <p:nvSpPr>
          <p:cNvPr id="21" name="Shape 19"/>
          <p:cNvSpPr/>
          <p:nvPr/>
        </p:nvSpPr>
        <p:spPr>
          <a:xfrm>
            <a:off x="365760" y="3383280"/>
            <a:ext cx="8412480" cy="1691640"/>
          </a:xfrm>
          <a:prstGeom prst="rect">
            <a:avLst/>
          </a:prstGeom>
          <a:solidFill>
            <a:srgbClr val="1E1E3F"/>
          </a:solidFill>
          <a:ln w="9525">
            <a:solidFill>
              <a:srgbClr val="4A4A7A"/>
            </a:solidFill>
            <a:prstDash val="solid"/>
          </a:ln>
        </p:spPr>
      </p:sp>
      <p:sp>
        <p:nvSpPr>
          <p:cNvPr id="22" name="Shape 20"/>
          <p:cNvSpPr/>
          <p:nvPr/>
        </p:nvSpPr>
        <p:spPr>
          <a:xfrm>
            <a:off x="365760" y="3383280"/>
            <a:ext cx="822960" cy="201168"/>
          </a:xfrm>
          <a:prstGeom prst="rect">
            <a:avLst/>
          </a:prstGeom>
          <a:solidFill>
            <a:srgbClr val="C9A84C"/>
          </a:solidFill>
          <a:ln w="12700">
            <a:solidFill>
              <a:srgbClr val="C9A84C"/>
            </a:solidFill>
            <a:prstDash val="solid"/>
          </a:ln>
        </p:spPr>
      </p:sp>
      <p:sp>
        <p:nvSpPr>
          <p:cNvPr id="23" name="Text 21"/>
          <p:cNvSpPr/>
          <p:nvPr/>
        </p:nvSpPr>
        <p:spPr>
          <a:xfrm>
            <a:off x="384048" y="3401568"/>
            <a:ext cx="786384" cy="164592"/>
          </a:xfrm>
          <a:prstGeom prst="rect">
            <a:avLst/>
          </a:prstGeom>
          <a:noFill/>
          <a:ln/>
        </p:spPr>
        <p:txBody>
          <a:bodyPr wrap="square" lIns="0" tIns="0" rIns="0" bIns="0" rtlCol="0" anchor="ctr"/>
          <a:lstStyle/>
          <a:p>
            <a:pPr algn="ctr" indent="0" marL="0">
              <a:buNone/>
            </a:pPr>
            <a:r>
              <a:rPr lang="en-US" sz="800" b="1" dirty="0">
                <a:solidFill>
                  <a:srgbClr val="12122A"/>
                </a:solidFill>
              </a:rPr>
              <a:t>SQL (BigQuery Standard)</a:t>
            </a:r>
            <a:endParaRPr lang="en-US" sz="800" dirty="0"/>
          </a:p>
        </p:txBody>
      </p:sp>
      <p:sp>
        <p:nvSpPr>
          <p:cNvPr id="24" name="Text 22"/>
          <p:cNvSpPr/>
          <p:nvPr/>
        </p:nvSpPr>
        <p:spPr>
          <a:xfrm>
            <a:off x="475488" y="3621024"/>
            <a:ext cx="8193024" cy="1362456"/>
          </a:xfrm>
          <a:prstGeom prst="rect">
            <a:avLst/>
          </a:prstGeom>
          <a:noFill/>
          <a:ln/>
        </p:spPr>
        <p:txBody>
          <a:bodyPr wrap="square" lIns="0" tIns="0" rIns="0" bIns="0" rtlCol="0" anchor="t"/>
          <a:lstStyle/>
          <a:p>
            <a:pPr indent="0" marL="0">
              <a:buNone/>
            </a:pPr>
            <a:r>
              <a:rPr lang="en-US" sz="950" dirty="0">
                <a:solidFill>
                  <a:srgbClr val="A8D8A8"/>
                </a:solidFill>
                <a:latin typeface="Consolas" pitchFamily="34" charset="0"/>
                <a:ea typeface="Consolas" pitchFamily="34" charset="-122"/>
                <a:cs typeface="Consolas" pitchFamily="34" charset="-120"/>
              </a:rPr>
              <a:t>-- Window function: Running total + prior period comparison</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SELECT</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    region,</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    sale_month,</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    revenue,</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    SUM(revenue) OVER (PARTITION BY region ORDER BY sale_month) AS running_total,</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    LAG(revenue, 1) OVER (PARTITION BY region ORDER BY sale_month) AS prev_month,</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    ROUND(SAFE_DIVIDE(revenue - LAG(revenue,1) OVER (PARTITION BY region ORDER BY sale_month),</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          LAG(revenue,1) OVER (PARTITION BY region ORDER BY sale_month)) * 100, 1) AS mom_growth_pct</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FROM sales_summary</a:t>
            </a:r>
            <a:endParaRPr lang="en-US" sz="950" dirty="0"/>
          </a:p>
          <a:p>
            <a:pPr indent="0" marL="0">
              <a:buNone/>
            </a:pPr>
            <a:r>
              <a:rPr lang="en-US" sz="950" dirty="0">
                <a:solidFill>
                  <a:srgbClr val="A8D8A8"/>
                </a:solidFill>
                <a:latin typeface="Consolas" pitchFamily="34" charset="0"/>
                <a:ea typeface="Consolas" pitchFamily="34" charset="-122"/>
                <a:cs typeface="Consolas" pitchFamily="34" charset="-120"/>
              </a:rPr>
              <a:t>ORDER BY region, sale_month</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AI-Powered Productivity — Speak to This Confidently</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8412480" cy="320040"/>
          </a:xfrm>
          <a:prstGeom prst="rect">
            <a:avLst/>
          </a:prstGeom>
          <a:solidFill>
            <a:srgbClr val="DBEAFE"/>
          </a:solidFill>
          <a:ln w="9525">
            <a:solidFill>
              <a:srgbClr val="1D4ED8"/>
            </a:solidFill>
            <a:prstDash val="solid"/>
          </a:ln>
        </p:spPr>
      </p:sp>
      <p:sp>
        <p:nvSpPr>
          <p:cNvPr id="6" name="Text 4"/>
          <p:cNvSpPr/>
          <p:nvPr/>
        </p:nvSpPr>
        <p:spPr>
          <a:xfrm>
            <a:off x="457200" y="868680"/>
            <a:ext cx="8229600" cy="320040"/>
          </a:xfrm>
          <a:prstGeom prst="rect">
            <a:avLst/>
          </a:prstGeom>
          <a:noFill/>
          <a:ln/>
        </p:spPr>
        <p:txBody>
          <a:bodyPr wrap="square" lIns="0" tIns="0" rIns="0" bIns="0" rtlCol="0" anchor="ctr"/>
          <a:lstStyle/>
          <a:p>
            <a:pPr indent="0" marL="0">
              <a:buNone/>
            </a:pPr>
            <a:r>
              <a:rPr lang="en-US" sz="1000" dirty="0">
                <a:solidFill>
                  <a:srgbClr val="1D4ED8"/>
                </a:solidFill>
              </a:rPr>
              <a:t>The JD explicitly requires "demonstrated use of AI tools." Come with specific, concrete examples — not vague "I use ChatGPT sometimes."</a:t>
            </a:r>
            <a:endParaRPr lang="en-US" sz="1000" dirty="0"/>
          </a:p>
        </p:txBody>
      </p:sp>
      <p:sp>
        <p:nvSpPr>
          <p:cNvPr id="7" name="Shape 5"/>
          <p:cNvSpPr/>
          <p:nvPr/>
        </p:nvSpPr>
        <p:spPr>
          <a:xfrm>
            <a:off x="365760" y="1298448"/>
            <a:ext cx="2788920" cy="315468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8" name="Shape 6"/>
          <p:cNvSpPr/>
          <p:nvPr/>
        </p:nvSpPr>
        <p:spPr>
          <a:xfrm>
            <a:off x="365760" y="1298448"/>
            <a:ext cx="2788920" cy="475488"/>
          </a:xfrm>
          <a:prstGeom prst="rect">
            <a:avLst/>
          </a:prstGeom>
          <a:solidFill>
            <a:srgbClr val="12122A"/>
          </a:solidFill>
          <a:ln w="12700">
            <a:solidFill>
              <a:srgbClr val="12122A"/>
            </a:solidFill>
            <a:prstDash val="solid"/>
          </a:ln>
        </p:spPr>
      </p:sp>
      <p:sp>
        <p:nvSpPr>
          <p:cNvPr id="9" name="Text 7"/>
          <p:cNvSpPr/>
          <p:nvPr/>
        </p:nvSpPr>
        <p:spPr>
          <a:xfrm>
            <a:off x="457200" y="1325880"/>
            <a:ext cx="2606040" cy="237744"/>
          </a:xfrm>
          <a:prstGeom prst="rect">
            <a:avLst/>
          </a:prstGeom>
          <a:noFill/>
          <a:ln/>
        </p:spPr>
        <p:txBody>
          <a:bodyPr wrap="square" lIns="0" tIns="0" rIns="0" bIns="0" rtlCol="0" anchor="ctr"/>
          <a:lstStyle/>
          <a:p>
            <a:pPr indent="0" marL="0">
              <a:buNone/>
            </a:pPr>
            <a:r>
              <a:rPr lang="en-US" sz="1200" b="1" dirty="0">
                <a:solidFill>
                  <a:srgbClr val="C9A84C"/>
                </a:solidFill>
              </a:rPr>
              <a:t>GitHub Copilot</a:t>
            </a:r>
            <a:endParaRPr lang="en-US" sz="1200" dirty="0"/>
          </a:p>
        </p:txBody>
      </p:sp>
      <p:sp>
        <p:nvSpPr>
          <p:cNvPr id="10" name="Text 8"/>
          <p:cNvSpPr/>
          <p:nvPr/>
        </p:nvSpPr>
        <p:spPr>
          <a:xfrm>
            <a:off x="457200" y="1554480"/>
            <a:ext cx="2606040" cy="182880"/>
          </a:xfrm>
          <a:prstGeom prst="rect">
            <a:avLst/>
          </a:prstGeom>
          <a:noFill/>
          <a:ln/>
        </p:spPr>
        <p:txBody>
          <a:bodyPr wrap="square" lIns="0" tIns="0" rIns="0" bIns="0" rtlCol="0" anchor="ctr"/>
          <a:lstStyle/>
          <a:p>
            <a:pPr indent="0" marL="0">
              <a:buNone/>
            </a:pPr>
            <a:r>
              <a:rPr lang="en-US" sz="900" i="1" dirty="0">
                <a:solidFill>
                  <a:srgbClr val="E8D5A3"/>
                </a:solidFill>
              </a:rPr>
              <a:t>DAX &amp; SQL Acceleration</a:t>
            </a:r>
            <a:endParaRPr lang="en-US" sz="900" dirty="0"/>
          </a:p>
        </p:txBody>
      </p:sp>
      <p:sp>
        <p:nvSpPr>
          <p:cNvPr id="11" name="Text 9"/>
          <p:cNvSpPr/>
          <p:nvPr/>
        </p:nvSpPr>
        <p:spPr>
          <a:xfrm>
            <a:off x="475488" y="1865376"/>
            <a:ext cx="2560320" cy="566928"/>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Write boilerplate DAX measures from natural language</a:t>
            </a:r>
            <a:pPr indent="0" marL="0">
              <a:buNone/>
            </a:pPr>
            <a:endParaRPr lang="en-US" sz="1000" dirty="0"/>
          </a:p>
        </p:txBody>
      </p:sp>
      <p:sp>
        <p:nvSpPr>
          <p:cNvPr id="12" name="Text 10"/>
          <p:cNvSpPr/>
          <p:nvPr/>
        </p:nvSpPr>
        <p:spPr>
          <a:xfrm>
            <a:off x="475488" y="2468880"/>
            <a:ext cx="2560320" cy="566928"/>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Auto-complete SQL JOINs and CTEs in VS Code</a:t>
            </a:r>
            <a:pPr indent="0" marL="0">
              <a:buNone/>
            </a:pPr>
            <a:endParaRPr lang="en-US" sz="1000" dirty="0"/>
          </a:p>
        </p:txBody>
      </p:sp>
      <p:sp>
        <p:nvSpPr>
          <p:cNvPr id="13" name="Text 11"/>
          <p:cNvSpPr/>
          <p:nvPr/>
        </p:nvSpPr>
        <p:spPr>
          <a:xfrm>
            <a:off x="475488" y="3072384"/>
            <a:ext cx="2560320" cy="566928"/>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Explain unfamiliar DAX functions inline</a:t>
            </a:r>
            <a:pPr indent="0" marL="0">
              <a:buNone/>
            </a:pPr>
            <a:endParaRPr lang="en-US" sz="1000" dirty="0"/>
          </a:p>
        </p:txBody>
      </p:sp>
      <p:sp>
        <p:nvSpPr>
          <p:cNvPr id="14" name="Text 12"/>
          <p:cNvSpPr/>
          <p:nvPr/>
        </p:nvSpPr>
        <p:spPr>
          <a:xfrm>
            <a:off x="475488" y="3675888"/>
            <a:ext cx="2560320" cy="566928"/>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Refactor slow measures with suggested optimizations</a:t>
            </a:r>
            <a:endParaRPr lang="en-US" sz="1000" dirty="0"/>
          </a:p>
        </p:txBody>
      </p:sp>
      <p:sp>
        <p:nvSpPr>
          <p:cNvPr id="15" name="Shape 13"/>
          <p:cNvSpPr/>
          <p:nvPr/>
        </p:nvSpPr>
        <p:spPr>
          <a:xfrm>
            <a:off x="3291840" y="1298448"/>
            <a:ext cx="2788920" cy="315468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6" name="Shape 14"/>
          <p:cNvSpPr/>
          <p:nvPr/>
        </p:nvSpPr>
        <p:spPr>
          <a:xfrm>
            <a:off x="3291840" y="1298448"/>
            <a:ext cx="2788920" cy="475488"/>
          </a:xfrm>
          <a:prstGeom prst="rect">
            <a:avLst/>
          </a:prstGeom>
          <a:solidFill>
            <a:srgbClr val="1E1E42"/>
          </a:solidFill>
          <a:ln w="12700">
            <a:solidFill>
              <a:srgbClr val="1E1E42"/>
            </a:solidFill>
            <a:prstDash val="solid"/>
          </a:ln>
        </p:spPr>
      </p:sp>
      <p:sp>
        <p:nvSpPr>
          <p:cNvPr id="17" name="Text 15"/>
          <p:cNvSpPr/>
          <p:nvPr/>
        </p:nvSpPr>
        <p:spPr>
          <a:xfrm>
            <a:off x="3383280" y="1325880"/>
            <a:ext cx="2606040" cy="237744"/>
          </a:xfrm>
          <a:prstGeom prst="rect">
            <a:avLst/>
          </a:prstGeom>
          <a:noFill/>
          <a:ln/>
        </p:spPr>
        <p:txBody>
          <a:bodyPr wrap="square" lIns="0" tIns="0" rIns="0" bIns="0" rtlCol="0" anchor="ctr"/>
          <a:lstStyle/>
          <a:p>
            <a:pPr indent="0" marL="0">
              <a:buNone/>
            </a:pPr>
            <a:r>
              <a:rPr lang="en-US" sz="1200" b="1" dirty="0">
                <a:solidFill>
                  <a:srgbClr val="C9A84C"/>
                </a:solidFill>
              </a:rPr>
              <a:t>Claude / ChatGPT</a:t>
            </a:r>
            <a:endParaRPr lang="en-US" sz="1200" dirty="0"/>
          </a:p>
        </p:txBody>
      </p:sp>
      <p:sp>
        <p:nvSpPr>
          <p:cNvPr id="18" name="Text 16"/>
          <p:cNvSpPr/>
          <p:nvPr/>
        </p:nvSpPr>
        <p:spPr>
          <a:xfrm>
            <a:off x="3383280" y="1554480"/>
            <a:ext cx="2606040" cy="182880"/>
          </a:xfrm>
          <a:prstGeom prst="rect">
            <a:avLst/>
          </a:prstGeom>
          <a:noFill/>
          <a:ln/>
        </p:spPr>
        <p:txBody>
          <a:bodyPr wrap="square" lIns="0" tIns="0" rIns="0" bIns="0" rtlCol="0" anchor="ctr"/>
          <a:lstStyle/>
          <a:p>
            <a:pPr indent="0" marL="0">
              <a:buNone/>
            </a:pPr>
            <a:r>
              <a:rPr lang="en-US" sz="900" i="1" dirty="0">
                <a:solidFill>
                  <a:srgbClr val="E8D5A3"/>
                </a:solidFill>
              </a:rPr>
              <a:t>Analysis &amp; Documentation</a:t>
            </a:r>
            <a:endParaRPr lang="en-US" sz="900" dirty="0"/>
          </a:p>
        </p:txBody>
      </p:sp>
      <p:sp>
        <p:nvSpPr>
          <p:cNvPr id="19" name="Text 17"/>
          <p:cNvSpPr/>
          <p:nvPr/>
        </p:nvSpPr>
        <p:spPr>
          <a:xfrm>
            <a:off x="3401568" y="1865376"/>
            <a:ext cx="2560320" cy="566928"/>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Debug complex DAX context transition issues</a:t>
            </a:r>
            <a:pPr indent="0" marL="0">
              <a:buNone/>
            </a:pPr>
            <a:endParaRPr lang="en-US" sz="1000" dirty="0"/>
          </a:p>
        </p:txBody>
      </p:sp>
      <p:sp>
        <p:nvSpPr>
          <p:cNvPr id="20" name="Text 18"/>
          <p:cNvSpPr/>
          <p:nvPr/>
        </p:nvSpPr>
        <p:spPr>
          <a:xfrm>
            <a:off x="3401568" y="2468880"/>
            <a:ext cx="2560320" cy="566928"/>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Generate report documentation &amp; data dictionaries</a:t>
            </a:r>
            <a:pPr indent="0" marL="0">
              <a:buNone/>
            </a:pPr>
            <a:endParaRPr lang="en-US" sz="1000" dirty="0"/>
          </a:p>
        </p:txBody>
      </p:sp>
      <p:sp>
        <p:nvSpPr>
          <p:cNvPr id="21" name="Text 19"/>
          <p:cNvSpPr/>
          <p:nvPr/>
        </p:nvSpPr>
        <p:spPr>
          <a:xfrm>
            <a:off x="3401568" y="3072384"/>
            <a:ext cx="2560320" cy="566928"/>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Draft governance policy documents and SOPs</a:t>
            </a:r>
            <a:pPr indent="0" marL="0">
              <a:buNone/>
            </a:pPr>
            <a:endParaRPr lang="en-US" sz="1000" dirty="0"/>
          </a:p>
        </p:txBody>
      </p:sp>
      <p:sp>
        <p:nvSpPr>
          <p:cNvPr id="22" name="Text 20"/>
          <p:cNvSpPr/>
          <p:nvPr/>
        </p:nvSpPr>
        <p:spPr>
          <a:xfrm>
            <a:off x="3401568" y="3675888"/>
            <a:ext cx="2560320" cy="566928"/>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Explain BigQuery query plans in plain language</a:t>
            </a:r>
            <a:endParaRPr lang="en-US" sz="1000" dirty="0"/>
          </a:p>
        </p:txBody>
      </p:sp>
      <p:sp>
        <p:nvSpPr>
          <p:cNvPr id="23" name="Shape 21"/>
          <p:cNvSpPr/>
          <p:nvPr/>
        </p:nvSpPr>
        <p:spPr>
          <a:xfrm>
            <a:off x="6217920" y="1298448"/>
            <a:ext cx="2788920" cy="315468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24" name="Shape 22"/>
          <p:cNvSpPr/>
          <p:nvPr/>
        </p:nvSpPr>
        <p:spPr>
          <a:xfrm>
            <a:off x="6217920" y="1298448"/>
            <a:ext cx="2788920" cy="475488"/>
          </a:xfrm>
          <a:prstGeom prst="rect">
            <a:avLst/>
          </a:prstGeom>
          <a:solidFill>
            <a:srgbClr val="0D4F8B"/>
          </a:solidFill>
          <a:ln w="12700">
            <a:solidFill>
              <a:srgbClr val="0D4F8B"/>
            </a:solidFill>
            <a:prstDash val="solid"/>
          </a:ln>
        </p:spPr>
      </p:sp>
      <p:sp>
        <p:nvSpPr>
          <p:cNvPr id="25" name="Text 23"/>
          <p:cNvSpPr/>
          <p:nvPr/>
        </p:nvSpPr>
        <p:spPr>
          <a:xfrm>
            <a:off x="6309360" y="1325880"/>
            <a:ext cx="2606040" cy="237744"/>
          </a:xfrm>
          <a:prstGeom prst="rect">
            <a:avLst/>
          </a:prstGeom>
          <a:noFill/>
          <a:ln/>
        </p:spPr>
        <p:txBody>
          <a:bodyPr wrap="square" lIns="0" tIns="0" rIns="0" bIns="0" rtlCol="0" anchor="ctr"/>
          <a:lstStyle/>
          <a:p>
            <a:pPr indent="0" marL="0">
              <a:buNone/>
            </a:pPr>
            <a:r>
              <a:rPr lang="en-US" sz="1200" b="1" dirty="0">
                <a:solidFill>
                  <a:srgbClr val="C9A84C"/>
                </a:solidFill>
              </a:rPr>
              <a:t>Power BI Copilot</a:t>
            </a:r>
            <a:endParaRPr lang="en-US" sz="1200" dirty="0"/>
          </a:p>
        </p:txBody>
      </p:sp>
      <p:sp>
        <p:nvSpPr>
          <p:cNvPr id="26" name="Text 24"/>
          <p:cNvSpPr/>
          <p:nvPr/>
        </p:nvSpPr>
        <p:spPr>
          <a:xfrm>
            <a:off x="6309360" y="1554480"/>
            <a:ext cx="2606040" cy="182880"/>
          </a:xfrm>
          <a:prstGeom prst="rect">
            <a:avLst/>
          </a:prstGeom>
          <a:noFill/>
          <a:ln/>
        </p:spPr>
        <p:txBody>
          <a:bodyPr wrap="square" lIns="0" tIns="0" rIns="0" bIns="0" rtlCol="0" anchor="ctr"/>
          <a:lstStyle/>
          <a:p>
            <a:pPr indent="0" marL="0">
              <a:buNone/>
            </a:pPr>
            <a:r>
              <a:rPr lang="en-US" sz="900" i="1" dirty="0">
                <a:solidFill>
                  <a:srgbClr val="E8D5A3"/>
                </a:solidFill>
              </a:rPr>
              <a:t>Built-In BI Assistant</a:t>
            </a:r>
            <a:endParaRPr lang="en-US" sz="900" dirty="0"/>
          </a:p>
        </p:txBody>
      </p:sp>
      <p:sp>
        <p:nvSpPr>
          <p:cNvPr id="27" name="Text 25"/>
          <p:cNvSpPr/>
          <p:nvPr/>
        </p:nvSpPr>
        <p:spPr>
          <a:xfrm>
            <a:off x="6327648" y="1865376"/>
            <a:ext cx="2560320" cy="566928"/>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Natural language Q&amp;A over semantic models</a:t>
            </a:r>
            <a:pPr indent="0" marL="0">
              <a:buNone/>
            </a:pPr>
            <a:endParaRPr lang="en-US" sz="1000" dirty="0"/>
          </a:p>
        </p:txBody>
      </p:sp>
      <p:sp>
        <p:nvSpPr>
          <p:cNvPr id="28" name="Text 26"/>
          <p:cNvSpPr/>
          <p:nvPr/>
        </p:nvSpPr>
        <p:spPr>
          <a:xfrm>
            <a:off x="6327648" y="2468880"/>
            <a:ext cx="2560320" cy="566928"/>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Auto-generated narrative summaries for reports</a:t>
            </a:r>
            <a:pPr indent="0" marL="0">
              <a:buNone/>
            </a:pPr>
            <a:endParaRPr lang="en-US" sz="1000" dirty="0"/>
          </a:p>
        </p:txBody>
      </p:sp>
      <p:sp>
        <p:nvSpPr>
          <p:cNvPr id="29" name="Text 27"/>
          <p:cNvSpPr/>
          <p:nvPr/>
        </p:nvSpPr>
        <p:spPr>
          <a:xfrm>
            <a:off x="6327648" y="3072384"/>
            <a:ext cx="2560320" cy="566928"/>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Suggested measures from Copilot (preview in Fabric)</a:t>
            </a:r>
            <a:pPr indent="0" marL="0">
              <a:buNone/>
            </a:pPr>
            <a:endParaRPr lang="en-US" sz="1000" dirty="0"/>
          </a:p>
        </p:txBody>
      </p:sp>
      <p:sp>
        <p:nvSpPr>
          <p:cNvPr id="30" name="Text 28"/>
          <p:cNvSpPr/>
          <p:nvPr/>
        </p:nvSpPr>
        <p:spPr>
          <a:xfrm>
            <a:off x="6327648" y="3675888"/>
            <a:ext cx="2560320" cy="566928"/>
          </a:xfrm>
          <a:prstGeom prst="rect">
            <a:avLst/>
          </a:prstGeom>
          <a:noFill/>
          <a:ln/>
        </p:spPr>
        <p:txBody>
          <a:bodyPr wrap="square" lIns="0" tIns="0" rIns="0" bIns="0" rtlCol="0" anchor="ctr"/>
          <a:lstStyle/>
          <a:p>
            <a:pPr indent="0" marL="0">
              <a:buNone/>
            </a:pPr>
            <a:r>
              <a:rPr lang="en-US" sz="1000" dirty="0">
                <a:solidFill>
                  <a:srgbClr val="C9A84C"/>
                </a:solidFill>
              </a:rPr>
              <a:t>▸  </a:t>
            </a:r>
            <a:pPr indent="0" marL="0">
              <a:buNone/>
            </a:pPr>
            <a:r>
              <a:rPr lang="en-US" sz="1000" dirty="0">
                <a:solidFill>
                  <a:srgbClr val="1A1A2E"/>
                </a:solidFill>
              </a:rPr>
              <a:t>Explain data insights to non-technical stakeholders</a:t>
            </a:r>
            <a:endParaRPr lang="en-US" sz="1000" dirty="0"/>
          </a:p>
        </p:txBody>
      </p:sp>
      <p:sp>
        <p:nvSpPr>
          <p:cNvPr id="31" name="Shape 29"/>
          <p:cNvSpPr/>
          <p:nvPr/>
        </p:nvSpPr>
        <p:spPr>
          <a:xfrm>
            <a:off x="365760" y="4572000"/>
            <a:ext cx="8412480" cy="457200"/>
          </a:xfrm>
          <a:prstGeom prst="rect">
            <a:avLst/>
          </a:prstGeom>
          <a:solidFill>
            <a:srgbClr val="FEF5E7"/>
          </a:solidFill>
          <a:ln w="9525">
            <a:solidFill>
              <a:srgbClr val="C9A84C"/>
            </a:solidFill>
            <a:prstDash val="solid"/>
          </a:ln>
          <a:effectLst>
            <a:outerShdw sx="100000" sy="100000" kx="0" ky="0" algn="bl" rotWithShape="0" blurRad="50800" dist="12700" dir="8100000">
              <a:srgbClr val="000000">
                <a:alpha val="7000"/>
              </a:srgbClr>
            </a:outerShdw>
          </a:effectLst>
        </p:spPr>
      </p:sp>
      <p:sp>
        <p:nvSpPr>
          <p:cNvPr id="32" name="Text 30"/>
          <p:cNvSpPr/>
          <p:nvPr/>
        </p:nvSpPr>
        <p:spPr>
          <a:xfrm>
            <a:off x="502920" y="4590288"/>
            <a:ext cx="8229600" cy="420624"/>
          </a:xfrm>
          <a:prstGeom prst="rect">
            <a:avLst/>
          </a:prstGeom>
          <a:noFill/>
          <a:ln/>
        </p:spPr>
        <p:txBody>
          <a:bodyPr wrap="square" lIns="0" tIns="0" rIns="0" bIns="0" rtlCol="0" anchor="ctr"/>
          <a:lstStyle/>
          <a:p>
            <a:pPr indent="0" marL="0">
              <a:buNone/>
            </a:pPr>
            <a:r>
              <a:rPr lang="en-US" sz="1000" b="1" dirty="0">
                <a:solidFill>
                  <a:srgbClr val="12122A"/>
                </a:solidFill>
              </a:rPr>
              <a:t>📣  SAMPLE ANSWER: </a:t>
            </a:r>
            <a:pPr indent="0" marL="0">
              <a:buNone/>
            </a:pPr>
            <a:r>
              <a:rPr lang="en-US" sz="1000" dirty="0">
                <a:solidFill>
                  <a:srgbClr val="1A1A2E"/>
                </a:solidFill>
              </a:rPr>
              <a:t>"I use Claude to debug context transition errors in DAX — I paste the measure and describe the filter context, and it explains the logic step by step. I also use it to auto-generate data dictionary entries and governance documentation, cutting that work from hours to minutes."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Behavioral Interview — STAR Answer Bank</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8412480" cy="274320"/>
          </a:xfrm>
          <a:prstGeom prst="rect">
            <a:avLst/>
          </a:prstGeom>
          <a:solidFill>
            <a:srgbClr val="12122A"/>
          </a:solidFill>
          <a:ln w="12700">
            <a:solidFill>
              <a:srgbClr val="12122A"/>
            </a:solidFill>
            <a:prstDash val="solid"/>
          </a:ln>
        </p:spPr>
      </p:sp>
      <p:sp>
        <p:nvSpPr>
          <p:cNvPr id="6" name="Text 4"/>
          <p:cNvSpPr/>
          <p:nvPr/>
        </p:nvSpPr>
        <p:spPr>
          <a:xfrm>
            <a:off x="365760" y="868680"/>
            <a:ext cx="8412480" cy="274320"/>
          </a:xfrm>
          <a:prstGeom prst="rect">
            <a:avLst/>
          </a:prstGeom>
          <a:noFill/>
          <a:ln/>
        </p:spPr>
        <p:txBody>
          <a:bodyPr wrap="square" lIns="0" tIns="0" rIns="0" bIns="0" rtlCol="0" anchor="ctr"/>
          <a:lstStyle/>
          <a:p>
            <a:pPr algn="ctr" indent="0" marL="0">
              <a:buNone/>
            </a:pPr>
            <a:r>
              <a:rPr lang="en-US" sz="1000" dirty="0">
                <a:solidFill>
                  <a:srgbClr val="E8D5A3"/>
                </a:solidFill>
              </a:rPr>
              <a:t>S = Situation  |  T = Task  |  A = Action  |  R = Result  —  Every answer needs a measurable result</a:t>
            </a:r>
            <a:endParaRPr lang="en-US" sz="1000" dirty="0"/>
          </a:p>
        </p:txBody>
      </p:sp>
      <p:sp>
        <p:nvSpPr>
          <p:cNvPr id="7" name="Shape 5"/>
          <p:cNvSpPr/>
          <p:nvPr/>
        </p:nvSpPr>
        <p:spPr>
          <a:xfrm>
            <a:off x="365760" y="1261872"/>
            <a:ext cx="8412480" cy="896112"/>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8" name="Text 6"/>
          <p:cNvSpPr/>
          <p:nvPr/>
        </p:nvSpPr>
        <p:spPr>
          <a:xfrm>
            <a:off x="502920" y="1298448"/>
            <a:ext cx="8229600" cy="201168"/>
          </a:xfrm>
          <a:prstGeom prst="rect">
            <a:avLst/>
          </a:prstGeom>
          <a:noFill/>
          <a:ln/>
        </p:spPr>
        <p:txBody>
          <a:bodyPr wrap="square" lIns="0" tIns="0" rIns="0" bIns="0" rtlCol="0" anchor="ctr"/>
          <a:lstStyle/>
          <a:p>
            <a:pPr indent="0" marL="0">
              <a:buNone/>
            </a:pPr>
            <a:r>
              <a:rPr lang="en-US" sz="950" b="1" dirty="0">
                <a:solidFill>
                  <a:srgbClr val="12122A"/>
                </a:solidFill>
              </a:rPr>
              <a:t>Q: "Tell me about a time you drove BI adoption across a resistant team."</a:t>
            </a:r>
            <a:endParaRPr lang="en-US" sz="950" dirty="0"/>
          </a:p>
        </p:txBody>
      </p:sp>
      <p:sp>
        <p:nvSpPr>
          <p:cNvPr id="9" name="Text 7"/>
          <p:cNvSpPr/>
          <p:nvPr/>
        </p:nvSpPr>
        <p:spPr>
          <a:xfrm>
            <a:off x="502920" y="1517904"/>
            <a:ext cx="8229600" cy="594360"/>
          </a:xfrm>
          <a:prstGeom prst="rect">
            <a:avLst/>
          </a:prstGeom>
          <a:noFill/>
          <a:ln/>
        </p:spPr>
        <p:txBody>
          <a:bodyPr wrap="square" lIns="0" tIns="0" rIns="0" bIns="0" rtlCol="0" anchor="ctr"/>
          <a:lstStyle/>
          <a:p>
            <a:pPr indent="0" marL="0">
              <a:buNone/>
            </a:pPr>
            <a:r>
              <a:rPr lang="en-US" sz="850" dirty="0">
                <a:solidFill>
                  <a:srgbClr val="1A1A2E"/>
                </a:solidFill>
              </a:rPr>
              <a:t>S: Team was building shadow Excel reports because Power BI was seen as too complex.</a:t>
            </a:r>
            <a:endParaRPr lang="en-US" sz="850" dirty="0"/>
          </a:p>
          <a:p>
            <a:pPr indent="0" marL="0">
              <a:buNone/>
            </a:pPr>
            <a:r>
              <a:rPr lang="en-US" sz="850" dirty="0">
                <a:solidFill>
                  <a:srgbClr val="1A1A2E"/>
                </a:solidFill>
              </a:rPr>
              <a:t>T: Increase active Power BI usage by 50% in 3 months.</a:t>
            </a:r>
            <a:endParaRPr lang="en-US" sz="850" dirty="0"/>
          </a:p>
          <a:p>
            <a:pPr indent="0" marL="0">
              <a:buNone/>
            </a:pPr>
            <a:r>
              <a:rPr lang="en-US" sz="850" dirty="0">
                <a:solidFill>
                  <a:srgbClr val="1A1A2E"/>
                </a:solidFill>
              </a:rPr>
              <a:t>A: Ran focus groups to understand pain points → Built 3 report templates matching their workflows → Ran hands-on workshops (not lectures) → Created a Slack/Teams channel for live help.</a:t>
            </a:r>
            <a:endParaRPr lang="en-US" sz="850" dirty="0"/>
          </a:p>
          <a:p>
            <a:pPr indent="0" marL="0">
              <a:buNone/>
            </a:pPr>
            <a:r>
              <a:rPr lang="en-US" sz="850" dirty="0">
                <a:solidFill>
                  <a:srgbClr val="1A1A2E"/>
                </a:solidFill>
              </a:rPr>
              <a:t>R: 68% adoption increase; Excel shadow reports dropped 80%. Team became internal champions.</a:t>
            </a:r>
            <a:endParaRPr lang="en-US" sz="850" dirty="0"/>
          </a:p>
        </p:txBody>
      </p:sp>
      <p:sp>
        <p:nvSpPr>
          <p:cNvPr id="10" name="Shape 8"/>
          <p:cNvSpPr/>
          <p:nvPr/>
        </p:nvSpPr>
        <p:spPr>
          <a:xfrm>
            <a:off x="365760" y="2221992"/>
            <a:ext cx="8412480" cy="896112"/>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1" name="Text 9"/>
          <p:cNvSpPr/>
          <p:nvPr/>
        </p:nvSpPr>
        <p:spPr>
          <a:xfrm>
            <a:off x="502920" y="2258568"/>
            <a:ext cx="8229600" cy="201168"/>
          </a:xfrm>
          <a:prstGeom prst="rect">
            <a:avLst/>
          </a:prstGeom>
          <a:noFill/>
          <a:ln/>
        </p:spPr>
        <p:txBody>
          <a:bodyPr wrap="square" lIns="0" tIns="0" rIns="0" bIns="0" rtlCol="0" anchor="ctr"/>
          <a:lstStyle/>
          <a:p>
            <a:pPr indent="0" marL="0">
              <a:buNone/>
            </a:pPr>
            <a:r>
              <a:rPr lang="en-US" sz="950" b="1" dirty="0">
                <a:solidFill>
                  <a:srgbClr val="12122A"/>
                </a:solidFill>
              </a:rPr>
              <a:t>Q: "Describe a governance initiative you led from zero."</a:t>
            </a:r>
            <a:endParaRPr lang="en-US" sz="950" dirty="0"/>
          </a:p>
        </p:txBody>
      </p:sp>
      <p:sp>
        <p:nvSpPr>
          <p:cNvPr id="12" name="Text 10"/>
          <p:cNvSpPr/>
          <p:nvPr/>
        </p:nvSpPr>
        <p:spPr>
          <a:xfrm>
            <a:off x="502920" y="2478024"/>
            <a:ext cx="8229600" cy="594360"/>
          </a:xfrm>
          <a:prstGeom prst="rect">
            <a:avLst/>
          </a:prstGeom>
          <a:noFill/>
          <a:ln/>
        </p:spPr>
        <p:txBody>
          <a:bodyPr wrap="square" lIns="0" tIns="0" rIns="0" bIns="0" rtlCol="0" anchor="ctr"/>
          <a:lstStyle/>
          <a:p>
            <a:pPr indent="0" marL="0">
              <a:buNone/>
            </a:pPr>
            <a:r>
              <a:rPr lang="en-US" sz="850" dirty="0">
                <a:solidFill>
                  <a:srgbClr val="1A1A2E"/>
                </a:solidFill>
              </a:rPr>
              <a:t>S: Org had 150+ workspaces, no naming standards, no certified datasets.</a:t>
            </a:r>
            <a:endParaRPr lang="en-US" sz="850" dirty="0"/>
          </a:p>
          <a:p>
            <a:pPr indent="0" marL="0">
              <a:buNone/>
            </a:pPr>
            <a:r>
              <a:rPr lang="en-US" sz="850" dirty="0">
                <a:solidFill>
                  <a:srgbClr val="1A1A2E"/>
                </a:solidFill>
              </a:rPr>
              <a:t>T: Implement a baseline governance framework within Q1.</a:t>
            </a:r>
            <a:endParaRPr lang="en-US" sz="850" dirty="0"/>
          </a:p>
          <a:p>
            <a:pPr indent="0" marL="0">
              <a:buNone/>
            </a:pPr>
            <a:r>
              <a:rPr lang="en-US" sz="850" dirty="0">
                <a:solidFill>
                  <a:srgbClr val="1A1A2E"/>
                </a:solidFill>
              </a:rPr>
              <a:t>A: Audited all workspaces via Admin REST API → Scored them by risk → Defined 3-tier endorsement process → Built Deployment Pipeline template → Ran governance "office hours."</a:t>
            </a:r>
            <a:endParaRPr lang="en-US" sz="850" dirty="0"/>
          </a:p>
          <a:p>
            <a:pPr indent="0" marL="0">
              <a:buNone/>
            </a:pPr>
            <a:r>
              <a:rPr lang="en-US" sz="850" dirty="0">
                <a:solidFill>
                  <a:srgbClr val="1A1A2E"/>
                </a:solidFill>
              </a:rPr>
              <a:t>R: Reduced uncertified reports used in exec dashboards by 90% in 60 days.</a:t>
            </a:r>
            <a:endParaRPr lang="en-US" sz="850" dirty="0"/>
          </a:p>
        </p:txBody>
      </p:sp>
      <p:sp>
        <p:nvSpPr>
          <p:cNvPr id="13" name="Shape 11"/>
          <p:cNvSpPr/>
          <p:nvPr/>
        </p:nvSpPr>
        <p:spPr>
          <a:xfrm>
            <a:off x="365760" y="3182112"/>
            <a:ext cx="8412480" cy="896112"/>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4" name="Text 12"/>
          <p:cNvSpPr/>
          <p:nvPr/>
        </p:nvSpPr>
        <p:spPr>
          <a:xfrm>
            <a:off x="502920" y="3218688"/>
            <a:ext cx="8229600" cy="201168"/>
          </a:xfrm>
          <a:prstGeom prst="rect">
            <a:avLst/>
          </a:prstGeom>
          <a:noFill/>
          <a:ln/>
        </p:spPr>
        <p:txBody>
          <a:bodyPr wrap="square" lIns="0" tIns="0" rIns="0" bIns="0" rtlCol="0" anchor="ctr"/>
          <a:lstStyle/>
          <a:p>
            <a:pPr indent="0" marL="0">
              <a:buNone/>
            </a:pPr>
            <a:r>
              <a:rPr lang="en-US" sz="950" b="1" dirty="0">
                <a:solidFill>
                  <a:srgbClr val="12122A"/>
                </a:solidFill>
              </a:rPr>
              <a:t>Q: "Tell me about a complex DAX/data model problem you solved."</a:t>
            </a:r>
            <a:endParaRPr lang="en-US" sz="950" dirty="0"/>
          </a:p>
        </p:txBody>
      </p:sp>
      <p:sp>
        <p:nvSpPr>
          <p:cNvPr id="15" name="Text 13"/>
          <p:cNvSpPr/>
          <p:nvPr/>
        </p:nvSpPr>
        <p:spPr>
          <a:xfrm>
            <a:off x="502920" y="3438144"/>
            <a:ext cx="8229600" cy="594360"/>
          </a:xfrm>
          <a:prstGeom prst="rect">
            <a:avLst/>
          </a:prstGeom>
          <a:noFill/>
          <a:ln/>
        </p:spPr>
        <p:txBody>
          <a:bodyPr wrap="square" lIns="0" tIns="0" rIns="0" bIns="0" rtlCol="0" anchor="ctr"/>
          <a:lstStyle/>
          <a:p>
            <a:pPr indent="0" marL="0">
              <a:buNone/>
            </a:pPr>
            <a:r>
              <a:rPr lang="en-US" sz="850" dirty="0">
                <a:solidFill>
                  <a:srgbClr val="1A1A2E"/>
                </a:solidFill>
              </a:rPr>
              <a:t>S: Finance team's YoY comparison broke whenever a product was discontinued — DAX returned BLANK.</a:t>
            </a:r>
            <a:endParaRPr lang="en-US" sz="850" dirty="0"/>
          </a:p>
          <a:p>
            <a:pPr indent="0" marL="0">
              <a:buNone/>
            </a:pPr>
            <a:r>
              <a:rPr lang="en-US" sz="850" dirty="0">
                <a:solidFill>
                  <a:srgbClr val="1A1A2E"/>
                </a:solidFill>
              </a:rPr>
              <a:t>T: Fix calculation without breaking existing visuals.</a:t>
            </a:r>
            <a:endParaRPr lang="en-US" sz="850" dirty="0"/>
          </a:p>
          <a:p>
            <a:pPr indent="0" marL="0">
              <a:buNone/>
            </a:pPr>
            <a:r>
              <a:rPr lang="en-US" sz="850" dirty="0">
                <a:solidFill>
                  <a:srgbClr val="1A1A2E"/>
                </a:solidFill>
              </a:rPr>
              <a:t>A: Redesigned the date dimension to separate "active product dates" from "calendar dates" → Used USERELATIONSHIP() + TREATAS() to handle inactive relationship traversal → Added COALESCE(BLANK()) fallback.</a:t>
            </a:r>
            <a:endParaRPr lang="en-US" sz="850" dirty="0"/>
          </a:p>
          <a:p>
            <a:pPr indent="0" marL="0">
              <a:buNone/>
            </a:pPr>
            <a:r>
              <a:rPr lang="en-US" sz="850" dirty="0">
                <a:solidFill>
                  <a:srgbClr val="1A1A2E"/>
                </a:solidFill>
              </a:rPr>
              <a:t>R: Finance report accuracy improved; saved 4 hours/week of manual corrections.</a:t>
            </a:r>
            <a:endParaRPr lang="en-US" sz="850" dirty="0"/>
          </a:p>
        </p:txBody>
      </p:sp>
      <p:sp>
        <p:nvSpPr>
          <p:cNvPr id="16" name="Shape 14"/>
          <p:cNvSpPr/>
          <p:nvPr/>
        </p:nvSpPr>
        <p:spPr>
          <a:xfrm>
            <a:off x="365760" y="4142232"/>
            <a:ext cx="8412480" cy="896112"/>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7" name="Text 15"/>
          <p:cNvSpPr/>
          <p:nvPr/>
        </p:nvSpPr>
        <p:spPr>
          <a:xfrm>
            <a:off x="502920" y="4178808"/>
            <a:ext cx="8229600" cy="201168"/>
          </a:xfrm>
          <a:prstGeom prst="rect">
            <a:avLst/>
          </a:prstGeom>
          <a:noFill/>
          <a:ln/>
        </p:spPr>
        <p:txBody>
          <a:bodyPr wrap="square" lIns="0" tIns="0" rIns="0" bIns="0" rtlCol="0" anchor="ctr"/>
          <a:lstStyle/>
          <a:p>
            <a:pPr indent="0" marL="0">
              <a:buNone/>
            </a:pPr>
            <a:r>
              <a:rPr lang="en-US" sz="950" b="1" dirty="0">
                <a:solidFill>
                  <a:srgbClr val="12122A"/>
                </a:solidFill>
              </a:rPr>
              <a:t>Q: "How do you handle a stakeholder who pushes back on governance standards?"</a:t>
            </a:r>
            <a:endParaRPr lang="en-US" sz="950" dirty="0"/>
          </a:p>
        </p:txBody>
      </p:sp>
      <p:sp>
        <p:nvSpPr>
          <p:cNvPr id="18" name="Text 16"/>
          <p:cNvSpPr/>
          <p:nvPr/>
        </p:nvSpPr>
        <p:spPr>
          <a:xfrm>
            <a:off x="502920" y="4398264"/>
            <a:ext cx="8229600" cy="594360"/>
          </a:xfrm>
          <a:prstGeom prst="rect">
            <a:avLst/>
          </a:prstGeom>
          <a:noFill/>
          <a:ln/>
        </p:spPr>
        <p:txBody>
          <a:bodyPr wrap="square" lIns="0" tIns="0" rIns="0" bIns="0" rtlCol="0" anchor="ctr"/>
          <a:lstStyle/>
          <a:p>
            <a:pPr indent="0" marL="0">
              <a:buNone/>
            </a:pPr>
            <a:r>
              <a:rPr lang="en-US" sz="850" dirty="0">
                <a:solidFill>
                  <a:srgbClr val="1A1A2E"/>
                </a:solidFill>
              </a:rPr>
              <a:t>S: Senior VP wanted their team to publish directly to production workspace, bypassing Dev/Test.</a:t>
            </a:r>
            <a:endParaRPr lang="en-US" sz="850" dirty="0"/>
          </a:p>
          <a:p>
            <a:pPr indent="0" marL="0">
              <a:buNone/>
            </a:pPr>
            <a:r>
              <a:rPr lang="en-US" sz="850" dirty="0">
                <a:solidFill>
                  <a:srgbClr val="1A1A2E"/>
                </a:solidFill>
              </a:rPr>
              <a:t>T: Maintain governance integrity without damaging executive relationship.</a:t>
            </a:r>
            <a:endParaRPr lang="en-US" sz="850" dirty="0"/>
          </a:p>
          <a:p>
            <a:pPr indent="0" marL="0">
              <a:buNone/>
            </a:pPr>
            <a:r>
              <a:rPr lang="en-US" sz="850" dirty="0">
                <a:solidFill>
                  <a:srgbClr val="1A1A2E"/>
                </a:solidFill>
              </a:rPr>
              <a:t>A: Listened to understand the real need (speed-to-publish). Offered a "fast-track certification" lane: 24hr review SLA for exec-priority reports. Showed them the Deployment Pipeline — 2-click promotion.</a:t>
            </a:r>
            <a:endParaRPr lang="en-US" sz="850" dirty="0"/>
          </a:p>
          <a:p>
            <a:pPr indent="0" marL="0">
              <a:buNone/>
            </a:pPr>
            <a:r>
              <a:rPr lang="en-US" sz="850" dirty="0">
                <a:solidFill>
                  <a:srgbClr val="1A1A2E"/>
                </a:solidFill>
              </a:rPr>
              <a:t>R: VP adopted the pipeline. Became an executive sponsor of the governance program.</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Technical Mock Interview — 10 Hard Questions</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4251960" cy="795528"/>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6" name="Shape 4"/>
          <p:cNvSpPr/>
          <p:nvPr/>
        </p:nvSpPr>
        <p:spPr>
          <a:xfrm>
            <a:off x="365760" y="868680"/>
            <a:ext cx="219456" cy="219456"/>
          </a:xfrm>
          <a:prstGeom prst="rect">
            <a:avLst/>
          </a:prstGeom>
          <a:solidFill>
            <a:srgbClr val="C9A84C"/>
          </a:solidFill>
          <a:ln w="12700">
            <a:solidFill>
              <a:srgbClr val="C9A84C"/>
            </a:solidFill>
            <a:prstDash val="solid"/>
          </a:ln>
        </p:spPr>
      </p:sp>
      <p:sp>
        <p:nvSpPr>
          <p:cNvPr id="7" name="Text 5"/>
          <p:cNvSpPr/>
          <p:nvPr/>
        </p:nvSpPr>
        <p:spPr>
          <a:xfrm>
            <a:off x="365760" y="868680"/>
            <a:ext cx="219456" cy="219456"/>
          </a:xfrm>
          <a:prstGeom prst="rect">
            <a:avLst/>
          </a:prstGeom>
          <a:noFill/>
          <a:ln/>
        </p:spPr>
        <p:txBody>
          <a:bodyPr wrap="square" lIns="0" tIns="0" rIns="0" bIns="0" rtlCol="0" anchor="ctr"/>
          <a:lstStyle/>
          <a:p>
            <a:pPr algn="ctr" indent="0" marL="0">
              <a:buNone/>
            </a:pPr>
            <a:r>
              <a:rPr lang="en-US" sz="900" b="1" dirty="0">
                <a:solidFill>
                  <a:srgbClr val="12122A"/>
                </a:solidFill>
              </a:rPr>
              <a:t>1</a:t>
            </a:r>
            <a:endParaRPr lang="en-US" sz="900" dirty="0"/>
          </a:p>
        </p:txBody>
      </p:sp>
      <p:sp>
        <p:nvSpPr>
          <p:cNvPr id="8" name="Text 6"/>
          <p:cNvSpPr/>
          <p:nvPr/>
        </p:nvSpPr>
        <p:spPr>
          <a:xfrm>
            <a:off x="640080" y="886968"/>
            <a:ext cx="3886200" cy="182880"/>
          </a:xfrm>
          <a:prstGeom prst="rect">
            <a:avLst/>
          </a:prstGeom>
          <a:noFill/>
          <a:ln/>
        </p:spPr>
        <p:txBody>
          <a:bodyPr wrap="square" lIns="0" tIns="0" rIns="0" bIns="0" rtlCol="0" anchor="ctr"/>
          <a:lstStyle/>
          <a:p>
            <a:pPr indent="0" marL="0">
              <a:buNone/>
            </a:pPr>
            <a:r>
              <a:rPr lang="en-US" sz="850" b="1" dirty="0">
                <a:solidFill>
                  <a:srgbClr val="1A1A2E"/>
                </a:solidFill>
              </a:rPr>
              <a:t>What's the difference between CALCULATE and FILTER?</a:t>
            </a:r>
            <a:endParaRPr lang="en-US" sz="850" dirty="0"/>
          </a:p>
        </p:txBody>
      </p:sp>
      <p:sp>
        <p:nvSpPr>
          <p:cNvPr id="9" name="Text 7"/>
          <p:cNvSpPr/>
          <p:nvPr/>
        </p:nvSpPr>
        <p:spPr>
          <a:xfrm>
            <a:off x="457200" y="1088136"/>
            <a:ext cx="4069080" cy="530352"/>
          </a:xfrm>
          <a:prstGeom prst="rect">
            <a:avLst/>
          </a:prstGeom>
          <a:noFill/>
          <a:ln/>
        </p:spPr>
        <p:txBody>
          <a:bodyPr wrap="square" lIns="0" tIns="0" rIns="0" bIns="0" rtlCol="0" anchor="ctr"/>
          <a:lstStyle/>
          <a:p>
            <a:pPr indent="0" marL="0">
              <a:buNone/>
            </a:pPr>
            <a:r>
              <a:rPr lang="en-US" sz="800" dirty="0">
                <a:solidFill>
                  <a:srgbClr val="6B7280"/>
                </a:solidFill>
              </a:rPr>
              <a:t>CALCULATE modifies the filter context and evaluates an expression inside it. FILTER returns a table — it's an iterator, not a context modifier. Using FILTER(ALL(Table), ...) inside CALCULATE is common but use it only on calculated columns or when necessary; it's slow on large tables.</a:t>
            </a:r>
            <a:endParaRPr lang="en-US" sz="800" dirty="0"/>
          </a:p>
        </p:txBody>
      </p:sp>
      <p:sp>
        <p:nvSpPr>
          <p:cNvPr id="10" name="Shape 8"/>
          <p:cNvSpPr/>
          <p:nvPr/>
        </p:nvSpPr>
        <p:spPr>
          <a:xfrm>
            <a:off x="4800600" y="868680"/>
            <a:ext cx="4251960" cy="795528"/>
          </a:xfrm>
          <a:prstGeom prst="rect">
            <a:avLst/>
          </a:prstGeom>
          <a:solidFill>
            <a:srgbClr val="FEF5E7"/>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1" name="Shape 9"/>
          <p:cNvSpPr/>
          <p:nvPr/>
        </p:nvSpPr>
        <p:spPr>
          <a:xfrm>
            <a:off x="4800600" y="868680"/>
            <a:ext cx="219456" cy="219456"/>
          </a:xfrm>
          <a:prstGeom prst="rect">
            <a:avLst/>
          </a:prstGeom>
          <a:solidFill>
            <a:srgbClr val="C9A84C"/>
          </a:solidFill>
          <a:ln w="12700">
            <a:solidFill>
              <a:srgbClr val="C9A84C"/>
            </a:solidFill>
            <a:prstDash val="solid"/>
          </a:ln>
        </p:spPr>
      </p:sp>
      <p:sp>
        <p:nvSpPr>
          <p:cNvPr id="12" name="Text 10"/>
          <p:cNvSpPr/>
          <p:nvPr/>
        </p:nvSpPr>
        <p:spPr>
          <a:xfrm>
            <a:off x="4800600" y="868680"/>
            <a:ext cx="219456" cy="219456"/>
          </a:xfrm>
          <a:prstGeom prst="rect">
            <a:avLst/>
          </a:prstGeom>
          <a:noFill/>
          <a:ln/>
        </p:spPr>
        <p:txBody>
          <a:bodyPr wrap="square" lIns="0" tIns="0" rIns="0" bIns="0" rtlCol="0" anchor="ctr"/>
          <a:lstStyle/>
          <a:p>
            <a:pPr algn="ctr" indent="0" marL="0">
              <a:buNone/>
            </a:pPr>
            <a:r>
              <a:rPr lang="en-US" sz="900" b="1" dirty="0">
                <a:solidFill>
                  <a:srgbClr val="12122A"/>
                </a:solidFill>
              </a:rPr>
              <a:t>2</a:t>
            </a:r>
            <a:endParaRPr lang="en-US" sz="900" dirty="0"/>
          </a:p>
        </p:txBody>
      </p:sp>
      <p:sp>
        <p:nvSpPr>
          <p:cNvPr id="13" name="Text 11"/>
          <p:cNvSpPr/>
          <p:nvPr/>
        </p:nvSpPr>
        <p:spPr>
          <a:xfrm>
            <a:off x="5074920" y="886968"/>
            <a:ext cx="3886200" cy="182880"/>
          </a:xfrm>
          <a:prstGeom prst="rect">
            <a:avLst/>
          </a:prstGeom>
          <a:noFill/>
          <a:ln/>
        </p:spPr>
        <p:txBody>
          <a:bodyPr wrap="square" lIns="0" tIns="0" rIns="0" bIns="0" rtlCol="0" anchor="ctr"/>
          <a:lstStyle/>
          <a:p>
            <a:pPr indent="0" marL="0">
              <a:buNone/>
            </a:pPr>
            <a:r>
              <a:rPr lang="en-US" sz="850" b="1" dirty="0">
                <a:solidFill>
                  <a:srgbClr val="1A1A2E"/>
                </a:solidFill>
              </a:rPr>
              <a:t>When would you use a Composite model vs. pure Import?</a:t>
            </a:r>
            <a:endParaRPr lang="en-US" sz="850" dirty="0"/>
          </a:p>
        </p:txBody>
      </p:sp>
      <p:sp>
        <p:nvSpPr>
          <p:cNvPr id="14" name="Text 12"/>
          <p:cNvSpPr/>
          <p:nvPr/>
        </p:nvSpPr>
        <p:spPr>
          <a:xfrm>
            <a:off x="4892040" y="1088136"/>
            <a:ext cx="4069080" cy="530352"/>
          </a:xfrm>
          <a:prstGeom prst="rect">
            <a:avLst/>
          </a:prstGeom>
          <a:noFill/>
          <a:ln/>
        </p:spPr>
        <p:txBody>
          <a:bodyPr wrap="square" lIns="0" tIns="0" rIns="0" bIns="0" rtlCol="0" anchor="ctr"/>
          <a:lstStyle/>
          <a:p>
            <a:pPr indent="0" marL="0">
              <a:buNone/>
            </a:pPr>
            <a:r>
              <a:rPr lang="en-US" sz="800" dirty="0">
                <a:solidFill>
                  <a:srgbClr val="6B7280"/>
                </a:solidFill>
              </a:rPr>
              <a:t>Use Composite when you need near-real-time data for some visuals but can pre-aggregate others. Example: Import daily sales summaries + DirectQuery live transaction details. This avoids the performance cost of full DQ while keeping freshness.</a:t>
            </a:r>
            <a:endParaRPr lang="en-US" sz="800" dirty="0"/>
          </a:p>
        </p:txBody>
      </p:sp>
      <p:sp>
        <p:nvSpPr>
          <p:cNvPr id="15" name="Shape 13"/>
          <p:cNvSpPr/>
          <p:nvPr/>
        </p:nvSpPr>
        <p:spPr>
          <a:xfrm>
            <a:off x="365760" y="1719072"/>
            <a:ext cx="4251960" cy="795528"/>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6" name="Shape 14"/>
          <p:cNvSpPr/>
          <p:nvPr/>
        </p:nvSpPr>
        <p:spPr>
          <a:xfrm>
            <a:off x="365760" y="1719072"/>
            <a:ext cx="219456" cy="219456"/>
          </a:xfrm>
          <a:prstGeom prst="rect">
            <a:avLst/>
          </a:prstGeom>
          <a:solidFill>
            <a:srgbClr val="C9A84C"/>
          </a:solidFill>
          <a:ln w="12700">
            <a:solidFill>
              <a:srgbClr val="C9A84C"/>
            </a:solidFill>
            <a:prstDash val="solid"/>
          </a:ln>
        </p:spPr>
      </p:sp>
      <p:sp>
        <p:nvSpPr>
          <p:cNvPr id="17" name="Text 15"/>
          <p:cNvSpPr/>
          <p:nvPr/>
        </p:nvSpPr>
        <p:spPr>
          <a:xfrm>
            <a:off x="365760" y="1719072"/>
            <a:ext cx="219456" cy="219456"/>
          </a:xfrm>
          <a:prstGeom prst="rect">
            <a:avLst/>
          </a:prstGeom>
          <a:noFill/>
          <a:ln/>
        </p:spPr>
        <p:txBody>
          <a:bodyPr wrap="square" lIns="0" tIns="0" rIns="0" bIns="0" rtlCol="0" anchor="ctr"/>
          <a:lstStyle/>
          <a:p>
            <a:pPr algn="ctr" indent="0" marL="0">
              <a:buNone/>
            </a:pPr>
            <a:r>
              <a:rPr lang="en-US" sz="900" b="1" dirty="0">
                <a:solidFill>
                  <a:srgbClr val="12122A"/>
                </a:solidFill>
              </a:rPr>
              <a:t>3</a:t>
            </a:r>
            <a:endParaRPr lang="en-US" sz="900" dirty="0"/>
          </a:p>
        </p:txBody>
      </p:sp>
      <p:sp>
        <p:nvSpPr>
          <p:cNvPr id="18" name="Text 16"/>
          <p:cNvSpPr/>
          <p:nvPr/>
        </p:nvSpPr>
        <p:spPr>
          <a:xfrm>
            <a:off x="640080" y="1737360"/>
            <a:ext cx="3886200" cy="182880"/>
          </a:xfrm>
          <a:prstGeom prst="rect">
            <a:avLst/>
          </a:prstGeom>
          <a:noFill/>
          <a:ln/>
        </p:spPr>
        <p:txBody>
          <a:bodyPr wrap="square" lIns="0" tIns="0" rIns="0" bIns="0" rtlCol="0" anchor="ctr"/>
          <a:lstStyle/>
          <a:p>
            <a:pPr indent="0" marL="0">
              <a:buNone/>
            </a:pPr>
            <a:r>
              <a:rPr lang="en-US" sz="850" b="1" dirty="0">
                <a:solidFill>
                  <a:srgbClr val="1A1A2E"/>
                </a:solidFill>
              </a:rPr>
              <a:t>How do you implement dynamic Row-Level Security?</a:t>
            </a:r>
            <a:endParaRPr lang="en-US" sz="850" dirty="0"/>
          </a:p>
        </p:txBody>
      </p:sp>
      <p:sp>
        <p:nvSpPr>
          <p:cNvPr id="19" name="Text 17"/>
          <p:cNvSpPr/>
          <p:nvPr/>
        </p:nvSpPr>
        <p:spPr>
          <a:xfrm>
            <a:off x="457200" y="1938528"/>
            <a:ext cx="4069080" cy="530352"/>
          </a:xfrm>
          <a:prstGeom prst="rect">
            <a:avLst/>
          </a:prstGeom>
          <a:noFill/>
          <a:ln/>
        </p:spPr>
        <p:txBody>
          <a:bodyPr wrap="square" lIns="0" tIns="0" rIns="0" bIns="0" rtlCol="0" anchor="ctr"/>
          <a:lstStyle/>
          <a:p>
            <a:pPr indent="0" marL="0">
              <a:buNone/>
            </a:pPr>
            <a:r>
              <a:rPr lang="en-US" sz="800" dirty="0">
                <a:solidFill>
                  <a:srgbClr val="6B7280"/>
                </a:solidFill>
              </a:rPr>
              <a:t>Create a security mapping table (User → Region/Entity). In DAX RLS rule: PATHCONTAINS(LOOKUPVALUE(SecurityMap[Regions], SecurityMap[UserEmail], USERPRINCIPALNAME()), [Region]). Test via "View as Role" in Power BI Desktop.</a:t>
            </a:r>
            <a:endParaRPr lang="en-US" sz="800" dirty="0"/>
          </a:p>
        </p:txBody>
      </p:sp>
      <p:sp>
        <p:nvSpPr>
          <p:cNvPr id="20" name="Shape 18"/>
          <p:cNvSpPr/>
          <p:nvPr/>
        </p:nvSpPr>
        <p:spPr>
          <a:xfrm>
            <a:off x="4800600" y="1719072"/>
            <a:ext cx="4251960" cy="795528"/>
          </a:xfrm>
          <a:prstGeom prst="rect">
            <a:avLst/>
          </a:prstGeom>
          <a:solidFill>
            <a:srgbClr val="FEF5E7"/>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21" name="Shape 19"/>
          <p:cNvSpPr/>
          <p:nvPr/>
        </p:nvSpPr>
        <p:spPr>
          <a:xfrm>
            <a:off x="4800600" y="1719072"/>
            <a:ext cx="219456" cy="219456"/>
          </a:xfrm>
          <a:prstGeom prst="rect">
            <a:avLst/>
          </a:prstGeom>
          <a:solidFill>
            <a:srgbClr val="C9A84C"/>
          </a:solidFill>
          <a:ln w="12700">
            <a:solidFill>
              <a:srgbClr val="C9A84C"/>
            </a:solidFill>
            <a:prstDash val="solid"/>
          </a:ln>
        </p:spPr>
      </p:sp>
      <p:sp>
        <p:nvSpPr>
          <p:cNvPr id="22" name="Text 20"/>
          <p:cNvSpPr/>
          <p:nvPr/>
        </p:nvSpPr>
        <p:spPr>
          <a:xfrm>
            <a:off x="4800600" y="1719072"/>
            <a:ext cx="219456" cy="219456"/>
          </a:xfrm>
          <a:prstGeom prst="rect">
            <a:avLst/>
          </a:prstGeom>
          <a:noFill/>
          <a:ln/>
        </p:spPr>
        <p:txBody>
          <a:bodyPr wrap="square" lIns="0" tIns="0" rIns="0" bIns="0" rtlCol="0" anchor="ctr"/>
          <a:lstStyle/>
          <a:p>
            <a:pPr algn="ctr" indent="0" marL="0">
              <a:buNone/>
            </a:pPr>
            <a:r>
              <a:rPr lang="en-US" sz="900" b="1" dirty="0">
                <a:solidFill>
                  <a:srgbClr val="12122A"/>
                </a:solidFill>
              </a:rPr>
              <a:t>4</a:t>
            </a:r>
            <a:endParaRPr lang="en-US" sz="900" dirty="0"/>
          </a:p>
        </p:txBody>
      </p:sp>
      <p:sp>
        <p:nvSpPr>
          <p:cNvPr id="23" name="Text 21"/>
          <p:cNvSpPr/>
          <p:nvPr/>
        </p:nvSpPr>
        <p:spPr>
          <a:xfrm>
            <a:off x="5074920" y="1737360"/>
            <a:ext cx="3886200" cy="182880"/>
          </a:xfrm>
          <a:prstGeom prst="rect">
            <a:avLst/>
          </a:prstGeom>
          <a:noFill/>
          <a:ln/>
        </p:spPr>
        <p:txBody>
          <a:bodyPr wrap="square" lIns="0" tIns="0" rIns="0" bIns="0" rtlCol="0" anchor="ctr"/>
          <a:lstStyle/>
          <a:p>
            <a:pPr indent="0" marL="0">
              <a:buNone/>
            </a:pPr>
            <a:r>
              <a:rPr lang="en-US" sz="850" b="1" dirty="0">
                <a:solidFill>
                  <a:srgbClr val="1A1A2E"/>
                </a:solidFill>
              </a:rPr>
              <a:t>What causes high memory pressure in Premium Capacity?</a:t>
            </a:r>
            <a:endParaRPr lang="en-US" sz="850" dirty="0"/>
          </a:p>
        </p:txBody>
      </p:sp>
      <p:sp>
        <p:nvSpPr>
          <p:cNvPr id="24" name="Text 22"/>
          <p:cNvSpPr/>
          <p:nvPr/>
        </p:nvSpPr>
        <p:spPr>
          <a:xfrm>
            <a:off x="4892040" y="1938528"/>
            <a:ext cx="4069080" cy="530352"/>
          </a:xfrm>
          <a:prstGeom prst="rect">
            <a:avLst/>
          </a:prstGeom>
          <a:noFill/>
          <a:ln/>
        </p:spPr>
        <p:txBody>
          <a:bodyPr wrap="square" lIns="0" tIns="0" rIns="0" bIns="0" rtlCol="0" anchor="ctr"/>
          <a:lstStyle/>
          <a:p>
            <a:pPr indent="0" marL="0">
              <a:buNone/>
            </a:pPr>
            <a:r>
              <a:rPr lang="en-US" sz="800" dirty="0">
                <a:solidFill>
                  <a:srgbClr val="6B7280"/>
                </a:solidFill>
              </a:rPr>
              <a:t>Large Import datasets, many concurrent users loading datasets simultaneously, unoptimized models with high-cardinality columns or calculated columns. Fix: reduce model size, use aggregation tables, enable dataset caching, or upgrade SKU.</a:t>
            </a:r>
            <a:endParaRPr lang="en-US" sz="800" dirty="0"/>
          </a:p>
        </p:txBody>
      </p:sp>
      <p:sp>
        <p:nvSpPr>
          <p:cNvPr id="25" name="Shape 23"/>
          <p:cNvSpPr/>
          <p:nvPr/>
        </p:nvSpPr>
        <p:spPr>
          <a:xfrm>
            <a:off x="365760" y="2569464"/>
            <a:ext cx="4251960" cy="795528"/>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26" name="Shape 24"/>
          <p:cNvSpPr/>
          <p:nvPr/>
        </p:nvSpPr>
        <p:spPr>
          <a:xfrm>
            <a:off x="365760" y="2569464"/>
            <a:ext cx="219456" cy="219456"/>
          </a:xfrm>
          <a:prstGeom prst="rect">
            <a:avLst/>
          </a:prstGeom>
          <a:solidFill>
            <a:srgbClr val="C9A84C"/>
          </a:solidFill>
          <a:ln w="12700">
            <a:solidFill>
              <a:srgbClr val="C9A84C"/>
            </a:solidFill>
            <a:prstDash val="solid"/>
          </a:ln>
        </p:spPr>
      </p:sp>
      <p:sp>
        <p:nvSpPr>
          <p:cNvPr id="27" name="Text 25"/>
          <p:cNvSpPr/>
          <p:nvPr/>
        </p:nvSpPr>
        <p:spPr>
          <a:xfrm>
            <a:off x="365760" y="2569464"/>
            <a:ext cx="219456" cy="219456"/>
          </a:xfrm>
          <a:prstGeom prst="rect">
            <a:avLst/>
          </a:prstGeom>
          <a:noFill/>
          <a:ln/>
        </p:spPr>
        <p:txBody>
          <a:bodyPr wrap="square" lIns="0" tIns="0" rIns="0" bIns="0" rtlCol="0" anchor="ctr"/>
          <a:lstStyle/>
          <a:p>
            <a:pPr algn="ctr" indent="0" marL="0">
              <a:buNone/>
            </a:pPr>
            <a:r>
              <a:rPr lang="en-US" sz="900" b="1" dirty="0">
                <a:solidFill>
                  <a:srgbClr val="12122A"/>
                </a:solidFill>
              </a:rPr>
              <a:t>5</a:t>
            </a:r>
            <a:endParaRPr lang="en-US" sz="900" dirty="0"/>
          </a:p>
        </p:txBody>
      </p:sp>
      <p:sp>
        <p:nvSpPr>
          <p:cNvPr id="28" name="Text 26"/>
          <p:cNvSpPr/>
          <p:nvPr/>
        </p:nvSpPr>
        <p:spPr>
          <a:xfrm>
            <a:off x="640080" y="2587752"/>
            <a:ext cx="3886200" cy="182880"/>
          </a:xfrm>
          <a:prstGeom prst="rect">
            <a:avLst/>
          </a:prstGeom>
          <a:noFill/>
          <a:ln/>
        </p:spPr>
        <p:txBody>
          <a:bodyPr wrap="square" lIns="0" tIns="0" rIns="0" bIns="0" rtlCol="0" anchor="ctr"/>
          <a:lstStyle/>
          <a:p>
            <a:pPr indent="0" marL="0">
              <a:buNone/>
            </a:pPr>
            <a:r>
              <a:rPr lang="en-US" sz="850" b="1" dirty="0">
                <a:solidFill>
                  <a:srgbClr val="1A1A2E"/>
                </a:solidFill>
              </a:rPr>
              <a:t>How do you optimize a slow BigQuery query?</a:t>
            </a:r>
            <a:endParaRPr lang="en-US" sz="850" dirty="0"/>
          </a:p>
        </p:txBody>
      </p:sp>
      <p:sp>
        <p:nvSpPr>
          <p:cNvPr id="29" name="Text 27"/>
          <p:cNvSpPr/>
          <p:nvPr/>
        </p:nvSpPr>
        <p:spPr>
          <a:xfrm>
            <a:off x="457200" y="2788920"/>
            <a:ext cx="4069080" cy="530352"/>
          </a:xfrm>
          <a:prstGeom prst="rect">
            <a:avLst/>
          </a:prstGeom>
          <a:noFill/>
          <a:ln/>
        </p:spPr>
        <p:txBody>
          <a:bodyPr wrap="square" lIns="0" tIns="0" rIns="0" bIns="0" rtlCol="0" anchor="ctr"/>
          <a:lstStyle/>
          <a:p>
            <a:pPr indent="0" marL="0">
              <a:buNone/>
            </a:pPr>
            <a:r>
              <a:rPr lang="en-US" sz="800" dirty="0">
                <a:solidFill>
                  <a:srgbClr val="6B7280"/>
                </a:solidFill>
              </a:rPr>
              <a:t>Check query plan in BQ console. Ensure WHERE clause filters on partitioned column (avoids full scan). Use clustering on high-cardinality filter columns. Avoid SELECT *. Use materialized views for complex aggregations. APPROX_COUNT_DISTINCT vs COUNT(DISTINCT) for speed.</a:t>
            </a:r>
            <a:endParaRPr lang="en-US" sz="800" dirty="0"/>
          </a:p>
        </p:txBody>
      </p:sp>
      <p:sp>
        <p:nvSpPr>
          <p:cNvPr id="30" name="Shape 28"/>
          <p:cNvSpPr/>
          <p:nvPr/>
        </p:nvSpPr>
        <p:spPr>
          <a:xfrm>
            <a:off x="4800600" y="2569464"/>
            <a:ext cx="4251960" cy="795528"/>
          </a:xfrm>
          <a:prstGeom prst="rect">
            <a:avLst/>
          </a:prstGeom>
          <a:solidFill>
            <a:srgbClr val="FEF5E7"/>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31" name="Shape 29"/>
          <p:cNvSpPr/>
          <p:nvPr/>
        </p:nvSpPr>
        <p:spPr>
          <a:xfrm>
            <a:off x="4800600" y="2569464"/>
            <a:ext cx="219456" cy="219456"/>
          </a:xfrm>
          <a:prstGeom prst="rect">
            <a:avLst/>
          </a:prstGeom>
          <a:solidFill>
            <a:srgbClr val="C9A84C"/>
          </a:solidFill>
          <a:ln w="12700">
            <a:solidFill>
              <a:srgbClr val="C9A84C"/>
            </a:solidFill>
            <a:prstDash val="solid"/>
          </a:ln>
        </p:spPr>
      </p:sp>
      <p:sp>
        <p:nvSpPr>
          <p:cNvPr id="32" name="Text 30"/>
          <p:cNvSpPr/>
          <p:nvPr/>
        </p:nvSpPr>
        <p:spPr>
          <a:xfrm>
            <a:off x="4800600" y="2569464"/>
            <a:ext cx="219456" cy="219456"/>
          </a:xfrm>
          <a:prstGeom prst="rect">
            <a:avLst/>
          </a:prstGeom>
          <a:noFill/>
          <a:ln/>
        </p:spPr>
        <p:txBody>
          <a:bodyPr wrap="square" lIns="0" tIns="0" rIns="0" bIns="0" rtlCol="0" anchor="ctr"/>
          <a:lstStyle/>
          <a:p>
            <a:pPr algn="ctr" indent="0" marL="0">
              <a:buNone/>
            </a:pPr>
            <a:r>
              <a:rPr lang="en-US" sz="900" b="1" dirty="0">
                <a:solidFill>
                  <a:srgbClr val="12122A"/>
                </a:solidFill>
              </a:rPr>
              <a:t>6</a:t>
            </a:r>
            <a:endParaRPr lang="en-US" sz="900" dirty="0"/>
          </a:p>
        </p:txBody>
      </p:sp>
      <p:sp>
        <p:nvSpPr>
          <p:cNvPr id="33" name="Text 31"/>
          <p:cNvSpPr/>
          <p:nvPr/>
        </p:nvSpPr>
        <p:spPr>
          <a:xfrm>
            <a:off x="5074920" y="2587752"/>
            <a:ext cx="3886200" cy="182880"/>
          </a:xfrm>
          <a:prstGeom prst="rect">
            <a:avLst/>
          </a:prstGeom>
          <a:noFill/>
          <a:ln/>
        </p:spPr>
        <p:txBody>
          <a:bodyPr wrap="square" lIns="0" tIns="0" rIns="0" bIns="0" rtlCol="0" anchor="ctr"/>
          <a:lstStyle/>
          <a:p>
            <a:pPr indent="0" marL="0">
              <a:buNone/>
            </a:pPr>
            <a:r>
              <a:rPr lang="en-US" sz="850" b="1" dirty="0">
                <a:solidFill>
                  <a:srgbClr val="1A1A2E"/>
                </a:solidFill>
              </a:rPr>
              <a:t>How would you structure workspaces for LATAM with 5 countries?</a:t>
            </a:r>
            <a:endParaRPr lang="en-US" sz="850" dirty="0"/>
          </a:p>
        </p:txBody>
      </p:sp>
      <p:sp>
        <p:nvSpPr>
          <p:cNvPr id="34" name="Text 32"/>
          <p:cNvSpPr/>
          <p:nvPr/>
        </p:nvSpPr>
        <p:spPr>
          <a:xfrm>
            <a:off x="4892040" y="2788920"/>
            <a:ext cx="4069080" cy="530352"/>
          </a:xfrm>
          <a:prstGeom prst="rect">
            <a:avLst/>
          </a:prstGeom>
          <a:noFill/>
          <a:ln/>
        </p:spPr>
        <p:txBody>
          <a:bodyPr wrap="square" lIns="0" tIns="0" rIns="0" bIns="0" rtlCol="0" anchor="ctr"/>
          <a:lstStyle/>
          <a:p>
            <a:pPr indent="0" marL="0">
              <a:buNone/>
            </a:pPr>
            <a:r>
              <a:rPr lang="en-US" sz="800" dirty="0">
                <a:solidFill>
                  <a:srgbClr val="6B7280"/>
                </a:solidFill>
              </a:rPr>
              <a:t>Hub-spoke: one central "LATAM Platform" workspace with certified shared datasets. Per-country workspaces for local reports with dataset live connections back to hub. Deployment pipelines per workspace. RLS enforces country-level access.</a:t>
            </a:r>
            <a:endParaRPr lang="en-US" sz="800" dirty="0"/>
          </a:p>
        </p:txBody>
      </p:sp>
      <p:sp>
        <p:nvSpPr>
          <p:cNvPr id="35" name="Shape 33"/>
          <p:cNvSpPr/>
          <p:nvPr/>
        </p:nvSpPr>
        <p:spPr>
          <a:xfrm>
            <a:off x="365760" y="3419856"/>
            <a:ext cx="4251960" cy="795528"/>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36" name="Shape 34"/>
          <p:cNvSpPr/>
          <p:nvPr/>
        </p:nvSpPr>
        <p:spPr>
          <a:xfrm>
            <a:off x="365760" y="3419856"/>
            <a:ext cx="219456" cy="219456"/>
          </a:xfrm>
          <a:prstGeom prst="rect">
            <a:avLst/>
          </a:prstGeom>
          <a:solidFill>
            <a:srgbClr val="C9A84C"/>
          </a:solidFill>
          <a:ln w="12700">
            <a:solidFill>
              <a:srgbClr val="C9A84C"/>
            </a:solidFill>
            <a:prstDash val="solid"/>
          </a:ln>
        </p:spPr>
      </p:sp>
      <p:sp>
        <p:nvSpPr>
          <p:cNvPr id="37" name="Text 35"/>
          <p:cNvSpPr/>
          <p:nvPr/>
        </p:nvSpPr>
        <p:spPr>
          <a:xfrm>
            <a:off x="365760" y="3419856"/>
            <a:ext cx="219456" cy="219456"/>
          </a:xfrm>
          <a:prstGeom prst="rect">
            <a:avLst/>
          </a:prstGeom>
          <a:noFill/>
          <a:ln/>
        </p:spPr>
        <p:txBody>
          <a:bodyPr wrap="square" lIns="0" tIns="0" rIns="0" bIns="0" rtlCol="0" anchor="ctr"/>
          <a:lstStyle/>
          <a:p>
            <a:pPr algn="ctr" indent="0" marL="0">
              <a:buNone/>
            </a:pPr>
            <a:r>
              <a:rPr lang="en-US" sz="900" b="1" dirty="0">
                <a:solidFill>
                  <a:srgbClr val="12122A"/>
                </a:solidFill>
              </a:rPr>
              <a:t>7</a:t>
            </a:r>
            <a:endParaRPr lang="en-US" sz="900" dirty="0"/>
          </a:p>
        </p:txBody>
      </p:sp>
      <p:sp>
        <p:nvSpPr>
          <p:cNvPr id="38" name="Text 36"/>
          <p:cNvSpPr/>
          <p:nvPr/>
        </p:nvSpPr>
        <p:spPr>
          <a:xfrm>
            <a:off x="640080" y="3438144"/>
            <a:ext cx="3886200" cy="182880"/>
          </a:xfrm>
          <a:prstGeom prst="rect">
            <a:avLst/>
          </a:prstGeom>
          <a:noFill/>
          <a:ln/>
        </p:spPr>
        <p:txBody>
          <a:bodyPr wrap="square" lIns="0" tIns="0" rIns="0" bIns="0" rtlCol="0" anchor="ctr"/>
          <a:lstStyle/>
          <a:p>
            <a:pPr indent="0" marL="0">
              <a:buNone/>
            </a:pPr>
            <a:r>
              <a:rPr lang="en-US" sz="850" b="1" dirty="0">
                <a:solidFill>
                  <a:srgbClr val="1A1A2E"/>
                </a:solidFill>
              </a:rPr>
              <a:t>What's incremental refresh and when do you use it?</a:t>
            </a:r>
            <a:endParaRPr lang="en-US" sz="850" dirty="0"/>
          </a:p>
        </p:txBody>
      </p:sp>
      <p:sp>
        <p:nvSpPr>
          <p:cNvPr id="39" name="Text 37"/>
          <p:cNvSpPr/>
          <p:nvPr/>
        </p:nvSpPr>
        <p:spPr>
          <a:xfrm>
            <a:off x="457200" y="3639312"/>
            <a:ext cx="4069080" cy="530352"/>
          </a:xfrm>
          <a:prstGeom prst="rect">
            <a:avLst/>
          </a:prstGeom>
          <a:noFill/>
          <a:ln/>
        </p:spPr>
        <p:txBody>
          <a:bodyPr wrap="square" lIns="0" tIns="0" rIns="0" bIns="0" rtlCol="0" anchor="ctr"/>
          <a:lstStyle/>
          <a:p>
            <a:pPr indent="0" marL="0">
              <a:buNone/>
            </a:pPr>
            <a:r>
              <a:rPr lang="en-US" sz="800" dirty="0">
                <a:solidFill>
                  <a:srgbClr val="6B7280"/>
                </a:solidFill>
              </a:rPr>
              <a:t>Incremental refresh fetches only new/changed data based on a date range, keeping historical data cached. Use when tables have 10M+ rows and scheduled full refresh would take too long or hit memory limits. Requires Premium for the historical partition splitting.</a:t>
            </a:r>
            <a:endParaRPr lang="en-US" sz="800" dirty="0"/>
          </a:p>
        </p:txBody>
      </p:sp>
      <p:sp>
        <p:nvSpPr>
          <p:cNvPr id="40" name="Shape 38"/>
          <p:cNvSpPr/>
          <p:nvPr/>
        </p:nvSpPr>
        <p:spPr>
          <a:xfrm>
            <a:off x="4800600" y="3419856"/>
            <a:ext cx="4251960" cy="795528"/>
          </a:xfrm>
          <a:prstGeom prst="rect">
            <a:avLst/>
          </a:prstGeom>
          <a:solidFill>
            <a:srgbClr val="FEF5E7"/>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41" name="Shape 39"/>
          <p:cNvSpPr/>
          <p:nvPr/>
        </p:nvSpPr>
        <p:spPr>
          <a:xfrm>
            <a:off x="4800600" y="3419856"/>
            <a:ext cx="219456" cy="219456"/>
          </a:xfrm>
          <a:prstGeom prst="rect">
            <a:avLst/>
          </a:prstGeom>
          <a:solidFill>
            <a:srgbClr val="C9A84C"/>
          </a:solidFill>
          <a:ln w="12700">
            <a:solidFill>
              <a:srgbClr val="C9A84C"/>
            </a:solidFill>
            <a:prstDash val="solid"/>
          </a:ln>
        </p:spPr>
      </p:sp>
      <p:sp>
        <p:nvSpPr>
          <p:cNvPr id="42" name="Text 40"/>
          <p:cNvSpPr/>
          <p:nvPr/>
        </p:nvSpPr>
        <p:spPr>
          <a:xfrm>
            <a:off x="4800600" y="3419856"/>
            <a:ext cx="219456" cy="219456"/>
          </a:xfrm>
          <a:prstGeom prst="rect">
            <a:avLst/>
          </a:prstGeom>
          <a:noFill/>
          <a:ln/>
        </p:spPr>
        <p:txBody>
          <a:bodyPr wrap="square" lIns="0" tIns="0" rIns="0" bIns="0" rtlCol="0" anchor="ctr"/>
          <a:lstStyle/>
          <a:p>
            <a:pPr algn="ctr" indent="0" marL="0">
              <a:buNone/>
            </a:pPr>
            <a:r>
              <a:rPr lang="en-US" sz="900" b="1" dirty="0">
                <a:solidFill>
                  <a:srgbClr val="12122A"/>
                </a:solidFill>
              </a:rPr>
              <a:t>8</a:t>
            </a:r>
            <a:endParaRPr lang="en-US" sz="900" dirty="0"/>
          </a:p>
        </p:txBody>
      </p:sp>
      <p:sp>
        <p:nvSpPr>
          <p:cNvPr id="43" name="Text 41"/>
          <p:cNvSpPr/>
          <p:nvPr/>
        </p:nvSpPr>
        <p:spPr>
          <a:xfrm>
            <a:off x="5074920" y="3438144"/>
            <a:ext cx="3886200" cy="182880"/>
          </a:xfrm>
          <a:prstGeom prst="rect">
            <a:avLst/>
          </a:prstGeom>
          <a:noFill/>
          <a:ln/>
        </p:spPr>
        <p:txBody>
          <a:bodyPr wrap="square" lIns="0" tIns="0" rIns="0" bIns="0" rtlCol="0" anchor="ctr"/>
          <a:lstStyle/>
          <a:p>
            <a:pPr indent="0" marL="0">
              <a:buNone/>
            </a:pPr>
            <a:r>
              <a:rPr lang="en-US" sz="850" b="1" dirty="0">
                <a:solidFill>
                  <a:srgbClr val="1A1A2E"/>
                </a:solidFill>
              </a:rPr>
              <a:t>A report works in Power BI Desktop but fails in Service. Why?</a:t>
            </a:r>
            <a:endParaRPr lang="en-US" sz="850" dirty="0"/>
          </a:p>
        </p:txBody>
      </p:sp>
      <p:sp>
        <p:nvSpPr>
          <p:cNvPr id="44" name="Text 42"/>
          <p:cNvSpPr/>
          <p:nvPr/>
        </p:nvSpPr>
        <p:spPr>
          <a:xfrm>
            <a:off x="4892040" y="3639312"/>
            <a:ext cx="4069080" cy="530352"/>
          </a:xfrm>
          <a:prstGeom prst="rect">
            <a:avLst/>
          </a:prstGeom>
          <a:noFill/>
          <a:ln/>
        </p:spPr>
        <p:txBody>
          <a:bodyPr wrap="square" lIns="0" tIns="0" rIns="0" bIns="0" rtlCol="0" anchor="ctr"/>
          <a:lstStyle/>
          <a:p>
            <a:pPr indent="0" marL="0">
              <a:buNone/>
            </a:pPr>
            <a:r>
              <a:rPr lang="en-US" sz="800" dirty="0">
                <a:solidFill>
                  <a:srgbClr val="6B7280"/>
                </a:solidFill>
              </a:rPr>
              <a:t>Common causes: (1) Gateway not configured for on-prem/private data source, (2) credentials not set in Service, (3) Query contains relative paths valid locally only, (4) Privacy level mismatch blocking data combination, (5) Clock skew on dataset refresh.</a:t>
            </a:r>
            <a:endParaRPr lang="en-US" sz="800" dirty="0"/>
          </a:p>
        </p:txBody>
      </p:sp>
      <p:sp>
        <p:nvSpPr>
          <p:cNvPr id="45" name="Shape 43"/>
          <p:cNvSpPr/>
          <p:nvPr/>
        </p:nvSpPr>
        <p:spPr>
          <a:xfrm>
            <a:off x="365760" y="4270248"/>
            <a:ext cx="4251960" cy="795528"/>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46" name="Shape 44"/>
          <p:cNvSpPr/>
          <p:nvPr/>
        </p:nvSpPr>
        <p:spPr>
          <a:xfrm>
            <a:off x="365760" y="4270248"/>
            <a:ext cx="219456" cy="219456"/>
          </a:xfrm>
          <a:prstGeom prst="rect">
            <a:avLst/>
          </a:prstGeom>
          <a:solidFill>
            <a:srgbClr val="C9A84C"/>
          </a:solidFill>
          <a:ln w="12700">
            <a:solidFill>
              <a:srgbClr val="C9A84C"/>
            </a:solidFill>
            <a:prstDash val="solid"/>
          </a:ln>
        </p:spPr>
      </p:sp>
      <p:sp>
        <p:nvSpPr>
          <p:cNvPr id="47" name="Text 45"/>
          <p:cNvSpPr/>
          <p:nvPr/>
        </p:nvSpPr>
        <p:spPr>
          <a:xfrm>
            <a:off x="365760" y="4270248"/>
            <a:ext cx="219456" cy="219456"/>
          </a:xfrm>
          <a:prstGeom prst="rect">
            <a:avLst/>
          </a:prstGeom>
          <a:noFill/>
          <a:ln/>
        </p:spPr>
        <p:txBody>
          <a:bodyPr wrap="square" lIns="0" tIns="0" rIns="0" bIns="0" rtlCol="0" anchor="ctr"/>
          <a:lstStyle/>
          <a:p>
            <a:pPr algn="ctr" indent="0" marL="0">
              <a:buNone/>
            </a:pPr>
            <a:r>
              <a:rPr lang="en-US" sz="900" b="1" dirty="0">
                <a:solidFill>
                  <a:srgbClr val="12122A"/>
                </a:solidFill>
              </a:rPr>
              <a:t>9</a:t>
            </a:r>
            <a:endParaRPr lang="en-US" sz="900" dirty="0"/>
          </a:p>
        </p:txBody>
      </p:sp>
      <p:sp>
        <p:nvSpPr>
          <p:cNvPr id="48" name="Text 46"/>
          <p:cNvSpPr/>
          <p:nvPr/>
        </p:nvSpPr>
        <p:spPr>
          <a:xfrm>
            <a:off x="640080" y="4288536"/>
            <a:ext cx="3886200" cy="182880"/>
          </a:xfrm>
          <a:prstGeom prst="rect">
            <a:avLst/>
          </a:prstGeom>
          <a:noFill/>
          <a:ln/>
        </p:spPr>
        <p:txBody>
          <a:bodyPr wrap="square" lIns="0" tIns="0" rIns="0" bIns="0" rtlCol="0" anchor="ctr"/>
          <a:lstStyle/>
          <a:p>
            <a:pPr indent="0" marL="0">
              <a:buNone/>
            </a:pPr>
            <a:r>
              <a:rPr lang="en-US" sz="850" b="1" dirty="0">
                <a:solidFill>
                  <a:srgbClr val="1A1A2E"/>
                </a:solidFill>
              </a:rPr>
              <a:t>How do you assess whether to use DirectQuery vs. Import for BigQuery?</a:t>
            </a:r>
            <a:endParaRPr lang="en-US" sz="850" dirty="0"/>
          </a:p>
        </p:txBody>
      </p:sp>
      <p:sp>
        <p:nvSpPr>
          <p:cNvPr id="49" name="Text 47"/>
          <p:cNvSpPr/>
          <p:nvPr/>
        </p:nvSpPr>
        <p:spPr>
          <a:xfrm>
            <a:off x="457200" y="4489704"/>
            <a:ext cx="4069080" cy="530352"/>
          </a:xfrm>
          <a:prstGeom prst="rect">
            <a:avLst/>
          </a:prstGeom>
          <a:noFill/>
          <a:ln/>
        </p:spPr>
        <p:txBody>
          <a:bodyPr wrap="square" lIns="0" tIns="0" rIns="0" bIns="0" rtlCol="0" anchor="ctr"/>
          <a:lstStyle/>
          <a:p>
            <a:pPr indent="0" marL="0">
              <a:buNone/>
            </a:pPr>
            <a:r>
              <a:rPr lang="en-US" sz="800" dirty="0">
                <a:solidFill>
                  <a:srgbClr val="6B7280"/>
                </a:solidFill>
              </a:rPr>
              <a:t>If data freshness &lt; 1 day → Import with scheduled refresh. If sub-hour freshness needed AND BQ tables are partitioned/clustered → DQ. If mixed → Composite. Always prototype DQ performance: fire test queries from Power BI and check BQ billing/execution stats.</a:t>
            </a:r>
            <a:endParaRPr lang="en-US" sz="800" dirty="0"/>
          </a:p>
        </p:txBody>
      </p:sp>
      <p:sp>
        <p:nvSpPr>
          <p:cNvPr id="50" name="Shape 48"/>
          <p:cNvSpPr/>
          <p:nvPr/>
        </p:nvSpPr>
        <p:spPr>
          <a:xfrm>
            <a:off x="4800600" y="4270248"/>
            <a:ext cx="4251960" cy="795528"/>
          </a:xfrm>
          <a:prstGeom prst="rect">
            <a:avLst/>
          </a:prstGeom>
          <a:solidFill>
            <a:srgbClr val="FEF5E7"/>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51" name="Shape 49"/>
          <p:cNvSpPr/>
          <p:nvPr/>
        </p:nvSpPr>
        <p:spPr>
          <a:xfrm>
            <a:off x="4800600" y="4270248"/>
            <a:ext cx="219456" cy="219456"/>
          </a:xfrm>
          <a:prstGeom prst="rect">
            <a:avLst/>
          </a:prstGeom>
          <a:solidFill>
            <a:srgbClr val="C9A84C"/>
          </a:solidFill>
          <a:ln w="12700">
            <a:solidFill>
              <a:srgbClr val="C9A84C"/>
            </a:solidFill>
            <a:prstDash val="solid"/>
          </a:ln>
        </p:spPr>
      </p:sp>
      <p:sp>
        <p:nvSpPr>
          <p:cNvPr id="52" name="Text 50"/>
          <p:cNvSpPr/>
          <p:nvPr/>
        </p:nvSpPr>
        <p:spPr>
          <a:xfrm>
            <a:off x="4800600" y="4270248"/>
            <a:ext cx="219456" cy="219456"/>
          </a:xfrm>
          <a:prstGeom prst="rect">
            <a:avLst/>
          </a:prstGeom>
          <a:noFill/>
          <a:ln/>
        </p:spPr>
        <p:txBody>
          <a:bodyPr wrap="square" lIns="0" tIns="0" rIns="0" bIns="0" rtlCol="0" anchor="ctr"/>
          <a:lstStyle/>
          <a:p>
            <a:pPr algn="ctr" indent="0" marL="0">
              <a:buNone/>
            </a:pPr>
            <a:r>
              <a:rPr lang="en-US" sz="900" b="1" dirty="0">
                <a:solidFill>
                  <a:srgbClr val="12122A"/>
                </a:solidFill>
              </a:rPr>
              <a:t>10</a:t>
            </a:r>
            <a:endParaRPr lang="en-US" sz="900" dirty="0"/>
          </a:p>
        </p:txBody>
      </p:sp>
      <p:sp>
        <p:nvSpPr>
          <p:cNvPr id="53" name="Text 51"/>
          <p:cNvSpPr/>
          <p:nvPr/>
        </p:nvSpPr>
        <p:spPr>
          <a:xfrm>
            <a:off x="5074920" y="4288536"/>
            <a:ext cx="3886200" cy="182880"/>
          </a:xfrm>
          <a:prstGeom prst="rect">
            <a:avLst/>
          </a:prstGeom>
          <a:noFill/>
          <a:ln/>
        </p:spPr>
        <p:txBody>
          <a:bodyPr wrap="square" lIns="0" tIns="0" rIns="0" bIns="0" rtlCol="0" anchor="ctr"/>
          <a:lstStyle/>
          <a:p>
            <a:pPr indent="0" marL="0">
              <a:buNone/>
            </a:pPr>
            <a:r>
              <a:rPr lang="en-US" sz="850" b="1" dirty="0">
                <a:solidFill>
                  <a:srgbClr val="1A1A2E"/>
                </a:solidFill>
              </a:rPr>
              <a:t>How do you use the Power BI REST API / Scanner API for governance?</a:t>
            </a:r>
            <a:endParaRPr lang="en-US" sz="850" dirty="0"/>
          </a:p>
        </p:txBody>
      </p:sp>
      <p:sp>
        <p:nvSpPr>
          <p:cNvPr id="54" name="Text 52"/>
          <p:cNvSpPr/>
          <p:nvPr/>
        </p:nvSpPr>
        <p:spPr>
          <a:xfrm>
            <a:off x="4892040" y="4489704"/>
            <a:ext cx="4069080" cy="530352"/>
          </a:xfrm>
          <a:prstGeom prst="rect">
            <a:avLst/>
          </a:prstGeom>
          <a:noFill/>
          <a:ln/>
        </p:spPr>
        <p:txBody>
          <a:bodyPr wrap="square" lIns="0" tIns="0" rIns="0" bIns="0" rtlCol="0" anchor="ctr"/>
          <a:lstStyle/>
          <a:p>
            <a:pPr indent="0" marL="0">
              <a:buNone/>
            </a:pPr>
            <a:r>
              <a:rPr lang="en-US" sz="800" dirty="0">
                <a:solidFill>
                  <a:srgbClr val="6B7280"/>
                </a:solidFill>
              </a:rPr>
              <a:t>Admin REST API lets you export workspace metadata, report usage, dataset lineage, and user access. Scanner API does deep workspace scans including sensitivity labels and endorsement status. Use to build an automated governance dashboard — critical for a 200+ workspace environment like L'Oréal LATAM.</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Strategic Scenarios — How Would You Handle This?</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8412480" cy="1389888"/>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6" name="Shape 4"/>
          <p:cNvSpPr/>
          <p:nvPr/>
        </p:nvSpPr>
        <p:spPr>
          <a:xfrm>
            <a:off x="365760" y="868680"/>
            <a:ext cx="8412480" cy="274320"/>
          </a:xfrm>
          <a:prstGeom prst="rect">
            <a:avLst/>
          </a:prstGeom>
          <a:solidFill>
            <a:srgbClr val="12122A"/>
          </a:solidFill>
          <a:ln w="12700">
            <a:solidFill>
              <a:srgbClr val="12122A"/>
            </a:solidFill>
            <a:prstDash val="solid"/>
          </a:ln>
        </p:spPr>
      </p:sp>
      <p:sp>
        <p:nvSpPr>
          <p:cNvPr id="7" name="Text 5"/>
          <p:cNvSpPr/>
          <p:nvPr/>
        </p:nvSpPr>
        <p:spPr>
          <a:xfrm>
            <a:off x="502920" y="896112"/>
            <a:ext cx="4572000" cy="219456"/>
          </a:xfrm>
          <a:prstGeom prst="rect">
            <a:avLst/>
          </a:prstGeom>
          <a:noFill/>
          <a:ln/>
        </p:spPr>
        <p:txBody>
          <a:bodyPr wrap="square" lIns="0" tIns="0" rIns="0" bIns="0" rtlCol="0" anchor="ctr"/>
          <a:lstStyle/>
          <a:p>
            <a:pPr indent="0" marL="0">
              <a:buNone/>
            </a:pPr>
            <a:r>
              <a:rPr lang="en-US" sz="1050" b="1" dirty="0">
                <a:solidFill>
                  <a:srgbClr val="C9A84C"/>
                </a:solidFill>
              </a:rPr>
              <a:t>Scenario 1: The Governance Mess</a:t>
            </a:r>
            <a:endParaRPr lang="en-US" sz="1050" dirty="0"/>
          </a:p>
        </p:txBody>
      </p:sp>
      <p:sp>
        <p:nvSpPr>
          <p:cNvPr id="8" name="Text 6"/>
          <p:cNvSpPr/>
          <p:nvPr/>
        </p:nvSpPr>
        <p:spPr>
          <a:xfrm>
            <a:off x="502920" y="1179576"/>
            <a:ext cx="2011680" cy="1024128"/>
          </a:xfrm>
          <a:prstGeom prst="rect">
            <a:avLst/>
          </a:prstGeom>
          <a:noFill/>
          <a:ln/>
        </p:spPr>
        <p:txBody>
          <a:bodyPr wrap="square" lIns="0" tIns="0" rIns="0" bIns="0" rtlCol="0" anchor="ctr"/>
          <a:lstStyle/>
          <a:p>
            <a:pPr indent="0" marL="0">
              <a:buNone/>
            </a:pPr>
            <a:r>
              <a:rPr lang="en-US" sz="900" i="1" dirty="0">
                <a:solidFill>
                  <a:srgbClr val="6B7280"/>
                </a:solidFill>
              </a:rPr>
              <a:t>LATAM has 200+ Power BI workspaces, no naming standards, unendorsed datasets used in exec reports, and 3 regional teams each building the same KPIs differently.</a:t>
            </a:r>
            <a:endParaRPr lang="en-US" sz="900" dirty="0"/>
          </a:p>
        </p:txBody>
      </p:sp>
      <p:sp>
        <p:nvSpPr>
          <p:cNvPr id="9" name="Shape 7"/>
          <p:cNvSpPr/>
          <p:nvPr/>
        </p:nvSpPr>
        <p:spPr>
          <a:xfrm>
            <a:off x="2651760" y="1179576"/>
            <a:ext cx="0" cy="1005840"/>
          </a:xfrm>
          <a:prstGeom prst="line">
            <a:avLst/>
          </a:prstGeom>
          <a:noFill/>
          <a:ln w="9525">
            <a:solidFill>
              <a:srgbClr val="C9A84C"/>
            </a:solidFill>
            <a:prstDash val="solid"/>
          </a:ln>
        </p:spPr>
      </p:sp>
      <p:sp>
        <p:nvSpPr>
          <p:cNvPr id="10" name="Text 8"/>
          <p:cNvSpPr/>
          <p:nvPr/>
        </p:nvSpPr>
        <p:spPr>
          <a:xfrm>
            <a:off x="2743200" y="1179576"/>
            <a:ext cx="5897880" cy="1005840"/>
          </a:xfrm>
          <a:prstGeom prst="rect">
            <a:avLst/>
          </a:prstGeom>
          <a:noFill/>
          <a:ln/>
        </p:spPr>
        <p:txBody>
          <a:bodyPr wrap="square" lIns="0" tIns="0" rIns="0" bIns="0" rtlCol="0" anchor="ctr"/>
          <a:lstStyle/>
          <a:p>
            <a:pPr indent="0" marL="0">
              <a:spcAft>
                <a:spcPts val="300"/>
              </a:spcAft>
              <a:buNone/>
            </a:pPr>
            <a:r>
              <a:rPr lang="en-US" sz="880" b="1" dirty="0">
                <a:solidFill>
                  <a:srgbClr val="C9A84C"/>
                </a:solidFill>
              </a:rPr>
              <a:t>1.  </a:t>
            </a:r>
            <a:pPr indent="0" marL="0">
              <a:spcAft>
                <a:spcPts val="300"/>
              </a:spcAft>
              <a:buNone/>
            </a:pPr>
            <a:r>
              <a:rPr lang="en-US" sz="880" dirty="0">
                <a:solidFill>
                  <a:srgbClr val="1A1A2E"/>
                </a:solidFill>
              </a:rPr>
              <a:t>Phase 1 — Audit (Week 1-2): Use Scanner API to export all workspace metadata. Score workspaces by risk: exec-facing reports with uncertified data = critical.</a:t>
            </a:r>
            <a:pPr indent="0" marL="0">
              <a:spcAft>
                <a:spcPts val="300"/>
              </a:spcAft>
              <a:buNone/>
            </a:pPr>
            <a:endParaRPr lang="en-US" sz="880" dirty="0"/>
          </a:p>
          <a:p>
            <a:pPr indent="0" marL="0">
              <a:spcAft>
                <a:spcPts val="300"/>
              </a:spcAft>
              <a:buNone/>
            </a:pPr>
            <a:r>
              <a:rPr lang="en-US" sz="880" b="1" dirty="0">
                <a:solidFill>
                  <a:srgbClr val="C9A84C"/>
                </a:solidFill>
              </a:rPr>
              <a:t>2.  </a:t>
            </a:r>
            <a:pPr indent="0" marL="0">
              <a:spcAft>
                <a:spcPts val="300"/>
              </a:spcAft>
              <a:buNone/>
            </a:pPr>
            <a:r>
              <a:rPr lang="en-US" sz="880" dirty="0">
                <a:solidFill>
                  <a:srgbClr val="1A1A2E"/>
                </a:solidFill>
              </a:rPr>
              <a:t>Phase 2 — Quick wins (Week 3-4): Identify 5-10 most-used uncertified reports; certify or replace. Establish naming convention and announce freeze on new workspace creation.</a:t>
            </a:r>
            <a:pPr indent="0" marL="0">
              <a:spcAft>
                <a:spcPts val="300"/>
              </a:spcAft>
              <a:buNone/>
            </a:pPr>
            <a:endParaRPr lang="en-US" sz="880" dirty="0"/>
          </a:p>
          <a:p>
            <a:pPr indent="0" marL="0">
              <a:spcAft>
                <a:spcPts val="300"/>
              </a:spcAft>
              <a:buNone/>
            </a:pPr>
            <a:r>
              <a:rPr lang="en-US" sz="880" b="1" dirty="0">
                <a:solidFill>
                  <a:srgbClr val="C9A84C"/>
                </a:solidFill>
              </a:rPr>
              <a:t>3.  </a:t>
            </a:r>
            <a:pPr indent="0" marL="0">
              <a:spcAft>
                <a:spcPts val="300"/>
              </a:spcAft>
              <a:buNone/>
            </a:pPr>
            <a:r>
              <a:rPr lang="en-US" sz="880" dirty="0">
                <a:solidFill>
                  <a:srgbClr val="1A1A2E"/>
                </a:solidFill>
              </a:rPr>
              <a:t>Phase 3 — Standards rollout: Publish governance playbook. Run "office hours." Build shared certified dataset for common KPIs (revenue, units, customers).</a:t>
            </a:r>
            <a:pPr indent="0" marL="0">
              <a:spcAft>
                <a:spcPts val="300"/>
              </a:spcAft>
              <a:buNone/>
            </a:pPr>
            <a:endParaRPr lang="en-US" sz="880" dirty="0"/>
          </a:p>
          <a:p>
            <a:pPr indent="0" marL="0">
              <a:spcAft>
                <a:spcPts val="300"/>
              </a:spcAft>
              <a:buNone/>
            </a:pPr>
            <a:r>
              <a:rPr lang="en-US" sz="880" b="1" dirty="0">
                <a:solidFill>
                  <a:srgbClr val="C9A84C"/>
                </a:solidFill>
              </a:rPr>
              <a:t>4.  </a:t>
            </a:r>
            <a:pPr indent="0" marL="0">
              <a:spcAft>
                <a:spcPts val="300"/>
              </a:spcAft>
              <a:buNone/>
            </a:pPr>
            <a:r>
              <a:rPr lang="en-US" sz="880" dirty="0">
                <a:solidFill>
                  <a:srgbClr val="1A1A2E"/>
                </a:solidFill>
              </a:rPr>
              <a:t>Phase 4 — Sustain: Monthly workspace health score card, executive governance sponsor, champion network per country.</a:t>
            </a:r>
            <a:endParaRPr lang="en-US" sz="880" dirty="0"/>
          </a:p>
        </p:txBody>
      </p:sp>
      <p:sp>
        <p:nvSpPr>
          <p:cNvPr id="11" name="Shape 9"/>
          <p:cNvSpPr/>
          <p:nvPr/>
        </p:nvSpPr>
        <p:spPr>
          <a:xfrm>
            <a:off x="365760" y="2331720"/>
            <a:ext cx="8412480" cy="1389888"/>
          </a:xfrm>
          <a:prstGeom prst="rect">
            <a:avLst/>
          </a:prstGeom>
          <a:solidFill>
            <a:srgbClr val="FEF5E7"/>
          </a:solidFill>
          <a:ln w="9525">
            <a:solidFill>
              <a:srgbClr val="C9A84C"/>
            </a:solidFill>
            <a:prstDash val="solid"/>
          </a:ln>
          <a:effectLst>
            <a:outerShdw sx="100000" sy="100000" kx="0" ky="0" algn="bl" rotWithShape="0" blurRad="50800" dist="12700" dir="8100000">
              <a:srgbClr val="000000">
                <a:alpha val="7000"/>
              </a:srgbClr>
            </a:outerShdw>
          </a:effectLst>
        </p:spPr>
      </p:sp>
      <p:sp>
        <p:nvSpPr>
          <p:cNvPr id="12" name="Shape 10"/>
          <p:cNvSpPr/>
          <p:nvPr/>
        </p:nvSpPr>
        <p:spPr>
          <a:xfrm>
            <a:off x="365760" y="2331720"/>
            <a:ext cx="8412480" cy="274320"/>
          </a:xfrm>
          <a:prstGeom prst="rect">
            <a:avLst/>
          </a:prstGeom>
          <a:solidFill>
            <a:srgbClr val="1E1E42"/>
          </a:solidFill>
          <a:ln w="12700">
            <a:solidFill>
              <a:srgbClr val="12122A"/>
            </a:solidFill>
            <a:prstDash val="solid"/>
          </a:ln>
        </p:spPr>
      </p:sp>
      <p:sp>
        <p:nvSpPr>
          <p:cNvPr id="13" name="Text 11"/>
          <p:cNvSpPr/>
          <p:nvPr/>
        </p:nvSpPr>
        <p:spPr>
          <a:xfrm>
            <a:off x="502920" y="2359152"/>
            <a:ext cx="4572000" cy="219456"/>
          </a:xfrm>
          <a:prstGeom prst="rect">
            <a:avLst/>
          </a:prstGeom>
          <a:noFill/>
          <a:ln/>
        </p:spPr>
        <p:txBody>
          <a:bodyPr wrap="square" lIns="0" tIns="0" rIns="0" bIns="0" rtlCol="0" anchor="ctr"/>
          <a:lstStyle/>
          <a:p>
            <a:pPr indent="0" marL="0">
              <a:buNone/>
            </a:pPr>
            <a:r>
              <a:rPr lang="en-US" sz="1050" b="1" dirty="0">
                <a:solidFill>
                  <a:srgbClr val="C9A84C"/>
                </a:solidFill>
              </a:rPr>
              <a:t>Scenario 2: Real-Time Data Request</a:t>
            </a:r>
            <a:endParaRPr lang="en-US" sz="1050" dirty="0"/>
          </a:p>
        </p:txBody>
      </p:sp>
      <p:sp>
        <p:nvSpPr>
          <p:cNvPr id="14" name="Text 12"/>
          <p:cNvSpPr/>
          <p:nvPr/>
        </p:nvSpPr>
        <p:spPr>
          <a:xfrm>
            <a:off x="502920" y="2642616"/>
            <a:ext cx="2011680" cy="1024128"/>
          </a:xfrm>
          <a:prstGeom prst="rect">
            <a:avLst/>
          </a:prstGeom>
          <a:noFill/>
          <a:ln/>
        </p:spPr>
        <p:txBody>
          <a:bodyPr wrap="square" lIns="0" tIns="0" rIns="0" bIns="0" rtlCol="0" anchor="ctr"/>
          <a:lstStyle/>
          <a:p>
            <a:pPr indent="0" marL="0">
              <a:buNone/>
            </a:pPr>
            <a:r>
              <a:rPr lang="en-US" sz="900" i="1" dirty="0">
                <a:solidFill>
                  <a:srgbClr val="6B7280"/>
                </a:solidFill>
              </a:rPr>
              <a:t>Business stakeholders demand real-time dashboards. Your data is in BigQuery, currently loaded into Power BI via daily Import refresh.</a:t>
            </a:r>
            <a:endParaRPr lang="en-US" sz="900" dirty="0"/>
          </a:p>
        </p:txBody>
      </p:sp>
      <p:sp>
        <p:nvSpPr>
          <p:cNvPr id="15" name="Shape 13"/>
          <p:cNvSpPr/>
          <p:nvPr/>
        </p:nvSpPr>
        <p:spPr>
          <a:xfrm>
            <a:off x="2651760" y="2642616"/>
            <a:ext cx="0" cy="1005840"/>
          </a:xfrm>
          <a:prstGeom prst="line">
            <a:avLst/>
          </a:prstGeom>
          <a:noFill/>
          <a:ln w="9525">
            <a:solidFill>
              <a:srgbClr val="C9A84C"/>
            </a:solidFill>
            <a:prstDash val="solid"/>
          </a:ln>
        </p:spPr>
      </p:sp>
      <p:sp>
        <p:nvSpPr>
          <p:cNvPr id="16" name="Text 14"/>
          <p:cNvSpPr/>
          <p:nvPr/>
        </p:nvSpPr>
        <p:spPr>
          <a:xfrm>
            <a:off x="2743200" y="2642616"/>
            <a:ext cx="5897880" cy="1005840"/>
          </a:xfrm>
          <a:prstGeom prst="rect">
            <a:avLst/>
          </a:prstGeom>
          <a:noFill/>
          <a:ln/>
        </p:spPr>
        <p:txBody>
          <a:bodyPr wrap="square" lIns="0" tIns="0" rIns="0" bIns="0" rtlCol="0" anchor="ctr"/>
          <a:lstStyle/>
          <a:p>
            <a:pPr indent="0" marL="0">
              <a:spcAft>
                <a:spcPts val="300"/>
              </a:spcAft>
              <a:buNone/>
            </a:pPr>
            <a:r>
              <a:rPr lang="en-US" sz="880" b="1" dirty="0">
                <a:solidFill>
                  <a:srgbClr val="C9A84C"/>
                </a:solidFill>
              </a:rPr>
              <a:t>1.  </a:t>
            </a:r>
            <a:pPr indent="0" marL="0">
              <a:spcAft>
                <a:spcPts val="300"/>
              </a:spcAft>
              <a:buNone/>
            </a:pPr>
            <a:r>
              <a:rPr lang="en-US" sz="880" dirty="0">
                <a:solidFill>
                  <a:srgbClr val="1A1A2E"/>
                </a:solidFill>
              </a:rPr>
              <a:t>Push back on "real-time" — ask what decision requires sub-hourly data. Usually the answer is daily, which you already have.</a:t>
            </a:r>
            <a:pPr indent="0" marL="0">
              <a:spcAft>
                <a:spcPts val="300"/>
              </a:spcAft>
              <a:buNone/>
            </a:pPr>
            <a:endParaRPr lang="en-US" sz="880" dirty="0"/>
          </a:p>
          <a:p>
            <a:pPr indent="0" marL="0">
              <a:spcAft>
                <a:spcPts val="300"/>
              </a:spcAft>
              <a:buNone/>
            </a:pPr>
            <a:r>
              <a:rPr lang="en-US" sz="880" b="1" dirty="0">
                <a:solidFill>
                  <a:srgbClr val="C9A84C"/>
                </a:solidFill>
              </a:rPr>
              <a:t>2.  </a:t>
            </a:r>
            <a:pPr indent="0" marL="0">
              <a:spcAft>
                <a:spcPts val="300"/>
              </a:spcAft>
              <a:buNone/>
            </a:pPr>
            <a:r>
              <a:rPr lang="en-US" sz="880" dirty="0">
                <a:solidFill>
                  <a:srgbClr val="1A1A2E"/>
                </a:solidFill>
              </a:rPr>
              <a:t>If truly needed: switch select datasets to DirectQuery against BigQuery. Ensure BQ tables are partitioned by date + clustered on filter fields to prevent full scans.</a:t>
            </a:r>
            <a:pPr indent="0" marL="0">
              <a:spcAft>
                <a:spcPts val="300"/>
              </a:spcAft>
              <a:buNone/>
            </a:pPr>
            <a:endParaRPr lang="en-US" sz="880" dirty="0"/>
          </a:p>
          <a:p>
            <a:pPr indent="0" marL="0">
              <a:spcAft>
                <a:spcPts val="300"/>
              </a:spcAft>
              <a:buNone/>
            </a:pPr>
            <a:r>
              <a:rPr lang="en-US" sz="880" b="1" dirty="0">
                <a:solidFill>
                  <a:srgbClr val="C9A84C"/>
                </a:solidFill>
              </a:rPr>
              <a:t>3.  </a:t>
            </a:r>
            <a:pPr indent="0" marL="0">
              <a:spcAft>
                <a:spcPts val="300"/>
              </a:spcAft>
              <a:buNone/>
            </a:pPr>
            <a:r>
              <a:rPr lang="en-US" sz="880" dirty="0">
                <a:solidFill>
                  <a:srgbClr val="1A1A2E"/>
                </a:solidFill>
              </a:rPr>
              <a:t>Offer Composite Model: keep Import aggregates for fast summary views + DQ for drill-through detail.</a:t>
            </a:r>
            <a:pPr indent="0" marL="0">
              <a:spcAft>
                <a:spcPts val="300"/>
              </a:spcAft>
              <a:buNone/>
            </a:pPr>
            <a:endParaRPr lang="en-US" sz="880" dirty="0"/>
          </a:p>
          <a:p>
            <a:pPr indent="0" marL="0">
              <a:spcAft>
                <a:spcPts val="300"/>
              </a:spcAft>
              <a:buNone/>
            </a:pPr>
            <a:r>
              <a:rPr lang="en-US" sz="880" b="1" dirty="0">
                <a:solidFill>
                  <a:srgbClr val="C9A84C"/>
                </a:solidFill>
              </a:rPr>
              <a:t>4.  </a:t>
            </a:r>
            <a:pPr indent="0" marL="0">
              <a:spcAft>
                <a:spcPts val="300"/>
              </a:spcAft>
              <a:buNone/>
            </a:pPr>
            <a:r>
              <a:rPr lang="en-US" sz="880" dirty="0">
                <a:solidFill>
                  <a:srgbClr val="1A1A2E"/>
                </a:solidFill>
              </a:rPr>
              <a:t>Communicate cost/trade-off: real-time DQ increases BQ query costs. Present a cost estimate to business.</a:t>
            </a:r>
            <a:endParaRPr lang="en-US" sz="880" dirty="0"/>
          </a:p>
        </p:txBody>
      </p:sp>
      <p:sp>
        <p:nvSpPr>
          <p:cNvPr id="17" name="Shape 15"/>
          <p:cNvSpPr/>
          <p:nvPr/>
        </p:nvSpPr>
        <p:spPr>
          <a:xfrm>
            <a:off x="365760" y="3794760"/>
            <a:ext cx="8412480" cy="1389888"/>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8" name="Shape 16"/>
          <p:cNvSpPr/>
          <p:nvPr/>
        </p:nvSpPr>
        <p:spPr>
          <a:xfrm>
            <a:off x="365760" y="3794760"/>
            <a:ext cx="8412480" cy="274320"/>
          </a:xfrm>
          <a:prstGeom prst="rect">
            <a:avLst/>
          </a:prstGeom>
          <a:solidFill>
            <a:srgbClr val="12122A"/>
          </a:solidFill>
          <a:ln w="12700">
            <a:solidFill>
              <a:srgbClr val="12122A"/>
            </a:solidFill>
            <a:prstDash val="solid"/>
          </a:ln>
        </p:spPr>
      </p:sp>
      <p:sp>
        <p:nvSpPr>
          <p:cNvPr id="19" name="Text 17"/>
          <p:cNvSpPr/>
          <p:nvPr/>
        </p:nvSpPr>
        <p:spPr>
          <a:xfrm>
            <a:off x="502920" y="3822192"/>
            <a:ext cx="4572000" cy="219456"/>
          </a:xfrm>
          <a:prstGeom prst="rect">
            <a:avLst/>
          </a:prstGeom>
          <a:noFill/>
          <a:ln/>
        </p:spPr>
        <p:txBody>
          <a:bodyPr wrap="square" lIns="0" tIns="0" rIns="0" bIns="0" rtlCol="0" anchor="ctr"/>
          <a:lstStyle/>
          <a:p>
            <a:pPr indent="0" marL="0">
              <a:buNone/>
            </a:pPr>
            <a:r>
              <a:rPr lang="en-US" sz="1050" b="1" dirty="0">
                <a:solidFill>
                  <a:srgbClr val="C9A84C"/>
                </a:solidFill>
              </a:rPr>
              <a:t>Scenario 3: Regional Rollout (500 users)</a:t>
            </a:r>
            <a:endParaRPr lang="en-US" sz="1050" dirty="0"/>
          </a:p>
        </p:txBody>
      </p:sp>
      <p:sp>
        <p:nvSpPr>
          <p:cNvPr id="20" name="Text 18"/>
          <p:cNvSpPr/>
          <p:nvPr/>
        </p:nvSpPr>
        <p:spPr>
          <a:xfrm>
            <a:off x="502920" y="4105656"/>
            <a:ext cx="2011680" cy="1024128"/>
          </a:xfrm>
          <a:prstGeom prst="rect">
            <a:avLst/>
          </a:prstGeom>
          <a:noFill/>
          <a:ln/>
        </p:spPr>
        <p:txBody>
          <a:bodyPr wrap="square" lIns="0" tIns="0" rIns="0" bIns="0" rtlCol="0" anchor="ctr"/>
          <a:lstStyle/>
          <a:p>
            <a:pPr indent="0" marL="0">
              <a:buNone/>
            </a:pPr>
            <a:r>
              <a:rPr lang="en-US" sz="900" i="1" dirty="0">
                <a:solidFill>
                  <a:srgbClr val="6B7280"/>
                </a:solidFill>
              </a:rPr>
              <a:t>You need to roll out Power BI self-service capabilities to 500 new users across LATAM (Brazil, Mexico, Colombia, Argentina).</a:t>
            </a:r>
            <a:endParaRPr lang="en-US" sz="900" dirty="0"/>
          </a:p>
        </p:txBody>
      </p:sp>
      <p:sp>
        <p:nvSpPr>
          <p:cNvPr id="21" name="Shape 19"/>
          <p:cNvSpPr/>
          <p:nvPr/>
        </p:nvSpPr>
        <p:spPr>
          <a:xfrm>
            <a:off x="2651760" y="4105656"/>
            <a:ext cx="0" cy="1005840"/>
          </a:xfrm>
          <a:prstGeom prst="line">
            <a:avLst/>
          </a:prstGeom>
          <a:noFill/>
          <a:ln w="9525">
            <a:solidFill>
              <a:srgbClr val="C9A84C"/>
            </a:solidFill>
            <a:prstDash val="solid"/>
          </a:ln>
        </p:spPr>
      </p:sp>
      <p:sp>
        <p:nvSpPr>
          <p:cNvPr id="22" name="Text 20"/>
          <p:cNvSpPr/>
          <p:nvPr/>
        </p:nvSpPr>
        <p:spPr>
          <a:xfrm>
            <a:off x="2743200" y="4105656"/>
            <a:ext cx="5897880" cy="1005840"/>
          </a:xfrm>
          <a:prstGeom prst="rect">
            <a:avLst/>
          </a:prstGeom>
          <a:noFill/>
          <a:ln/>
        </p:spPr>
        <p:txBody>
          <a:bodyPr wrap="square" lIns="0" tIns="0" rIns="0" bIns="0" rtlCol="0" anchor="ctr"/>
          <a:lstStyle/>
          <a:p>
            <a:pPr indent="0" marL="0">
              <a:spcAft>
                <a:spcPts val="300"/>
              </a:spcAft>
              <a:buNone/>
            </a:pPr>
            <a:r>
              <a:rPr lang="en-US" sz="880" b="1" dirty="0">
                <a:solidFill>
                  <a:srgbClr val="C9A84C"/>
                </a:solidFill>
              </a:rPr>
              <a:t>1.  </a:t>
            </a:r>
            <a:pPr indent="0" marL="0">
              <a:spcAft>
                <a:spcPts val="300"/>
              </a:spcAft>
              <a:buNone/>
            </a:pPr>
            <a:r>
              <a:rPr lang="en-US" sz="880" dirty="0">
                <a:solidFill>
                  <a:srgbClr val="1A1A2E"/>
                </a:solidFill>
              </a:rPr>
              <a:t>Segment users: Consumers (view only), Contributors (build reports), Data Champions (own certified content).</a:t>
            </a:r>
            <a:pPr indent="0" marL="0">
              <a:spcAft>
                <a:spcPts val="300"/>
              </a:spcAft>
              <a:buNone/>
            </a:pPr>
            <a:endParaRPr lang="en-US" sz="880" dirty="0"/>
          </a:p>
          <a:p>
            <a:pPr indent="0" marL="0">
              <a:spcAft>
                <a:spcPts val="300"/>
              </a:spcAft>
              <a:buNone/>
            </a:pPr>
            <a:r>
              <a:rPr lang="en-US" sz="880" b="1" dirty="0">
                <a:solidFill>
                  <a:srgbClr val="C9A84C"/>
                </a:solidFill>
              </a:rPr>
              <a:t>2.  </a:t>
            </a:r>
            <a:pPr indent="0" marL="0">
              <a:spcAft>
                <a:spcPts val="300"/>
              </a:spcAft>
              <a:buNone/>
            </a:pPr>
            <a:r>
              <a:rPr lang="en-US" sz="880" dirty="0">
                <a:solidFill>
                  <a:srgbClr val="1A1A2E"/>
                </a:solidFill>
              </a:rPr>
              <a:t>Train bottom-up: Start with Champions (10-15 per country) → train-the-trainer model for contributors → champions own consumer onboarding.</a:t>
            </a:r>
            <a:pPr indent="0" marL="0">
              <a:spcAft>
                <a:spcPts val="300"/>
              </a:spcAft>
              <a:buNone/>
            </a:pPr>
            <a:endParaRPr lang="en-US" sz="880" dirty="0"/>
          </a:p>
          <a:p>
            <a:pPr indent="0" marL="0">
              <a:spcAft>
                <a:spcPts val="300"/>
              </a:spcAft>
              <a:buNone/>
            </a:pPr>
            <a:r>
              <a:rPr lang="en-US" sz="880" b="1" dirty="0">
                <a:solidFill>
                  <a:srgbClr val="C9A84C"/>
                </a:solidFill>
              </a:rPr>
              <a:t>3.  </a:t>
            </a:r>
            <a:pPr indent="0" marL="0">
              <a:spcAft>
                <a:spcPts val="300"/>
              </a:spcAft>
              <a:buNone/>
            </a:pPr>
            <a:r>
              <a:rPr lang="en-US" sz="880" dirty="0">
                <a:solidFill>
                  <a:srgbClr val="1A1A2E"/>
                </a:solidFill>
              </a:rPr>
              <a:t>Run workshops in Spanish/Portuguese, not English. Use local data examples.</a:t>
            </a:r>
            <a:pPr indent="0" marL="0">
              <a:spcAft>
                <a:spcPts val="300"/>
              </a:spcAft>
              <a:buNone/>
            </a:pPr>
            <a:endParaRPr lang="en-US" sz="880" dirty="0"/>
          </a:p>
          <a:p>
            <a:pPr indent="0" marL="0">
              <a:spcAft>
                <a:spcPts val="300"/>
              </a:spcAft>
              <a:buNone/>
            </a:pPr>
            <a:r>
              <a:rPr lang="en-US" sz="880" b="1" dirty="0">
                <a:solidFill>
                  <a:srgbClr val="C9A84C"/>
                </a:solidFill>
              </a:rPr>
              <a:t>4.  </a:t>
            </a:r>
            <a:pPr indent="0" marL="0">
              <a:spcAft>
                <a:spcPts val="300"/>
              </a:spcAft>
              <a:buNone/>
            </a:pPr>
            <a:r>
              <a:rPr lang="en-US" sz="880" dirty="0">
                <a:solidFill>
                  <a:srgbClr val="1A1A2E"/>
                </a:solidFill>
              </a:rPr>
              <a:t>Pair training with certified report templates — don't send users to a blank canvas. Reduce time-to-first-value.</a:t>
            </a:r>
            <a:endParaRPr lang="en-US" sz="8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Questions YOU Should Ask — Show Strategic Depth</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8412480" cy="274320"/>
          </a:xfrm>
          <a:prstGeom prst="rect">
            <a:avLst/>
          </a:prstGeom>
          <a:solidFill>
            <a:srgbClr val="12122A"/>
          </a:solidFill>
          <a:ln w="12700">
            <a:solidFill>
              <a:srgbClr val="12122A"/>
            </a:solidFill>
            <a:prstDash val="solid"/>
          </a:ln>
        </p:spPr>
      </p:sp>
      <p:sp>
        <p:nvSpPr>
          <p:cNvPr id="6" name="Text 4"/>
          <p:cNvSpPr/>
          <p:nvPr/>
        </p:nvSpPr>
        <p:spPr>
          <a:xfrm>
            <a:off x="411480" y="868680"/>
            <a:ext cx="8321040" cy="274320"/>
          </a:xfrm>
          <a:prstGeom prst="rect">
            <a:avLst/>
          </a:prstGeom>
          <a:noFill/>
          <a:ln/>
        </p:spPr>
        <p:txBody>
          <a:bodyPr wrap="square" lIns="0" tIns="0" rIns="0" bIns="0" rtlCol="0" anchor="ctr"/>
          <a:lstStyle/>
          <a:p>
            <a:pPr indent="0" marL="0">
              <a:buNone/>
            </a:pPr>
            <a:r>
              <a:rPr lang="en-US" sz="1000" i="1" dirty="0">
                <a:solidFill>
                  <a:srgbClr val="E8D5A3"/>
                </a:solidFill>
              </a:rPr>
              <a:t>Asking smart questions is part of the assessment. These show you think at the architect level, not just the analyst level.</a:t>
            </a:r>
            <a:endParaRPr lang="en-US" sz="1000" dirty="0"/>
          </a:p>
        </p:txBody>
      </p:sp>
      <p:sp>
        <p:nvSpPr>
          <p:cNvPr id="7" name="Shape 5"/>
          <p:cNvSpPr/>
          <p:nvPr/>
        </p:nvSpPr>
        <p:spPr>
          <a:xfrm>
            <a:off x="365760" y="1234440"/>
            <a:ext cx="8412480" cy="475488"/>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8" name="Shape 6"/>
          <p:cNvSpPr/>
          <p:nvPr/>
        </p:nvSpPr>
        <p:spPr>
          <a:xfrm>
            <a:off x="365760" y="1234440"/>
            <a:ext cx="256032" cy="256032"/>
          </a:xfrm>
          <a:prstGeom prst="rect">
            <a:avLst/>
          </a:prstGeom>
          <a:solidFill>
            <a:srgbClr val="C9A84C"/>
          </a:solidFill>
          <a:ln w="12700">
            <a:solidFill>
              <a:srgbClr val="C9A84C"/>
            </a:solidFill>
            <a:prstDash val="solid"/>
          </a:ln>
        </p:spPr>
      </p:sp>
      <p:sp>
        <p:nvSpPr>
          <p:cNvPr id="9" name="Text 7"/>
          <p:cNvSpPr/>
          <p:nvPr/>
        </p:nvSpPr>
        <p:spPr>
          <a:xfrm>
            <a:off x="365760" y="1234440"/>
            <a:ext cx="256032" cy="256032"/>
          </a:xfrm>
          <a:prstGeom prst="rect">
            <a:avLst/>
          </a:prstGeom>
          <a:noFill/>
          <a:ln/>
        </p:spPr>
        <p:txBody>
          <a:bodyPr wrap="square" lIns="0" tIns="0" rIns="0" bIns="0" rtlCol="0" anchor="ctr"/>
          <a:lstStyle/>
          <a:p>
            <a:pPr algn="ctr" indent="0" marL="0">
              <a:buNone/>
            </a:pPr>
            <a:r>
              <a:rPr lang="en-US" sz="1200" b="1" dirty="0">
                <a:solidFill>
                  <a:srgbClr val="12122A"/>
                </a:solidFill>
              </a:rPr>
              <a:t>?</a:t>
            </a:r>
            <a:endParaRPr lang="en-US" sz="1200" dirty="0"/>
          </a:p>
        </p:txBody>
      </p:sp>
      <p:sp>
        <p:nvSpPr>
          <p:cNvPr id="10" name="Text 8"/>
          <p:cNvSpPr/>
          <p:nvPr/>
        </p:nvSpPr>
        <p:spPr>
          <a:xfrm>
            <a:off x="685800" y="1252728"/>
            <a:ext cx="5029200" cy="228600"/>
          </a:xfrm>
          <a:prstGeom prst="rect">
            <a:avLst/>
          </a:prstGeom>
          <a:noFill/>
          <a:ln/>
        </p:spPr>
        <p:txBody>
          <a:bodyPr wrap="square" lIns="0" tIns="0" rIns="0" bIns="0" rtlCol="0" anchor="ctr"/>
          <a:lstStyle/>
          <a:p>
            <a:pPr indent="0" marL="0">
              <a:buNone/>
            </a:pPr>
            <a:r>
              <a:rPr lang="en-US" sz="1000" b="1" i="1" dirty="0">
                <a:solidFill>
                  <a:srgbClr val="1A1A2E"/>
                </a:solidFill>
              </a:rPr>
              <a:t>"What does "good" look like for this role in the first 90 days?"</a:t>
            </a:r>
            <a:endParaRPr lang="en-US" sz="1000" dirty="0"/>
          </a:p>
        </p:txBody>
      </p:sp>
      <p:sp>
        <p:nvSpPr>
          <p:cNvPr id="11" name="Text 9"/>
          <p:cNvSpPr/>
          <p:nvPr/>
        </p:nvSpPr>
        <p:spPr>
          <a:xfrm>
            <a:off x="685800" y="1490472"/>
            <a:ext cx="8001000" cy="182880"/>
          </a:xfrm>
          <a:prstGeom prst="rect">
            <a:avLst/>
          </a:prstGeom>
          <a:noFill/>
          <a:ln/>
        </p:spPr>
        <p:txBody>
          <a:bodyPr wrap="square" lIns="0" tIns="0" rIns="0" bIns="0" rtlCol="0" anchor="ctr"/>
          <a:lstStyle/>
          <a:p>
            <a:pPr indent="0" marL="0">
              <a:buNone/>
            </a:pPr>
            <a:r>
              <a:rPr lang="en-US" sz="900" dirty="0">
                <a:solidFill>
                  <a:srgbClr val="6B7280"/>
                </a:solidFill>
              </a:rPr>
              <a:t>Why it works: Clarifies success criteria. Shows you want to deliver, not just settle in.</a:t>
            </a:r>
            <a:endParaRPr lang="en-US" sz="900" dirty="0"/>
          </a:p>
        </p:txBody>
      </p:sp>
      <p:sp>
        <p:nvSpPr>
          <p:cNvPr id="12" name="Shape 10"/>
          <p:cNvSpPr/>
          <p:nvPr/>
        </p:nvSpPr>
        <p:spPr>
          <a:xfrm>
            <a:off x="365760" y="1764792"/>
            <a:ext cx="8412480" cy="475488"/>
          </a:xfrm>
          <a:prstGeom prst="rect">
            <a:avLst/>
          </a:prstGeom>
          <a:solidFill>
            <a:srgbClr val="FFFFFF"/>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3" name="Shape 11"/>
          <p:cNvSpPr/>
          <p:nvPr/>
        </p:nvSpPr>
        <p:spPr>
          <a:xfrm>
            <a:off x="365760" y="1764792"/>
            <a:ext cx="256032" cy="256032"/>
          </a:xfrm>
          <a:prstGeom prst="rect">
            <a:avLst/>
          </a:prstGeom>
          <a:solidFill>
            <a:srgbClr val="C9A84C"/>
          </a:solidFill>
          <a:ln w="12700">
            <a:solidFill>
              <a:srgbClr val="C9A84C"/>
            </a:solidFill>
            <a:prstDash val="solid"/>
          </a:ln>
        </p:spPr>
      </p:sp>
      <p:sp>
        <p:nvSpPr>
          <p:cNvPr id="14" name="Text 12"/>
          <p:cNvSpPr/>
          <p:nvPr/>
        </p:nvSpPr>
        <p:spPr>
          <a:xfrm>
            <a:off x="365760" y="1764792"/>
            <a:ext cx="256032" cy="256032"/>
          </a:xfrm>
          <a:prstGeom prst="rect">
            <a:avLst/>
          </a:prstGeom>
          <a:noFill/>
          <a:ln/>
        </p:spPr>
        <p:txBody>
          <a:bodyPr wrap="square" lIns="0" tIns="0" rIns="0" bIns="0" rtlCol="0" anchor="ctr"/>
          <a:lstStyle/>
          <a:p>
            <a:pPr algn="ctr" indent="0" marL="0">
              <a:buNone/>
            </a:pPr>
            <a:r>
              <a:rPr lang="en-US" sz="1200" b="1" dirty="0">
                <a:solidFill>
                  <a:srgbClr val="12122A"/>
                </a:solidFill>
              </a:rPr>
              <a:t>?</a:t>
            </a:r>
            <a:endParaRPr lang="en-US" sz="1200" dirty="0"/>
          </a:p>
        </p:txBody>
      </p:sp>
      <p:sp>
        <p:nvSpPr>
          <p:cNvPr id="15" name="Text 13"/>
          <p:cNvSpPr/>
          <p:nvPr/>
        </p:nvSpPr>
        <p:spPr>
          <a:xfrm>
            <a:off x="685800" y="1783080"/>
            <a:ext cx="5029200" cy="228600"/>
          </a:xfrm>
          <a:prstGeom prst="rect">
            <a:avLst/>
          </a:prstGeom>
          <a:noFill/>
          <a:ln/>
        </p:spPr>
        <p:txBody>
          <a:bodyPr wrap="square" lIns="0" tIns="0" rIns="0" bIns="0" rtlCol="0" anchor="ctr"/>
          <a:lstStyle/>
          <a:p>
            <a:pPr indent="0" marL="0">
              <a:buNone/>
            </a:pPr>
            <a:r>
              <a:rPr lang="en-US" sz="1000" b="1" i="1" dirty="0">
                <a:solidFill>
                  <a:srgbClr val="1A1A2E"/>
                </a:solidFill>
              </a:rPr>
              <a:t>"How does the LATAM Power BI strategy connect to the global strategy driven by the CDAO?"</a:t>
            </a:r>
            <a:endParaRPr lang="en-US" sz="1000" dirty="0"/>
          </a:p>
        </p:txBody>
      </p:sp>
      <p:sp>
        <p:nvSpPr>
          <p:cNvPr id="16" name="Text 14"/>
          <p:cNvSpPr/>
          <p:nvPr/>
        </p:nvSpPr>
        <p:spPr>
          <a:xfrm>
            <a:off x="685800" y="2020824"/>
            <a:ext cx="8001000" cy="182880"/>
          </a:xfrm>
          <a:prstGeom prst="rect">
            <a:avLst/>
          </a:prstGeom>
          <a:noFill/>
          <a:ln/>
        </p:spPr>
        <p:txBody>
          <a:bodyPr wrap="square" lIns="0" tIns="0" rIns="0" bIns="0" rtlCol="0" anchor="ctr"/>
          <a:lstStyle/>
          <a:p>
            <a:pPr indent="0" marL="0">
              <a:buNone/>
            </a:pPr>
            <a:r>
              <a:rPr lang="en-US" sz="900" dirty="0">
                <a:solidFill>
                  <a:srgbClr val="6B7280"/>
                </a:solidFill>
              </a:rPr>
              <a:t>Why it works: Signals you understand the organizational structure and your LATAM-voice role.</a:t>
            </a:r>
            <a:endParaRPr lang="en-US" sz="900" dirty="0"/>
          </a:p>
        </p:txBody>
      </p:sp>
      <p:sp>
        <p:nvSpPr>
          <p:cNvPr id="17" name="Shape 15"/>
          <p:cNvSpPr/>
          <p:nvPr/>
        </p:nvSpPr>
        <p:spPr>
          <a:xfrm>
            <a:off x="365760" y="2295144"/>
            <a:ext cx="8412480" cy="475488"/>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8" name="Shape 16"/>
          <p:cNvSpPr/>
          <p:nvPr/>
        </p:nvSpPr>
        <p:spPr>
          <a:xfrm>
            <a:off x="365760" y="2295144"/>
            <a:ext cx="256032" cy="256032"/>
          </a:xfrm>
          <a:prstGeom prst="rect">
            <a:avLst/>
          </a:prstGeom>
          <a:solidFill>
            <a:srgbClr val="C9A84C"/>
          </a:solidFill>
          <a:ln w="12700">
            <a:solidFill>
              <a:srgbClr val="C9A84C"/>
            </a:solidFill>
            <a:prstDash val="solid"/>
          </a:ln>
        </p:spPr>
      </p:sp>
      <p:sp>
        <p:nvSpPr>
          <p:cNvPr id="19" name="Text 17"/>
          <p:cNvSpPr/>
          <p:nvPr/>
        </p:nvSpPr>
        <p:spPr>
          <a:xfrm>
            <a:off x="365760" y="2295144"/>
            <a:ext cx="256032" cy="256032"/>
          </a:xfrm>
          <a:prstGeom prst="rect">
            <a:avLst/>
          </a:prstGeom>
          <a:noFill/>
          <a:ln/>
        </p:spPr>
        <p:txBody>
          <a:bodyPr wrap="square" lIns="0" tIns="0" rIns="0" bIns="0" rtlCol="0" anchor="ctr"/>
          <a:lstStyle/>
          <a:p>
            <a:pPr algn="ctr" indent="0" marL="0">
              <a:buNone/>
            </a:pPr>
            <a:r>
              <a:rPr lang="en-US" sz="1200" b="1" dirty="0">
                <a:solidFill>
                  <a:srgbClr val="12122A"/>
                </a:solidFill>
              </a:rPr>
              <a:t>?</a:t>
            </a:r>
            <a:endParaRPr lang="en-US" sz="1200" dirty="0"/>
          </a:p>
        </p:txBody>
      </p:sp>
      <p:sp>
        <p:nvSpPr>
          <p:cNvPr id="20" name="Text 18"/>
          <p:cNvSpPr/>
          <p:nvPr/>
        </p:nvSpPr>
        <p:spPr>
          <a:xfrm>
            <a:off x="685800" y="2313432"/>
            <a:ext cx="5029200" cy="228600"/>
          </a:xfrm>
          <a:prstGeom prst="rect">
            <a:avLst/>
          </a:prstGeom>
          <a:noFill/>
          <a:ln/>
        </p:spPr>
        <p:txBody>
          <a:bodyPr wrap="square" lIns="0" tIns="0" rIns="0" bIns="0" rtlCol="0" anchor="ctr"/>
          <a:lstStyle/>
          <a:p>
            <a:pPr indent="0" marL="0">
              <a:buNone/>
            </a:pPr>
            <a:r>
              <a:rPr lang="en-US" sz="1000" b="1" i="1" dirty="0">
                <a:solidFill>
                  <a:srgbClr val="1A1A2E"/>
                </a:solidFill>
              </a:rPr>
              <a:t>"Where would you say Power BI governance maturity is today in LATAM — what's the biggest gap?"</a:t>
            </a:r>
            <a:endParaRPr lang="en-US" sz="1000" dirty="0"/>
          </a:p>
        </p:txBody>
      </p:sp>
      <p:sp>
        <p:nvSpPr>
          <p:cNvPr id="21" name="Text 19"/>
          <p:cNvSpPr/>
          <p:nvPr/>
        </p:nvSpPr>
        <p:spPr>
          <a:xfrm>
            <a:off x="685800" y="2551176"/>
            <a:ext cx="8001000" cy="182880"/>
          </a:xfrm>
          <a:prstGeom prst="rect">
            <a:avLst/>
          </a:prstGeom>
          <a:noFill/>
          <a:ln/>
        </p:spPr>
        <p:txBody>
          <a:bodyPr wrap="square" lIns="0" tIns="0" rIns="0" bIns="0" rtlCol="0" anchor="ctr"/>
          <a:lstStyle/>
          <a:p>
            <a:pPr indent="0" marL="0">
              <a:buNone/>
            </a:pPr>
            <a:r>
              <a:rPr lang="en-US" sz="900" dirty="0">
                <a:solidFill>
                  <a:srgbClr val="6B7280"/>
                </a:solidFill>
              </a:rPr>
              <a:t>Why it works: Lets them tell you the real problem, which shapes your 30-60-90 plan answer.</a:t>
            </a:r>
            <a:endParaRPr lang="en-US" sz="900" dirty="0"/>
          </a:p>
        </p:txBody>
      </p:sp>
      <p:sp>
        <p:nvSpPr>
          <p:cNvPr id="22" name="Shape 20"/>
          <p:cNvSpPr/>
          <p:nvPr/>
        </p:nvSpPr>
        <p:spPr>
          <a:xfrm>
            <a:off x="365760" y="2825496"/>
            <a:ext cx="8412480" cy="475488"/>
          </a:xfrm>
          <a:prstGeom prst="rect">
            <a:avLst/>
          </a:prstGeom>
          <a:solidFill>
            <a:srgbClr val="FFFFFF"/>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23" name="Shape 21"/>
          <p:cNvSpPr/>
          <p:nvPr/>
        </p:nvSpPr>
        <p:spPr>
          <a:xfrm>
            <a:off x="365760" y="2825496"/>
            <a:ext cx="256032" cy="256032"/>
          </a:xfrm>
          <a:prstGeom prst="rect">
            <a:avLst/>
          </a:prstGeom>
          <a:solidFill>
            <a:srgbClr val="C9A84C"/>
          </a:solidFill>
          <a:ln w="12700">
            <a:solidFill>
              <a:srgbClr val="C9A84C"/>
            </a:solidFill>
            <a:prstDash val="solid"/>
          </a:ln>
        </p:spPr>
      </p:sp>
      <p:sp>
        <p:nvSpPr>
          <p:cNvPr id="24" name="Text 22"/>
          <p:cNvSpPr/>
          <p:nvPr/>
        </p:nvSpPr>
        <p:spPr>
          <a:xfrm>
            <a:off x="365760" y="2825496"/>
            <a:ext cx="256032" cy="256032"/>
          </a:xfrm>
          <a:prstGeom prst="rect">
            <a:avLst/>
          </a:prstGeom>
          <a:noFill/>
          <a:ln/>
        </p:spPr>
        <p:txBody>
          <a:bodyPr wrap="square" lIns="0" tIns="0" rIns="0" bIns="0" rtlCol="0" anchor="ctr"/>
          <a:lstStyle/>
          <a:p>
            <a:pPr algn="ctr" indent="0" marL="0">
              <a:buNone/>
            </a:pPr>
            <a:r>
              <a:rPr lang="en-US" sz="1200" b="1" dirty="0">
                <a:solidFill>
                  <a:srgbClr val="12122A"/>
                </a:solidFill>
              </a:rPr>
              <a:t>?</a:t>
            </a:r>
            <a:endParaRPr lang="en-US" sz="1200" dirty="0"/>
          </a:p>
        </p:txBody>
      </p:sp>
      <p:sp>
        <p:nvSpPr>
          <p:cNvPr id="25" name="Text 23"/>
          <p:cNvSpPr/>
          <p:nvPr/>
        </p:nvSpPr>
        <p:spPr>
          <a:xfrm>
            <a:off x="685800" y="2843784"/>
            <a:ext cx="5029200" cy="228600"/>
          </a:xfrm>
          <a:prstGeom prst="rect">
            <a:avLst/>
          </a:prstGeom>
          <a:noFill/>
          <a:ln/>
        </p:spPr>
        <p:txBody>
          <a:bodyPr wrap="square" lIns="0" tIns="0" rIns="0" bIns="0" rtlCol="0" anchor="ctr"/>
          <a:lstStyle/>
          <a:p>
            <a:pPr indent="0" marL="0">
              <a:buNone/>
            </a:pPr>
            <a:r>
              <a:rPr lang="en-US" sz="1000" b="1" i="1" dirty="0">
                <a:solidFill>
                  <a:srgbClr val="1A1A2E"/>
                </a:solidFill>
              </a:rPr>
              <a:t>"How are Power BI datasets currently connecting to BigQuery — Import, DirectQuery, or a mix?"</a:t>
            </a:r>
            <a:endParaRPr lang="en-US" sz="1000" dirty="0"/>
          </a:p>
        </p:txBody>
      </p:sp>
      <p:sp>
        <p:nvSpPr>
          <p:cNvPr id="26" name="Text 24"/>
          <p:cNvSpPr/>
          <p:nvPr/>
        </p:nvSpPr>
        <p:spPr>
          <a:xfrm>
            <a:off x="685800" y="3081528"/>
            <a:ext cx="8001000" cy="182880"/>
          </a:xfrm>
          <a:prstGeom prst="rect">
            <a:avLst/>
          </a:prstGeom>
          <a:noFill/>
          <a:ln/>
        </p:spPr>
        <p:txBody>
          <a:bodyPr wrap="square" lIns="0" tIns="0" rIns="0" bIns="0" rtlCol="0" anchor="ctr"/>
          <a:lstStyle/>
          <a:p>
            <a:pPr indent="0" marL="0">
              <a:buNone/>
            </a:pPr>
            <a:r>
              <a:rPr lang="en-US" sz="900" dirty="0">
                <a:solidFill>
                  <a:srgbClr val="6B7280"/>
                </a:solidFill>
              </a:rPr>
              <a:t>Why it works: Shows technical depth and surfaces architecture details you'll need to manage.</a:t>
            </a:r>
            <a:endParaRPr lang="en-US" sz="900" dirty="0"/>
          </a:p>
        </p:txBody>
      </p:sp>
      <p:sp>
        <p:nvSpPr>
          <p:cNvPr id="27" name="Shape 25"/>
          <p:cNvSpPr/>
          <p:nvPr/>
        </p:nvSpPr>
        <p:spPr>
          <a:xfrm>
            <a:off x="365760" y="3355848"/>
            <a:ext cx="8412480" cy="475488"/>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28" name="Shape 26"/>
          <p:cNvSpPr/>
          <p:nvPr/>
        </p:nvSpPr>
        <p:spPr>
          <a:xfrm>
            <a:off x="365760" y="3355848"/>
            <a:ext cx="256032" cy="256032"/>
          </a:xfrm>
          <a:prstGeom prst="rect">
            <a:avLst/>
          </a:prstGeom>
          <a:solidFill>
            <a:srgbClr val="C9A84C"/>
          </a:solidFill>
          <a:ln w="12700">
            <a:solidFill>
              <a:srgbClr val="C9A84C"/>
            </a:solidFill>
            <a:prstDash val="solid"/>
          </a:ln>
        </p:spPr>
      </p:sp>
      <p:sp>
        <p:nvSpPr>
          <p:cNvPr id="29" name="Text 27"/>
          <p:cNvSpPr/>
          <p:nvPr/>
        </p:nvSpPr>
        <p:spPr>
          <a:xfrm>
            <a:off x="365760" y="3355848"/>
            <a:ext cx="256032" cy="256032"/>
          </a:xfrm>
          <a:prstGeom prst="rect">
            <a:avLst/>
          </a:prstGeom>
          <a:noFill/>
          <a:ln/>
        </p:spPr>
        <p:txBody>
          <a:bodyPr wrap="square" lIns="0" tIns="0" rIns="0" bIns="0" rtlCol="0" anchor="ctr"/>
          <a:lstStyle/>
          <a:p>
            <a:pPr algn="ctr" indent="0" marL="0">
              <a:buNone/>
            </a:pPr>
            <a:r>
              <a:rPr lang="en-US" sz="1200" b="1" dirty="0">
                <a:solidFill>
                  <a:srgbClr val="12122A"/>
                </a:solidFill>
              </a:rPr>
              <a:t>?</a:t>
            </a:r>
            <a:endParaRPr lang="en-US" sz="1200" dirty="0"/>
          </a:p>
        </p:txBody>
      </p:sp>
      <p:sp>
        <p:nvSpPr>
          <p:cNvPr id="30" name="Text 28"/>
          <p:cNvSpPr/>
          <p:nvPr/>
        </p:nvSpPr>
        <p:spPr>
          <a:xfrm>
            <a:off x="685800" y="3374136"/>
            <a:ext cx="5029200" cy="228600"/>
          </a:xfrm>
          <a:prstGeom prst="rect">
            <a:avLst/>
          </a:prstGeom>
          <a:noFill/>
          <a:ln/>
        </p:spPr>
        <p:txBody>
          <a:bodyPr wrap="square" lIns="0" tIns="0" rIns="0" bIns="0" rtlCol="0" anchor="ctr"/>
          <a:lstStyle/>
          <a:p>
            <a:pPr indent="0" marL="0">
              <a:buNone/>
            </a:pPr>
            <a:r>
              <a:rPr lang="en-US" sz="1000" b="1" i="1" dirty="0">
                <a:solidFill>
                  <a:srgbClr val="1A1A2E"/>
                </a:solidFill>
              </a:rPr>
              <a:t>"What's the roadmap for Microsoft Fabric adoption? Is the team exploring it?"</a:t>
            </a:r>
            <a:endParaRPr lang="en-US" sz="1000" dirty="0"/>
          </a:p>
        </p:txBody>
      </p:sp>
      <p:sp>
        <p:nvSpPr>
          <p:cNvPr id="31" name="Text 29"/>
          <p:cNvSpPr/>
          <p:nvPr/>
        </p:nvSpPr>
        <p:spPr>
          <a:xfrm>
            <a:off x="685800" y="3611880"/>
            <a:ext cx="8001000" cy="182880"/>
          </a:xfrm>
          <a:prstGeom prst="rect">
            <a:avLst/>
          </a:prstGeom>
          <a:noFill/>
          <a:ln/>
        </p:spPr>
        <p:txBody>
          <a:bodyPr wrap="square" lIns="0" tIns="0" rIns="0" bIns="0" rtlCol="0" anchor="ctr"/>
          <a:lstStyle/>
          <a:p>
            <a:pPr indent="0" marL="0">
              <a:buNone/>
            </a:pPr>
            <a:r>
              <a:rPr lang="en-US" sz="900" dirty="0">
                <a:solidFill>
                  <a:srgbClr val="6B7280"/>
                </a:solidFill>
              </a:rPr>
              <a:t>Why it works: Fabric is the future of Power BI. Asking this shows you're ahead of the curve.</a:t>
            </a:r>
            <a:endParaRPr lang="en-US" sz="900" dirty="0"/>
          </a:p>
        </p:txBody>
      </p:sp>
      <p:sp>
        <p:nvSpPr>
          <p:cNvPr id="32" name="Shape 30"/>
          <p:cNvSpPr/>
          <p:nvPr/>
        </p:nvSpPr>
        <p:spPr>
          <a:xfrm>
            <a:off x="365760" y="3886200"/>
            <a:ext cx="8412480" cy="475488"/>
          </a:xfrm>
          <a:prstGeom prst="rect">
            <a:avLst/>
          </a:prstGeom>
          <a:solidFill>
            <a:srgbClr val="FFFFFF"/>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33" name="Shape 31"/>
          <p:cNvSpPr/>
          <p:nvPr/>
        </p:nvSpPr>
        <p:spPr>
          <a:xfrm>
            <a:off x="365760" y="3886200"/>
            <a:ext cx="256032" cy="256032"/>
          </a:xfrm>
          <a:prstGeom prst="rect">
            <a:avLst/>
          </a:prstGeom>
          <a:solidFill>
            <a:srgbClr val="C9A84C"/>
          </a:solidFill>
          <a:ln w="12700">
            <a:solidFill>
              <a:srgbClr val="C9A84C"/>
            </a:solidFill>
            <a:prstDash val="solid"/>
          </a:ln>
        </p:spPr>
      </p:sp>
      <p:sp>
        <p:nvSpPr>
          <p:cNvPr id="34" name="Text 32"/>
          <p:cNvSpPr/>
          <p:nvPr/>
        </p:nvSpPr>
        <p:spPr>
          <a:xfrm>
            <a:off x="365760" y="3886200"/>
            <a:ext cx="256032" cy="256032"/>
          </a:xfrm>
          <a:prstGeom prst="rect">
            <a:avLst/>
          </a:prstGeom>
          <a:noFill/>
          <a:ln/>
        </p:spPr>
        <p:txBody>
          <a:bodyPr wrap="square" lIns="0" tIns="0" rIns="0" bIns="0" rtlCol="0" anchor="ctr"/>
          <a:lstStyle/>
          <a:p>
            <a:pPr algn="ctr" indent="0" marL="0">
              <a:buNone/>
            </a:pPr>
            <a:r>
              <a:rPr lang="en-US" sz="1200" b="1" dirty="0">
                <a:solidFill>
                  <a:srgbClr val="12122A"/>
                </a:solidFill>
              </a:rPr>
              <a:t>?</a:t>
            </a:r>
            <a:endParaRPr lang="en-US" sz="1200" dirty="0"/>
          </a:p>
        </p:txBody>
      </p:sp>
      <p:sp>
        <p:nvSpPr>
          <p:cNvPr id="35" name="Text 33"/>
          <p:cNvSpPr/>
          <p:nvPr/>
        </p:nvSpPr>
        <p:spPr>
          <a:xfrm>
            <a:off x="685800" y="3904488"/>
            <a:ext cx="5029200" cy="228600"/>
          </a:xfrm>
          <a:prstGeom prst="rect">
            <a:avLst/>
          </a:prstGeom>
          <a:noFill/>
          <a:ln/>
        </p:spPr>
        <p:txBody>
          <a:bodyPr wrap="square" lIns="0" tIns="0" rIns="0" bIns="0" rtlCol="0" anchor="ctr"/>
          <a:lstStyle/>
          <a:p>
            <a:pPr indent="0" marL="0">
              <a:buNone/>
            </a:pPr>
            <a:r>
              <a:rPr lang="en-US" sz="1000" b="1" i="1" dirty="0">
                <a:solidFill>
                  <a:srgbClr val="1A1A2E"/>
                </a:solidFill>
              </a:rPr>
              <a:t>"What are the biggest blockers to self-service BI adoption across LATAM today?"</a:t>
            </a:r>
            <a:endParaRPr lang="en-US" sz="1000" dirty="0"/>
          </a:p>
        </p:txBody>
      </p:sp>
      <p:sp>
        <p:nvSpPr>
          <p:cNvPr id="36" name="Text 34"/>
          <p:cNvSpPr/>
          <p:nvPr/>
        </p:nvSpPr>
        <p:spPr>
          <a:xfrm>
            <a:off x="685800" y="4142232"/>
            <a:ext cx="8001000" cy="182880"/>
          </a:xfrm>
          <a:prstGeom prst="rect">
            <a:avLst/>
          </a:prstGeom>
          <a:noFill/>
          <a:ln/>
        </p:spPr>
        <p:txBody>
          <a:bodyPr wrap="square" lIns="0" tIns="0" rIns="0" bIns="0" rtlCol="0" anchor="ctr"/>
          <a:lstStyle/>
          <a:p>
            <a:pPr indent="0" marL="0">
              <a:buNone/>
            </a:pPr>
            <a:r>
              <a:rPr lang="en-US" sz="900" dirty="0">
                <a:solidFill>
                  <a:srgbClr val="6B7280"/>
                </a:solidFill>
              </a:rPr>
              <a:t>Why it works: The answer will reveal whether the obstacle is cultural, technical, or organizational.</a:t>
            </a:r>
            <a:endParaRPr lang="en-US" sz="900" dirty="0"/>
          </a:p>
        </p:txBody>
      </p:sp>
      <p:sp>
        <p:nvSpPr>
          <p:cNvPr id="37" name="Shape 35"/>
          <p:cNvSpPr/>
          <p:nvPr/>
        </p:nvSpPr>
        <p:spPr>
          <a:xfrm>
            <a:off x="365760" y="4416552"/>
            <a:ext cx="8412480" cy="475488"/>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38" name="Shape 36"/>
          <p:cNvSpPr/>
          <p:nvPr/>
        </p:nvSpPr>
        <p:spPr>
          <a:xfrm>
            <a:off x="365760" y="4416552"/>
            <a:ext cx="256032" cy="256032"/>
          </a:xfrm>
          <a:prstGeom prst="rect">
            <a:avLst/>
          </a:prstGeom>
          <a:solidFill>
            <a:srgbClr val="C9A84C"/>
          </a:solidFill>
          <a:ln w="12700">
            <a:solidFill>
              <a:srgbClr val="C9A84C"/>
            </a:solidFill>
            <a:prstDash val="solid"/>
          </a:ln>
        </p:spPr>
      </p:sp>
      <p:sp>
        <p:nvSpPr>
          <p:cNvPr id="39" name="Text 37"/>
          <p:cNvSpPr/>
          <p:nvPr/>
        </p:nvSpPr>
        <p:spPr>
          <a:xfrm>
            <a:off x="365760" y="4416552"/>
            <a:ext cx="256032" cy="256032"/>
          </a:xfrm>
          <a:prstGeom prst="rect">
            <a:avLst/>
          </a:prstGeom>
          <a:noFill/>
          <a:ln/>
        </p:spPr>
        <p:txBody>
          <a:bodyPr wrap="square" lIns="0" tIns="0" rIns="0" bIns="0" rtlCol="0" anchor="ctr"/>
          <a:lstStyle/>
          <a:p>
            <a:pPr algn="ctr" indent="0" marL="0">
              <a:buNone/>
            </a:pPr>
            <a:r>
              <a:rPr lang="en-US" sz="1200" b="1" dirty="0">
                <a:solidFill>
                  <a:srgbClr val="12122A"/>
                </a:solidFill>
              </a:rPr>
              <a:t>?</a:t>
            </a:r>
            <a:endParaRPr lang="en-US" sz="1200" dirty="0"/>
          </a:p>
        </p:txBody>
      </p:sp>
      <p:sp>
        <p:nvSpPr>
          <p:cNvPr id="40" name="Text 38"/>
          <p:cNvSpPr/>
          <p:nvPr/>
        </p:nvSpPr>
        <p:spPr>
          <a:xfrm>
            <a:off x="685800" y="4434840"/>
            <a:ext cx="5029200" cy="228600"/>
          </a:xfrm>
          <a:prstGeom prst="rect">
            <a:avLst/>
          </a:prstGeom>
          <a:noFill/>
          <a:ln/>
        </p:spPr>
        <p:txBody>
          <a:bodyPr wrap="square" lIns="0" tIns="0" rIns="0" bIns="0" rtlCol="0" anchor="ctr"/>
          <a:lstStyle/>
          <a:p>
            <a:pPr indent="0" marL="0">
              <a:buNone/>
            </a:pPr>
            <a:r>
              <a:rPr lang="en-US" sz="1000" b="1" i="1" dirty="0">
                <a:solidFill>
                  <a:srgbClr val="1A1A2E"/>
                </a:solidFill>
              </a:rPr>
              <a:t>"How does this role collaborate with the global data team — what decisions are LATAM-autonomous vs. globally aligned?"</a:t>
            </a:r>
            <a:endParaRPr lang="en-US" sz="1000" dirty="0"/>
          </a:p>
        </p:txBody>
      </p:sp>
      <p:sp>
        <p:nvSpPr>
          <p:cNvPr id="41" name="Text 39"/>
          <p:cNvSpPr/>
          <p:nvPr/>
        </p:nvSpPr>
        <p:spPr>
          <a:xfrm>
            <a:off x="685800" y="4672584"/>
            <a:ext cx="8001000" cy="182880"/>
          </a:xfrm>
          <a:prstGeom prst="rect">
            <a:avLst/>
          </a:prstGeom>
          <a:noFill/>
          <a:ln/>
        </p:spPr>
        <p:txBody>
          <a:bodyPr wrap="square" lIns="0" tIns="0" rIns="0" bIns="0" rtlCol="0" anchor="ctr"/>
          <a:lstStyle/>
          <a:p>
            <a:pPr indent="0" marL="0">
              <a:buNone/>
            </a:pPr>
            <a:r>
              <a:rPr lang="en-US" sz="900" dirty="0">
                <a:solidFill>
                  <a:srgbClr val="6B7280"/>
                </a:solidFill>
              </a:rPr>
              <a:t>Why it works: Critical for understanding your actual decision-making authority.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sp>
      <p:sp>
        <p:nvSpPr>
          <p:cNvPr id="3" name="Text 1"/>
          <p:cNvSpPr/>
          <p:nvPr/>
        </p:nvSpPr>
        <p:spPr>
          <a:xfrm>
            <a:off x="365760" y="201168"/>
            <a:ext cx="7772400" cy="502920"/>
          </a:xfrm>
          <a:prstGeom prst="rect">
            <a:avLst/>
          </a:prstGeom>
          <a:noFill/>
          <a:ln/>
        </p:spPr>
        <p:txBody>
          <a:bodyPr wrap="square" lIns="0" tIns="0" rIns="0" bIns="0" rtlCol="0" anchor="ctr"/>
          <a:lstStyle/>
          <a:p>
            <a:pPr algn="l" indent="0" marL="0">
              <a:buNone/>
            </a:pPr>
            <a:r>
              <a:rPr lang="en-US" sz="2200" b="1" dirty="0">
                <a:solidFill>
                  <a:srgbClr val="1A1A2E"/>
                </a:solidFill>
                <a:latin typeface="Georgia" pitchFamily="34" charset="0"/>
                <a:ea typeface="Georgia" pitchFamily="34" charset="-122"/>
                <a:cs typeface="Georgia" pitchFamily="34" charset="-120"/>
              </a:rPr>
              <a:t>Your 30-60-90 Day Plan — Land &amp; Deliver</a:t>
            </a:r>
            <a:endParaRPr lang="en-US" sz="2200" dirty="0"/>
          </a:p>
        </p:txBody>
      </p:sp>
      <p:sp>
        <p:nvSpPr>
          <p:cNvPr id="4" name="Shape 2"/>
          <p:cNvSpPr/>
          <p:nvPr/>
        </p:nvSpPr>
        <p:spPr>
          <a:xfrm>
            <a:off x="365760" y="749808"/>
            <a:ext cx="8412480" cy="0"/>
          </a:xfrm>
          <a:prstGeom prst="line">
            <a:avLst/>
          </a:prstGeom>
          <a:noFill/>
          <a:ln w="9525">
            <a:solidFill>
              <a:srgbClr val="D1D5E8"/>
            </a:solidFill>
            <a:prstDash val="solid"/>
          </a:ln>
        </p:spPr>
      </p:sp>
      <p:sp>
        <p:nvSpPr>
          <p:cNvPr id="5" name="Shape 3"/>
          <p:cNvSpPr/>
          <p:nvPr/>
        </p:nvSpPr>
        <p:spPr>
          <a:xfrm>
            <a:off x="365760" y="868680"/>
            <a:ext cx="8412480" cy="274320"/>
          </a:xfrm>
          <a:prstGeom prst="rect">
            <a:avLst/>
          </a:prstGeom>
          <a:solidFill>
            <a:srgbClr val="12122A"/>
          </a:solidFill>
          <a:ln w="12700">
            <a:solidFill>
              <a:srgbClr val="12122A"/>
            </a:solidFill>
            <a:prstDash val="solid"/>
          </a:ln>
        </p:spPr>
      </p:sp>
      <p:sp>
        <p:nvSpPr>
          <p:cNvPr id="6" name="Text 4"/>
          <p:cNvSpPr/>
          <p:nvPr/>
        </p:nvSpPr>
        <p:spPr>
          <a:xfrm>
            <a:off x="411480" y="868680"/>
            <a:ext cx="8321040" cy="274320"/>
          </a:xfrm>
          <a:prstGeom prst="rect">
            <a:avLst/>
          </a:prstGeom>
          <a:noFill/>
          <a:ln/>
        </p:spPr>
        <p:txBody>
          <a:bodyPr wrap="square" lIns="0" tIns="0" rIns="0" bIns="0" rtlCol="0" anchor="ctr"/>
          <a:lstStyle/>
          <a:p>
            <a:pPr indent="0" marL="0">
              <a:buNone/>
            </a:pPr>
            <a:r>
              <a:rPr lang="en-US" sz="1000" i="1" dirty="0">
                <a:solidFill>
                  <a:srgbClr val="E8D5A3"/>
                </a:solidFill>
              </a:rPr>
              <a:t>Proactively presenting a 30-60-90 plan closes most interviews. It shows you've already thought like an owner.</a:t>
            </a:r>
            <a:endParaRPr lang="en-US" sz="1000" dirty="0"/>
          </a:p>
        </p:txBody>
      </p:sp>
      <p:sp>
        <p:nvSpPr>
          <p:cNvPr id="7" name="Shape 5"/>
          <p:cNvSpPr/>
          <p:nvPr/>
        </p:nvSpPr>
        <p:spPr>
          <a:xfrm>
            <a:off x="365760" y="1234440"/>
            <a:ext cx="2788920" cy="379476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8" name="Shape 6"/>
          <p:cNvSpPr/>
          <p:nvPr/>
        </p:nvSpPr>
        <p:spPr>
          <a:xfrm>
            <a:off x="365760" y="1234440"/>
            <a:ext cx="2788920" cy="502920"/>
          </a:xfrm>
          <a:prstGeom prst="rect">
            <a:avLst/>
          </a:prstGeom>
          <a:solidFill>
            <a:srgbClr val="12122A"/>
          </a:solidFill>
          <a:ln w="12700">
            <a:solidFill>
              <a:srgbClr val="12122A"/>
            </a:solidFill>
            <a:prstDash val="solid"/>
          </a:ln>
        </p:spPr>
      </p:sp>
      <p:sp>
        <p:nvSpPr>
          <p:cNvPr id="9" name="Text 7"/>
          <p:cNvSpPr/>
          <p:nvPr/>
        </p:nvSpPr>
        <p:spPr>
          <a:xfrm>
            <a:off x="457200" y="1261872"/>
            <a:ext cx="2606040" cy="210312"/>
          </a:xfrm>
          <a:prstGeom prst="rect">
            <a:avLst/>
          </a:prstGeom>
          <a:noFill/>
          <a:ln/>
        </p:spPr>
        <p:txBody>
          <a:bodyPr wrap="square" lIns="0" tIns="0" rIns="0" bIns="0" rtlCol="0" anchor="ctr"/>
          <a:lstStyle/>
          <a:p>
            <a:pPr indent="0" marL="0">
              <a:buNone/>
            </a:pPr>
            <a:r>
              <a:rPr lang="en-US" sz="1000" b="1" dirty="0">
                <a:solidFill>
                  <a:srgbClr val="C9A84C"/>
                </a:solidFill>
              </a:rPr>
              <a:t>Days 1–30</a:t>
            </a:r>
            <a:endParaRPr lang="en-US" sz="1000" dirty="0"/>
          </a:p>
        </p:txBody>
      </p:sp>
      <p:sp>
        <p:nvSpPr>
          <p:cNvPr id="10" name="Text 8"/>
          <p:cNvSpPr/>
          <p:nvPr/>
        </p:nvSpPr>
        <p:spPr>
          <a:xfrm>
            <a:off x="457200" y="1490472"/>
            <a:ext cx="2606040" cy="210312"/>
          </a:xfrm>
          <a:prstGeom prst="rect">
            <a:avLst/>
          </a:prstGeom>
          <a:noFill/>
          <a:ln/>
        </p:spPr>
        <p:txBody>
          <a:bodyPr wrap="square" lIns="0" tIns="0" rIns="0" bIns="0" rtlCol="0" anchor="ctr"/>
          <a:lstStyle/>
          <a:p>
            <a:pPr indent="0" marL="0">
              <a:buNone/>
            </a:pPr>
            <a:r>
              <a:rPr lang="en-US" sz="1100" b="1" dirty="0">
                <a:solidFill>
                  <a:srgbClr val="FFFFFF"/>
                </a:solidFill>
              </a:rPr>
              <a:t>Listen &amp; Assess</a:t>
            </a:r>
            <a:endParaRPr lang="en-US" sz="1100" dirty="0"/>
          </a:p>
        </p:txBody>
      </p:sp>
      <p:sp>
        <p:nvSpPr>
          <p:cNvPr id="11" name="Text 9"/>
          <p:cNvSpPr/>
          <p:nvPr/>
        </p:nvSpPr>
        <p:spPr>
          <a:xfrm>
            <a:off x="475488" y="1828800"/>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Meet every key stakeholder: CDAO team, Global Data, country data leads, ops team</a:t>
            </a:r>
            <a:pPr indent="0" marL="0">
              <a:buNone/>
            </a:pPr>
            <a:endParaRPr lang="en-US" sz="900" dirty="0"/>
          </a:p>
        </p:txBody>
      </p:sp>
      <p:sp>
        <p:nvSpPr>
          <p:cNvPr id="12" name="Text 10"/>
          <p:cNvSpPr/>
          <p:nvPr/>
        </p:nvSpPr>
        <p:spPr>
          <a:xfrm>
            <a:off x="475488" y="2267712"/>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Audit all LATAM workspaces using Admin REST API / Scanner API</a:t>
            </a:r>
            <a:pPr indent="0" marL="0">
              <a:buNone/>
            </a:pPr>
            <a:endParaRPr lang="en-US" sz="900" dirty="0"/>
          </a:p>
        </p:txBody>
      </p:sp>
      <p:sp>
        <p:nvSpPr>
          <p:cNvPr id="13" name="Text 11"/>
          <p:cNvSpPr/>
          <p:nvPr/>
        </p:nvSpPr>
        <p:spPr>
          <a:xfrm>
            <a:off x="475488" y="2706624"/>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Document current state: governance gaps, dataset sprawl, usage patterns</a:t>
            </a:r>
            <a:pPr indent="0" marL="0">
              <a:buNone/>
            </a:pPr>
            <a:endParaRPr lang="en-US" sz="900" dirty="0"/>
          </a:p>
        </p:txBody>
      </p:sp>
      <p:sp>
        <p:nvSpPr>
          <p:cNvPr id="14" name="Text 12"/>
          <p:cNvSpPr/>
          <p:nvPr/>
        </p:nvSpPr>
        <p:spPr>
          <a:xfrm>
            <a:off x="475488" y="3145536"/>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Understand existing BigQuery architecture and how Power BI connects to it</a:t>
            </a:r>
            <a:pPr indent="0" marL="0">
              <a:buNone/>
            </a:pPr>
            <a:endParaRPr lang="en-US" sz="900" dirty="0"/>
          </a:p>
        </p:txBody>
      </p:sp>
      <p:sp>
        <p:nvSpPr>
          <p:cNvPr id="15" name="Text 13"/>
          <p:cNvSpPr/>
          <p:nvPr/>
        </p:nvSpPr>
        <p:spPr>
          <a:xfrm>
            <a:off x="475488" y="3584448"/>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Review Premium capacity usage metrics — identify current bottlenecks</a:t>
            </a:r>
            <a:pPr indent="0" marL="0">
              <a:buNone/>
            </a:pPr>
            <a:endParaRPr lang="en-US" sz="900" dirty="0"/>
          </a:p>
        </p:txBody>
      </p:sp>
      <p:sp>
        <p:nvSpPr>
          <p:cNvPr id="16" name="Text 14"/>
          <p:cNvSpPr/>
          <p:nvPr/>
        </p:nvSpPr>
        <p:spPr>
          <a:xfrm>
            <a:off x="475488" y="4023360"/>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Attend all standing meetings in listen-only mode before contributing</a:t>
            </a:r>
            <a:pPr indent="0" marL="0">
              <a:buNone/>
            </a:pPr>
            <a:endParaRPr lang="en-US" sz="900" dirty="0"/>
          </a:p>
        </p:txBody>
      </p:sp>
      <p:sp>
        <p:nvSpPr>
          <p:cNvPr id="17" name="Text 15"/>
          <p:cNvSpPr/>
          <p:nvPr/>
        </p:nvSpPr>
        <p:spPr>
          <a:xfrm>
            <a:off x="475488" y="4462272"/>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b="1" dirty="0">
                <a:solidFill>
                  <a:srgbClr val="12122A"/>
                </a:solidFill>
              </a:rPr>
              <a:t>DELIVERABLE: Current-state assessment report + priority gap matrix</a:t>
            </a:r>
            <a:endParaRPr lang="en-US" sz="900" dirty="0"/>
          </a:p>
        </p:txBody>
      </p:sp>
      <p:sp>
        <p:nvSpPr>
          <p:cNvPr id="18" name="Shape 16"/>
          <p:cNvSpPr/>
          <p:nvPr/>
        </p:nvSpPr>
        <p:spPr>
          <a:xfrm>
            <a:off x="3291840" y="1234440"/>
            <a:ext cx="2788920" cy="379476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19" name="Shape 17"/>
          <p:cNvSpPr/>
          <p:nvPr/>
        </p:nvSpPr>
        <p:spPr>
          <a:xfrm>
            <a:off x="3291840" y="1234440"/>
            <a:ext cx="2788920" cy="502920"/>
          </a:xfrm>
          <a:prstGeom prst="rect">
            <a:avLst/>
          </a:prstGeom>
          <a:solidFill>
            <a:srgbClr val="1E1E42"/>
          </a:solidFill>
          <a:ln w="12700">
            <a:solidFill>
              <a:srgbClr val="1E1E42"/>
            </a:solidFill>
            <a:prstDash val="solid"/>
          </a:ln>
        </p:spPr>
      </p:sp>
      <p:sp>
        <p:nvSpPr>
          <p:cNvPr id="20" name="Text 18"/>
          <p:cNvSpPr/>
          <p:nvPr/>
        </p:nvSpPr>
        <p:spPr>
          <a:xfrm>
            <a:off x="3383280" y="1261872"/>
            <a:ext cx="2606040" cy="210312"/>
          </a:xfrm>
          <a:prstGeom prst="rect">
            <a:avLst/>
          </a:prstGeom>
          <a:noFill/>
          <a:ln/>
        </p:spPr>
        <p:txBody>
          <a:bodyPr wrap="square" lIns="0" tIns="0" rIns="0" bIns="0" rtlCol="0" anchor="ctr"/>
          <a:lstStyle/>
          <a:p>
            <a:pPr indent="0" marL="0">
              <a:buNone/>
            </a:pPr>
            <a:r>
              <a:rPr lang="en-US" sz="1000" b="1" dirty="0">
                <a:solidFill>
                  <a:srgbClr val="C9A84C"/>
                </a:solidFill>
              </a:rPr>
              <a:t>Days 31–60</a:t>
            </a:r>
            <a:endParaRPr lang="en-US" sz="1000" dirty="0"/>
          </a:p>
        </p:txBody>
      </p:sp>
      <p:sp>
        <p:nvSpPr>
          <p:cNvPr id="21" name="Text 19"/>
          <p:cNvSpPr/>
          <p:nvPr/>
        </p:nvSpPr>
        <p:spPr>
          <a:xfrm>
            <a:off x="3383280" y="1490472"/>
            <a:ext cx="2606040" cy="210312"/>
          </a:xfrm>
          <a:prstGeom prst="rect">
            <a:avLst/>
          </a:prstGeom>
          <a:noFill/>
          <a:ln/>
        </p:spPr>
        <p:txBody>
          <a:bodyPr wrap="square" lIns="0" tIns="0" rIns="0" bIns="0" rtlCol="0" anchor="ctr"/>
          <a:lstStyle/>
          <a:p>
            <a:pPr indent="0" marL="0">
              <a:buNone/>
            </a:pPr>
            <a:r>
              <a:rPr lang="en-US" sz="1100" b="1" dirty="0">
                <a:solidFill>
                  <a:srgbClr val="FFFFFF"/>
                </a:solidFill>
              </a:rPr>
              <a:t>Propose &amp; Pilot</a:t>
            </a:r>
            <a:endParaRPr lang="en-US" sz="1100" dirty="0"/>
          </a:p>
        </p:txBody>
      </p:sp>
      <p:sp>
        <p:nvSpPr>
          <p:cNvPr id="22" name="Text 20"/>
          <p:cNvSpPr/>
          <p:nvPr/>
        </p:nvSpPr>
        <p:spPr>
          <a:xfrm>
            <a:off x="3401568" y="1828800"/>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Present governance framework proposal to CDAO — get alignment</a:t>
            </a:r>
            <a:pPr indent="0" marL="0">
              <a:buNone/>
            </a:pPr>
            <a:endParaRPr lang="en-US" sz="900" dirty="0"/>
          </a:p>
        </p:txBody>
      </p:sp>
      <p:sp>
        <p:nvSpPr>
          <p:cNvPr id="23" name="Text 21"/>
          <p:cNvSpPr/>
          <p:nvPr/>
        </p:nvSpPr>
        <p:spPr>
          <a:xfrm>
            <a:off x="3401568" y="2267712"/>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Launch workspace naming convention + announce new workspace request process</a:t>
            </a:r>
            <a:pPr indent="0" marL="0">
              <a:buNone/>
            </a:pPr>
            <a:endParaRPr lang="en-US" sz="900" dirty="0"/>
          </a:p>
        </p:txBody>
      </p:sp>
      <p:sp>
        <p:nvSpPr>
          <p:cNvPr id="24" name="Text 22"/>
          <p:cNvSpPr/>
          <p:nvPr/>
        </p:nvSpPr>
        <p:spPr>
          <a:xfrm>
            <a:off x="3401568" y="2706624"/>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Identify 2-3 high-impact datasets to certify and publish as shared sources</a:t>
            </a:r>
            <a:pPr indent="0" marL="0">
              <a:buNone/>
            </a:pPr>
            <a:endParaRPr lang="en-US" sz="900" dirty="0"/>
          </a:p>
        </p:txBody>
      </p:sp>
      <p:sp>
        <p:nvSpPr>
          <p:cNvPr id="25" name="Text 23"/>
          <p:cNvSpPr/>
          <p:nvPr/>
        </p:nvSpPr>
        <p:spPr>
          <a:xfrm>
            <a:off x="3401568" y="3145536"/>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Run first monthly training session (announced, structured)</a:t>
            </a:r>
            <a:pPr indent="0" marL="0">
              <a:buNone/>
            </a:pPr>
            <a:endParaRPr lang="en-US" sz="900" dirty="0"/>
          </a:p>
        </p:txBody>
      </p:sp>
      <p:sp>
        <p:nvSpPr>
          <p:cNvPr id="26" name="Text 24"/>
          <p:cNvSpPr/>
          <p:nvPr/>
        </p:nvSpPr>
        <p:spPr>
          <a:xfrm>
            <a:off x="3401568" y="3584448"/>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Build first governance dashboard using Premium Capacity Metrics + Scanner API</a:t>
            </a:r>
            <a:pPr indent="0" marL="0">
              <a:buNone/>
            </a:pPr>
            <a:endParaRPr lang="en-US" sz="900" dirty="0"/>
          </a:p>
        </p:txBody>
      </p:sp>
      <p:sp>
        <p:nvSpPr>
          <p:cNvPr id="27" name="Text 25"/>
          <p:cNvSpPr/>
          <p:nvPr/>
        </p:nvSpPr>
        <p:spPr>
          <a:xfrm>
            <a:off x="3401568" y="4023360"/>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Execute first POC: evaluate Composite Model approach for top BQ-connected report</a:t>
            </a:r>
            <a:pPr indent="0" marL="0">
              <a:buNone/>
            </a:pPr>
            <a:endParaRPr lang="en-US" sz="900" dirty="0"/>
          </a:p>
        </p:txBody>
      </p:sp>
      <p:sp>
        <p:nvSpPr>
          <p:cNvPr id="28" name="Text 26"/>
          <p:cNvSpPr/>
          <p:nvPr/>
        </p:nvSpPr>
        <p:spPr>
          <a:xfrm>
            <a:off x="3401568" y="4462272"/>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b="1" dirty="0">
                <a:solidFill>
                  <a:srgbClr val="12122A"/>
                </a:solidFill>
              </a:rPr>
              <a:t>DELIVERABLE: Governance v1 playbook + pilot workspace migration</a:t>
            </a:r>
            <a:endParaRPr lang="en-US" sz="900" dirty="0"/>
          </a:p>
        </p:txBody>
      </p:sp>
      <p:sp>
        <p:nvSpPr>
          <p:cNvPr id="29" name="Shape 27"/>
          <p:cNvSpPr/>
          <p:nvPr/>
        </p:nvSpPr>
        <p:spPr>
          <a:xfrm>
            <a:off x="6217920" y="1234440"/>
            <a:ext cx="2788920" cy="3794760"/>
          </a:xfrm>
          <a:prstGeom prst="rect">
            <a:avLst/>
          </a:prstGeom>
          <a:solidFill>
            <a:srgbClr val="EEF0FA"/>
          </a:solidFill>
          <a:ln w="9525">
            <a:solidFill>
              <a:srgbClr val="D1D5E8"/>
            </a:solidFill>
            <a:prstDash val="solid"/>
          </a:ln>
          <a:effectLst>
            <a:outerShdw sx="100000" sy="100000" kx="0" ky="0" algn="bl" rotWithShape="0" blurRad="50800" dist="12700" dir="8100000">
              <a:srgbClr val="000000">
                <a:alpha val="7000"/>
              </a:srgbClr>
            </a:outerShdw>
          </a:effectLst>
        </p:spPr>
      </p:sp>
      <p:sp>
        <p:nvSpPr>
          <p:cNvPr id="30" name="Shape 28"/>
          <p:cNvSpPr/>
          <p:nvPr/>
        </p:nvSpPr>
        <p:spPr>
          <a:xfrm>
            <a:off x="6217920" y="1234440"/>
            <a:ext cx="2788920" cy="502920"/>
          </a:xfrm>
          <a:prstGeom prst="rect">
            <a:avLst/>
          </a:prstGeom>
          <a:solidFill>
            <a:srgbClr val="0D3B6E"/>
          </a:solidFill>
          <a:ln w="12700">
            <a:solidFill>
              <a:srgbClr val="0D3B6E"/>
            </a:solidFill>
            <a:prstDash val="solid"/>
          </a:ln>
        </p:spPr>
      </p:sp>
      <p:sp>
        <p:nvSpPr>
          <p:cNvPr id="31" name="Text 29"/>
          <p:cNvSpPr/>
          <p:nvPr/>
        </p:nvSpPr>
        <p:spPr>
          <a:xfrm>
            <a:off x="6309360" y="1261872"/>
            <a:ext cx="2606040" cy="210312"/>
          </a:xfrm>
          <a:prstGeom prst="rect">
            <a:avLst/>
          </a:prstGeom>
          <a:noFill/>
          <a:ln/>
        </p:spPr>
        <p:txBody>
          <a:bodyPr wrap="square" lIns="0" tIns="0" rIns="0" bIns="0" rtlCol="0" anchor="ctr"/>
          <a:lstStyle/>
          <a:p>
            <a:pPr indent="0" marL="0">
              <a:buNone/>
            </a:pPr>
            <a:r>
              <a:rPr lang="en-US" sz="1000" b="1" dirty="0">
                <a:solidFill>
                  <a:srgbClr val="C9A84C"/>
                </a:solidFill>
              </a:rPr>
              <a:t>Days 61–90</a:t>
            </a:r>
            <a:endParaRPr lang="en-US" sz="1000" dirty="0"/>
          </a:p>
        </p:txBody>
      </p:sp>
      <p:sp>
        <p:nvSpPr>
          <p:cNvPr id="32" name="Text 30"/>
          <p:cNvSpPr/>
          <p:nvPr/>
        </p:nvSpPr>
        <p:spPr>
          <a:xfrm>
            <a:off x="6309360" y="1490472"/>
            <a:ext cx="2606040" cy="210312"/>
          </a:xfrm>
          <a:prstGeom prst="rect">
            <a:avLst/>
          </a:prstGeom>
          <a:noFill/>
          <a:ln/>
        </p:spPr>
        <p:txBody>
          <a:bodyPr wrap="square" lIns="0" tIns="0" rIns="0" bIns="0" rtlCol="0" anchor="ctr"/>
          <a:lstStyle/>
          <a:p>
            <a:pPr indent="0" marL="0">
              <a:buNone/>
            </a:pPr>
            <a:r>
              <a:rPr lang="en-US" sz="1100" b="1" dirty="0">
                <a:solidFill>
                  <a:srgbClr val="FFFFFF"/>
                </a:solidFill>
              </a:rPr>
              <a:t>Execute &amp; Measure</a:t>
            </a:r>
            <a:endParaRPr lang="en-US" sz="1100" dirty="0"/>
          </a:p>
        </p:txBody>
      </p:sp>
      <p:sp>
        <p:nvSpPr>
          <p:cNvPr id="33" name="Text 31"/>
          <p:cNvSpPr/>
          <p:nvPr/>
        </p:nvSpPr>
        <p:spPr>
          <a:xfrm>
            <a:off x="6327648" y="1828800"/>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Roll out Deployment Pipelines to top-5 business-critical workspaces</a:t>
            </a:r>
            <a:pPr indent="0" marL="0">
              <a:buNone/>
            </a:pPr>
            <a:endParaRPr lang="en-US" sz="900" dirty="0"/>
          </a:p>
        </p:txBody>
      </p:sp>
      <p:sp>
        <p:nvSpPr>
          <p:cNvPr id="34" name="Text 32"/>
          <p:cNvSpPr/>
          <p:nvPr/>
        </p:nvSpPr>
        <p:spPr>
          <a:xfrm>
            <a:off x="6327648" y="2267712"/>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Implement dynamic RLS on certified datasets using security group model</a:t>
            </a:r>
            <a:pPr indent="0" marL="0">
              <a:buNone/>
            </a:pPr>
            <a:endParaRPr lang="en-US" sz="900" dirty="0"/>
          </a:p>
        </p:txBody>
      </p:sp>
      <p:sp>
        <p:nvSpPr>
          <p:cNvPr id="35" name="Text 33"/>
          <p:cNvSpPr/>
          <p:nvPr/>
        </p:nvSpPr>
        <p:spPr>
          <a:xfrm>
            <a:off x="6327648" y="2706624"/>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Launch champion network: 1 champion per LATAM country identified and trained</a:t>
            </a:r>
            <a:pPr indent="0" marL="0">
              <a:buNone/>
            </a:pPr>
            <a:endParaRPr lang="en-US" sz="900" dirty="0"/>
          </a:p>
        </p:txBody>
      </p:sp>
      <p:sp>
        <p:nvSpPr>
          <p:cNvPr id="36" name="Text 34"/>
          <p:cNvSpPr/>
          <p:nvPr/>
        </p:nvSpPr>
        <p:spPr>
          <a:xfrm>
            <a:off x="6327648" y="3145536"/>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Deliver quarterly enablement workshop (first one)</a:t>
            </a:r>
            <a:pPr indent="0" marL="0">
              <a:buNone/>
            </a:pPr>
            <a:endParaRPr lang="en-US" sz="900" dirty="0"/>
          </a:p>
        </p:txBody>
      </p:sp>
      <p:sp>
        <p:nvSpPr>
          <p:cNvPr id="37" name="Text 35"/>
          <p:cNvSpPr/>
          <p:nvPr/>
        </p:nvSpPr>
        <p:spPr>
          <a:xfrm>
            <a:off x="6327648" y="3584448"/>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Report on KPIs: workspace compliance rate, certified dataset usage %, adoption growth</a:t>
            </a:r>
            <a:pPr indent="0" marL="0">
              <a:buNone/>
            </a:pPr>
            <a:endParaRPr lang="en-US" sz="900" dirty="0"/>
          </a:p>
        </p:txBody>
      </p:sp>
      <p:sp>
        <p:nvSpPr>
          <p:cNvPr id="38" name="Text 36"/>
          <p:cNvSpPr/>
          <p:nvPr/>
        </p:nvSpPr>
        <p:spPr>
          <a:xfrm>
            <a:off x="6327648" y="4023360"/>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dirty="0">
                <a:solidFill>
                  <a:srgbClr val="1A1A2E"/>
                </a:solidFill>
              </a:rPr>
              <a:t>Present "State of Power BI LATAM" summary to CDAO</a:t>
            </a:r>
            <a:pPr indent="0" marL="0">
              <a:buNone/>
            </a:pPr>
            <a:endParaRPr lang="en-US" sz="900" dirty="0"/>
          </a:p>
        </p:txBody>
      </p:sp>
      <p:sp>
        <p:nvSpPr>
          <p:cNvPr id="39" name="Text 37"/>
          <p:cNvSpPr/>
          <p:nvPr/>
        </p:nvSpPr>
        <p:spPr>
          <a:xfrm>
            <a:off x="6327648" y="4462272"/>
            <a:ext cx="2578608" cy="411480"/>
          </a:xfrm>
          <a:prstGeom prst="rect">
            <a:avLst/>
          </a:prstGeom>
          <a:noFill/>
          <a:ln/>
        </p:spPr>
        <p:txBody>
          <a:bodyPr wrap="square" lIns="0" tIns="0" rIns="0" bIns="0" rtlCol="0" anchor="ctr"/>
          <a:lstStyle/>
          <a:p>
            <a:pPr indent="0" marL="0">
              <a:buNone/>
            </a:pPr>
            <a:r>
              <a:rPr lang="en-US" sz="900" b="1" dirty="0">
                <a:solidFill>
                  <a:srgbClr val="C9A84C"/>
                </a:solidFill>
              </a:rPr>
              <a:t>★  </a:t>
            </a:r>
            <a:pPr indent="0" marL="0">
              <a:buNone/>
            </a:pPr>
            <a:r>
              <a:rPr lang="en-US" sz="900" b="1" dirty="0">
                <a:solidFill>
                  <a:srgbClr val="12122A"/>
                </a:solidFill>
              </a:rPr>
              <a:t>DELIVERABLE: Governance score card + champion network charter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22A"/>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9A84C"/>
          </a:solidFill>
          <a:ln w="12700">
            <a:solidFill>
              <a:srgbClr val="C9A84C"/>
            </a:solidFill>
            <a:prstDash val="solid"/>
          </a:ln>
        </p:spPr>
      </p:sp>
      <p:sp>
        <p:nvSpPr>
          <p:cNvPr id="3" name="Text 1"/>
          <p:cNvSpPr/>
          <p:nvPr/>
        </p:nvSpPr>
        <p:spPr>
          <a:xfrm>
            <a:off x="411480" y="320040"/>
            <a:ext cx="8229600" cy="320040"/>
          </a:xfrm>
          <a:prstGeom prst="rect">
            <a:avLst/>
          </a:prstGeom>
          <a:noFill/>
          <a:ln/>
        </p:spPr>
        <p:txBody>
          <a:bodyPr wrap="square" lIns="0" tIns="0" rIns="0" bIns="0" rtlCol="0" anchor="ctr"/>
          <a:lstStyle/>
          <a:p>
            <a:pPr algn="l" indent="0" marL="0">
              <a:buNone/>
            </a:pPr>
            <a:r>
              <a:rPr lang="en-US" sz="1000" b="1" spc="300" kern="0" dirty="0">
                <a:solidFill>
                  <a:srgbClr val="C9A84C"/>
                </a:solidFill>
              </a:rPr>
              <a:t>YOUR 5 KEY MESSAGES</a:t>
            </a:r>
            <a:endParaRPr lang="en-US" sz="1000" dirty="0"/>
          </a:p>
        </p:txBody>
      </p:sp>
      <p:sp>
        <p:nvSpPr>
          <p:cNvPr id="4" name="Text 2"/>
          <p:cNvSpPr/>
          <p:nvPr/>
        </p:nvSpPr>
        <p:spPr>
          <a:xfrm>
            <a:off x="411480" y="658368"/>
            <a:ext cx="8229600" cy="274320"/>
          </a:xfrm>
          <a:prstGeom prst="rect">
            <a:avLst/>
          </a:prstGeom>
          <a:noFill/>
          <a:ln/>
        </p:spPr>
        <p:txBody>
          <a:bodyPr wrap="square" lIns="0" tIns="0" rIns="0" bIns="0" rtlCol="0" anchor="ctr"/>
          <a:lstStyle/>
          <a:p>
            <a:pPr algn="l" indent="0" marL="0">
              <a:buNone/>
            </a:pPr>
            <a:r>
              <a:rPr lang="en-US" sz="1200" i="1" dirty="0">
                <a:solidFill>
                  <a:srgbClr val="A0A8C0"/>
                </a:solidFill>
              </a:rPr>
              <a:t>Walk out of the interview having landed these</a:t>
            </a:r>
            <a:endParaRPr lang="en-US" sz="1200" dirty="0"/>
          </a:p>
        </p:txBody>
      </p:sp>
      <p:sp>
        <p:nvSpPr>
          <p:cNvPr id="5" name="Shape 3"/>
          <p:cNvSpPr/>
          <p:nvPr/>
        </p:nvSpPr>
        <p:spPr>
          <a:xfrm>
            <a:off x="411480" y="1024128"/>
            <a:ext cx="457200" cy="530352"/>
          </a:xfrm>
          <a:prstGeom prst="rect">
            <a:avLst/>
          </a:prstGeom>
          <a:solidFill>
            <a:srgbClr val="C9A84C"/>
          </a:solidFill>
          <a:ln w="12700">
            <a:solidFill>
              <a:srgbClr val="C9A84C"/>
            </a:solidFill>
            <a:prstDash val="solid"/>
          </a:ln>
        </p:spPr>
      </p:sp>
      <p:sp>
        <p:nvSpPr>
          <p:cNvPr id="6" name="Text 4"/>
          <p:cNvSpPr/>
          <p:nvPr/>
        </p:nvSpPr>
        <p:spPr>
          <a:xfrm>
            <a:off x="411480" y="1024128"/>
            <a:ext cx="457200" cy="530352"/>
          </a:xfrm>
          <a:prstGeom prst="rect">
            <a:avLst/>
          </a:prstGeom>
          <a:noFill/>
          <a:ln/>
        </p:spPr>
        <p:txBody>
          <a:bodyPr wrap="square" lIns="0" tIns="0" rIns="0" bIns="0" rtlCol="0" anchor="ctr"/>
          <a:lstStyle/>
          <a:p>
            <a:pPr algn="ctr" indent="0" marL="0">
              <a:buNone/>
            </a:pPr>
            <a:r>
              <a:rPr lang="en-US" sz="1600" b="1" dirty="0">
                <a:solidFill>
                  <a:srgbClr val="12122A"/>
                </a:solidFill>
                <a:latin typeface="Georgia" pitchFamily="34" charset="0"/>
                <a:ea typeface="Georgia" pitchFamily="34" charset="-122"/>
                <a:cs typeface="Georgia" pitchFamily="34" charset="-120"/>
              </a:rPr>
              <a:t>01</a:t>
            </a:r>
            <a:endParaRPr lang="en-US" sz="1600" dirty="0"/>
          </a:p>
        </p:txBody>
      </p:sp>
      <p:sp>
        <p:nvSpPr>
          <p:cNvPr id="7" name="Shape 5"/>
          <p:cNvSpPr/>
          <p:nvPr/>
        </p:nvSpPr>
        <p:spPr>
          <a:xfrm>
            <a:off x="960120" y="1024128"/>
            <a:ext cx="7772400" cy="530352"/>
          </a:xfrm>
          <a:prstGeom prst="rect">
            <a:avLst/>
          </a:prstGeom>
          <a:solidFill>
            <a:srgbClr val="1E1E42"/>
          </a:solidFill>
          <a:ln w="9525">
            <a:solidFill>
              <a:srgbClr val="2E2E5A"/>
            </a:solidFill>
            <a:prstDash val="solid"/>
          </a:ln>
          <a:effectLst>
            <a:outerShdw sx="100000" sy="100000" kx="0" ky="0" algn="bl" rotWithShape="0" blurRad="50800" dist="12700" dir="8100000">
              <a:srgbClr val="000000">
                <a:alpha val="7000"/>
              </a:srgbClr>
            </a:outerShdw>
          </a:effectLst>
        </p:spPr>
      </p:sp>
      <p:sp>
        <p:nvSpPr>
          <p:cNvPr id="8" name="Text 6"/>
          <p:cNvSpPr/>
          <p:nvPr/>
        </p:nvSpPr>
        <p:spPr>
          <a:xfrm>
            <a:off x="1078992" y="1024128"/>
            <a:ext cx="7498080" cy="530352"/>
          </a:xfrm>
          <a:prstGeom prst="rect">
            <a:avLst/>
          </a:prstGeom>
          <a:noFill/>
          <a:ln/>
        </p:spPr>
        <p:txBody>
          <a:bodyPr wrap="square" lIns="0" tIns="0" rIns="0" bIns="0" rtlCol="0" anchor="ctr"/>
          <a:lstStyle/>
          <a:p>
            <a:pPr indent="0" marL="0">
              <a:buNone/>
            </a:pPr>
            <a:r>
              <a:rPr lang="en-US" sz="1100" dirty="0">
                <a:solidFill>
                  <a:srgbClr val="FFFFFF"/>
                </a:solidFill>
              </a:rPr>
              <a:t>I am a governance architect, not just a dashboard builder. I think in frameworks, lifecycle stages, and adoption — not just visuals.</a:t>
            </a:r>
            <a:endParaRPr lang="en-US" sz="1100" dirty="0"/>
          </a:p>
        </p:txBody>
      </p:sp>
      <p:sp>
        <p:nvSpPr>
          <p:cNvPr id="9" name="Shape 7"/>
          <p:cNvSpPr/>
          <p:nvPr/>
        </p:nvSpPr>
        <p:spPr>
          <a:xfrm>
            <a:off x="411480" y="1819656"/>
            <a:ext cx="457200" cy="530352"/>
          </a:xfrm>
          <a:prstGeom prst="rect">
            <a:avLst/>
          </a:prstGeom>
          <a:solidFill>
            <a:srgbClr val="C9A84C"/>
          </a:solidFill>
          <a:ln w="12700">
            <a:solidFill>
              <a:srgbClr val="C9A84C"/>
            </a:solidFill>
            <a:prstDash val="solid"/>
          </a:ln>
        </p:spPr>
      </p:sp>
      <p:sp>
        <p:nvSpPr>
          <p:cNvPr id="10" name="Text 8"/>
          <p:cNvSpPr/>
          <p:nvPr/>
        </p:nvSpPr>
        <p:spPr>
          <a:xfrm>
            <a:off x="411480" y="1819656"/>
            <a:ext cx="457200" cy="530352"/>
          </a:xfrm>
          <a:prstGeom prst="rect">
            <a:avLst/>
          </a:prstGeom>
          <a:noFill/>
          <a:ln/>
        </p:spPr>
        <p:txBody>
          <a:bodyPr wrap="square" lIns="0" tIns="0" rIns="0" bIns="0" rtlCol="0" anchor="ctr"/>
          <a:lstStyle/>
          <a:p>
            <a:pPr algn="ctr" indent="0" marL="0">
              <a:buNone/>
            </a:pPr>
            <a:r>
              <a:rPr lang="en-US" sz="1600" b="1" dirty="0">
                <a:solidFill>
                  <a:srgbClr val="12122A"/>
                </a:solidFill>
                <a:latin typeface="Georgia" pitchFamily="34" charset="0"/>
                <a:ea typeface="Georgia" pitchFamily="34" charset="-122"/>
                <a:cs typeface="Georgia" pitchFamily="34" charset="-120"/>
              </a:rPr>
              <a:t>02</a:t>
            </a:r>
            <a:endParaRPr lang="en-US" sz="1600" dirty="0"/>
          </a:p>
        </p:txBody>
      </p:sp>
      <p:sp>
        <p:nvSpPr>
          <p:cNvPr id="11" name="Shape 9"/>
          <p:cNvSpPr/>
          <p:nvPr/>
        </p:nvSpPr>
        <p:spPr>
          <a:xfrm>
            <a:off x="960120" y="1819656"/>
            <a:ext cx="7772400" cy="530352"/>
          </a:xfrm>
          <a:prstGeom prst="rect">
            <a:avLst/>
          </a:prstGeom>
          <a:solidFill>
            <a:srgbClr val="1E1E42"/>
          </a:solidFill>
          <a:ln w="9525">
            <a:solidFill>
              <a:srgbClr val="2E2E5A"/>
            </a:solidFill>
            <a:prstDash val="solid"/>
          </a:ln>
          <a:effectLst>
            <a:outerShdw sx="100000" sy="100000" kx="0" ky="0" algn="bl" rotWithShape="0" blurRad="50800" dist="12700" dir="8100000">
              <a:srgbClr val="000000">
                <a:alpha val="7000"/>
              </a:srgbClr>
            </a:outerShdw>
          </a:effectLst>
        </p:spPr>
      </p:sp>
      <p:sp>
        <p:nvSpPr>
          <p:cNvPr id="12" name="Text 10"/>
          <p:cNvSpPr/>
          <p:nvPr/>
        </p:nvSpPr>
        <p:spPr>
          <a:xfrm>
            <a:off x="1078992" y="1819656"/>
            <a:ext cx="7498080" cy="530352"/>
          </a:xfrm>
          <a:prstGeom prst="rect">
            <a:avLst/>
          </a:prstGeom>
          <a:noFill/>
          <a:ln/>
        </p:spPr>
        <p:txBody>
          <a:bodyPr wrap="square" lIns="0" tIns="0" rIns="0" bIns="0" rtlCol="0" anchor="ctr"/>
          <a:lstStyle/>
          <a:p>
            <a:pPr indent="0" marL="0">
              <a:buNone/>
            </a:pPr>
            <a:r>
              <a:rPr lang="en-US" sz="1100" dirty="0">
                <a:solidFill>
                  <a:srgbClr val="FFFFFF"/>
                </a:solidFill>
              </a:rPr>
              <a:t>I understand your platform. L'Oréal runs on BigQuery + Power BI. I know how to optimize DirectQuery against partitioned BQ tables and build Composite models that scale.</a:t>
            </a:r>
            <a:endParaRPr lang="en-US" sz="1100" dirty="0"/>
          </a:p>
        </p:txBody>
      </p:sp>
      <p:sp>
        <p:nvSpPr>
          <p:cNvPr id="13" name="Shape 11"/>
          <p:cNvSpPr/>
          <p:nvPr/>
        </p:nvSpPr>
        <p:spPr>
          <a:xfrm>
            <a:off x="411480" y="2615184"/>
            <a:ext cx="457200" cy="530352"/>
          </a:xfrm>
          <a:prstGeom prst="rect">
            <a:avLst/>
          </a:prstGeom>
          <a:solidFill>
            <a:srgbClr val="C9A84C"/>
          </a:solidFill>
          <a:ln w="12700">
            <a:solidFill>
              <a:srgbClr val="C9A84C"/>
            </a:solidFill>
            <a:prstDash val="solid"/>
          </a:ln>
        </p:spPr>
      </p:sp>
      <p:sp>
        <p:nvSpPr>
          <p:cNvPr id="14" name="Text 12"/>
          <p:cNvSpPr/>
          <p:nvPr/>
        </p:nvSpPr>
        <p:spPr>
          <a:xfrm>
            <a:off x="411480" y="2615184"/>
            <a:ext cx="457200" cy="530352"/>
          </a:xfrm>
          <a:prstGeom prst="rect">
            <a:avLst/>
          </a:prstGeom>
          <a:noFill/>
          <a:ln/>
        </p:spPr>
        <p:txBody>
          <a:bodyPr wrap="square" lIns="0" tIns="0" rIns="0" bIns="0" rtlCol="0" anchor="ctr"/>
          <a:lstStyle/>
          <a:p>
            <a:pPr algn="ctr" indent="0" marL="0">
              <a:buNone/>
            </a:pPr>
            <a:r>
              <a:rPr lang="en-US" sz="1600" b="1" dirty="0">
                <a:solidFill>
                  <a:srgbClr val="12122A"/>
                </a:solidFill>
                <a:latin typeface="Georgia" pitchFamily="34" charset="0"/>
                <a:ea typeface="Georgia" pitchFamily="34" charset="-122"/>
                <a:cs typeface="Georgia" pitchFamily="34" charset="-120"/>
              </a:rPr>
              <a:t>03</a:t>
            </a:r>
            <a:endParaRPr lang="en-US" sz="1600" dirty="0"/>
          </a:p>
        </p:txBody>
      </p:sp>
      <p:sp>
        <p:nvSpPr>
          <p:cNvPr id="15" name="Shape 13"/>
          <p:cNvSpPr/>
          <p:nvPr/>
        </p:nvSpPr>
        <p:spPr>
          <a:xfrm>
            <a:off x="960120" y="2615184"/>
            <a:ext cx="7772400" cy="530352"/>
          </a:xfrm>
          <a:prstGeom prst="rect">
            <a:avLst/>
          </a:prstGeom>
          <a:solidFill>
            <a:srgbClr val="1E1E42"/>
          </a:solidFill>
          <a:ln w="9525">
            <a:solidFill>
              <a:srgbClr val="2E2E5A"/>
            </a:solidFill>
            <a:prstDash val="solid"/>
          </a:ln>
          <a:effectLst>
            <a:outerShdw sx="100000" sy="100000" kx="0" ky="0" algn="bl" rotWithShape="0" blurRad="50800" dist="12700" dir="8100000">
              <a:srgbClr val="000000">
                <a:alpha val="7000"/>
              </a:srgbClr>
            </a:outerShdw>
          </a:effectLst>
        </p:spPr>
      </p:sp>
      <p:sp>
        <p:nvSpPr>
          <p:cNvPr id="16" name="Text 14"/>
          <p:cNvSpPr/>
          <p:nvPr/>
        </p:nvSpPr>
        <p:spPr>
          <a:xfrm>
            <a:off x="1078992" y="2615184"/>
            <a:ext cx="7498080" cy="530352"/>
          </a:xfrm>
          <a:prstGeom prst="rect">
            <a:avLst/>
          </a:prstGeom>
          <a:noFill/>
          <a:ln/>
        </p:spPr>
        <p:txBody>
          <a:bodyPr wrap="square" lIns="0" tIns="0" rIns="0" bIns="0" rtlCol="0" anchor="ctr"/>
          <a:lstStyle/>
          <a:p>
            <a:pPr indent="0" marL="0">
              <a:buNone/>
            </a:pPr>
            <a:r>
              <a:rPr lang="en-US" sz="1100" dirty="0">
                <a:solidFill>
                  <a:srgbClr val="FFFFFF"/>
                </a:solidFill>
              </a:rPr>
              <a:t>I'm the LATAM voice with global standards. I can translate global governance policies into regionally relevant programs — in Spanish, at scale.</a:t>
            </a:r>
            <a:endParaRPr lang="en-US" sz="1100" dirty="0"/>
          </a:p>
        </p:txBody>
      </p:sp>
      <p:sp>
        <p:nvSpPr>
          <p:cNvPr id="17" name="Shape 15"/>
          <p:cNvSpPr/>
          <p:nvPr/>
        </p:nvSpPr>
        <p:spPr>
          <a:xfrm>
            <a:off x="411480" y="3410712"/>
            <a:ext cx="457200" cy="530352"/>
          </a:xfrm>
          <a:prstGeom prst="rect">
            <a:avLst/>
          </a:prstGeom>
          <a:solidFill>
            <a:srgbClr val="C9A84C"/>
          </a:solidFill>
          <a:ln w="12700">
            <a:solidFill>
              <a:srgbClr val="C9A84C"/>
            </a:solidFill>
            <a:prstDash val="solid"/>
          </a:ln>
        </p:spPr>
      </p:sp>
      <p:sp>
        <p:nvSpPr>
          <p:cNvPr id="18" name="Text 16"/>
          <p:cNvSpPr/>
          <p:nvPr/>
        </p:nvSpPr>
        <p:spPr>
          <a:xfrm>
            <a:off x="411480" y="3410712"/>
            <a:ext cx="457200" cy="530352"/>
          </a:xfrm>
          <a:prstGeom prst="rect">
            <a:avLst/>
          </a:prstGeom>
          <a:noFill/>
          <a:ln/>
        </p:spPr>
        <p:txBody>
          <a:bodyPr wrap="square" lIns="0" tIns="0" rIns="0" bIns="0" rtlCol="0" anchor="ctr"/>
          <a:lstStyle/>
          <a:p>
            <a:pPr algn="ctr" indent="0" marL="0">
              <a:buNone/>
            </a:pPr>
            <a:r>
              <a:rPr lang="en-US" sz="1600" b="1" dirty="0">
                <a:solidFill>
                  <a:srgbClr val="12122A"/>
                </a:solidFill>
                <a:latin typeface="Georgia" pitchFamily="34" charset="0"/>
                <a:ea typeface="Georgia" pitchFamily="34" charset="-122"/>
                <a:cs typeface="Georgia" pitchFamily="34" charset="-120"/>
              </a:rPr>
              <a:t>04</a:t>
            </a:r>
            <a:endParaRPr lang="en-US" sz="1600" dirty="0"/>
          </a:p>
        </p:txBody>
      </p:sp>
      <p:sp>
        <p:nvSpPr>
          <p:cNvPr id="19" name="Shape 17"/>
          <p:cNvSpPr/>
          <p:nvPr/>
        </p:nvSpPr>
        <p:spPr>
          <a:xfrm>
            <a:off x="960120" y="3410712"/>
            <a:ext cx="7772400" cy="530352"/>
          </a:xfrm>
          <a:prstGeom prst="rect">
            <a:avLst/>
          </a:prstGeom>
          <a:solidFill>
            <a:srgbClr val="1E1E42"/>
          </a:solidFill>
          <a:ln w="9525">
            <a:solidFill>
              <a:srgbClr val="2E2E5A"/>
            </a:solidFill>
            <a:prstDash val="solid"/>
          </a:ln>
          <a:effectLst>
            <a:outerShdw sx="100000" sy="100000" kx="0" ky="0" algn="bl" rotWithShape="0" blurRad="50800" dist="12700" dir="8100000">
              <a:srgbClr val="000000">
                <a:alpha val="7000"/>
              </a:srgbClr>
            </a:outerShdw>
          </a:effectLst>
        </p:spPr>
      </p:sp>
      <p:sp>
        <p:nvSpPr>
          <p:cNvPr id="20" name="Text 18"/>
          <p:cNvSpPr/>
          <p:nvPr/>
        </p:nvSpPr>
        <p:spPr>
          <a:xfrm>
            <a:off x="1078992" y="3410712"/>
            <a:ext cx="7498080" cy="530352"/>
          </a:xfrm>
          <a:prstGeom prst="rect">
            <a:avLst/>
          </a:prstGeom>
          <a:noFill/>
          <a:ln/>
        </p:spPr>
        <p:txBody>
          <a:bodyPr wrap="square" lIns="0" tIns="0" rIns="0" bIns="0" rtlCol="0" anchor="ctr"/>
          <a:lstStyle/>
          <a:p>
            <a:pPr indent="0" marL="0">
              <a:buNone/>
            </a:pPr>
            <a:r>
              <a:rPr lang="en-US" sz="1100" dirty="0">
                <a:solidFill>
                  <a:srgbClr val="FFFFFF"/>
                </a:solidFill>
              </a:rPr>
              <a:t>I deliver fast. In 90 days I will have completed a full governance audit, proposed a framework, certified your most critical shared datasets, and launched a champion network.</a:t>
            </a:r>
            <a:endParaRPr lang="en-US" sz="1100" dirty="0"/>
          </a:p>
        </p:txBody>
      </p:sp>
      <p:sp>
        <p:nvSpPr>
          <p:cNvPr id="21" name="Shape 19"/>
          <p:cNvSpPr/>
          <p:nvPr/>
        </p:nvSpPr>
        <p:spPr>
          <a:xfrm>
            <a:off x="411480" y="4206240"/>
            <a:ext cx="457200" cy="530352"/>
          </a:xfrm>
          <a:prstGeom prst="rect">
            <a:avLst/>
          </a:prstGeom>
          <a:solidFill>
            <a:srgbClr val="C9A84C"/>
          </a:solidFill>
          <a:ln w="12700">
            <a:solidFill>
              <a:srgbClr val="C9A84C"/>
            </a:solidFill>
            <a:prstDash val="solid"/>
          </a:ln>
        </p:spPr>
      </p:sp>
      <p:sp>
        <p:nvSpPr>
          <p:cNvPr id="22" name="Text 20"/>
          <p:cNvSpPr/>
          <p:nvPr/>
        </p:nvSpPr>
        <p:spPr>
          <a:xfrm>
            <a:off x="411480" y="4206240"/>
            <a:ext cx="457200" cy="530352"/>
          </a:xfrm>
          <a:prstGeom prst="rect">
            <a:avLst/>
          </a:prstGeom>
          <a:noFill/>
          <a:ln/>
        </p:spPr>
        <p:txBody>
          <a:bodyPr wrap="square" lIns="0" tIns="0" rIns="0" bIns="0" rtlCol="0" anchor="ctr"/>
          <a:lstStyle/>
          <a:p>
            <a:pPr algn="ctr" indent="0" marL="0">
              <a:buNone/>
            </a:pPr>
            <a:r>
              <a:rPr lang="en-US" sz="1600" b="1" dirty="0">
                <a:solidFill>
                  <a:srgbClr val="12122A"/>
                </a:solidFill>
                <a:latin typeface="Georgia" pitchFamily="34" charset="0"/>
                <a:ea typeface="Georgia" pitchFamily="34" charset="-122"/>
                <a:cs typeface="Georgia" pitchFamily="34" charset="-120"/>
              </a:rPr>
              <a:t>05</a:t>
            </a:r>
            <a:endParaRPr lang="en-US" sz="1600" dirty="0"/>
          </a:p>
        </p:txBody>
      </p:sp>
      <p:sp>
        <p:nvSpPr>
          <p:cNvPr id="23" name="Shape 21"/>
          <p:cNvSpPr/>
          <p:nvPr/>
        </p:nvSpPr>
        <p:spPr>
          <a:xfrm>
            <a:off x="960120" y="4206240"/>
            <a:ext cx="7772400" cy="530352"/>
          </a:xfrm>
          <a:prstGeom prst="rect">
            <a:avLst/>
          </a:prstGeom>
          <a:solidFill>
            <a:srgbClr val="1E1E42"/>
          </a:solidFill>
          <a:ln w="9525">
            <a:solidFill>
              <a:srgbClr val="2E2E5A"/>
            </a:solidFill>
            <a:prstDash val="solid"/>
          </a:ln>
          <a:effectLst>
            <a:outerShdw sx="100000" sy="100000" kx="0" ky="0" algn="bl" rotWithShape="0" blurRad="50800" dist="12700" dir="8100000">
              <a:srgbClr val="000000">
                <a:alpha val="7000"/>
              </a:srgbClr>
            </a:outerShdw>
          </a:effectLst>
        </p:spPr>
      </p:sp>
      <p:sp>
        <p:nvSpPr>
          <p:cNvPr id="24" name="Text 22"/>
          <p:cNvSpPr/>
          <p:nvPr/>
        </p:nvSpPr>
        <p:spPr>
          <a:xfrm>
            <a:off x="1078992" y="4206240"/>
            <a:ext cx="7498080" cy="530352"/>
          </a:xfrm>
          <a:prstGeom prst="rect">
            <a:avLst/>
          </a:prstGeom>
          <a:noFill/>
          <a:ln/>
        </p:spPr>
        <p:txBody>
          <a:bodyPr wrap="square" lIns="0" tIns="0" rIns="0" bIns="0" rtlCol="0" anchor="ctr"/>
          <a:lstStyle/>
          <a:p>
            <a:pPr indent="0" marL="0">
              <a:buNone/>
            </a:pPr>
            <a:r>
              <a:rPr lang="en-US" sz="1100" dirty="0">
                <a:solidFill>
                  <a:srgbClr val="FFFFFF"/>
                </a:solidFill>
              </a:rPr>
              <a:t>I use AI as a multiplier. I don't just talk about AI tools — I use them daily to write DAX faster, document governance policies, and debug issues. That's a force multiplier for the whole team.</a:t>
            </a:r>
            <a:endParaRPr lang="en-US" sz="1100" dirty="0"/>
          </a:p>
        </p:txBody>
      </p:sp>
      <p:sp>
        <p:nvSpPr>
          <p:cNvPr id="25" name="Shape 23"/>
          <p:cNvSpPr/>
          <p:nvPr/>
        </p:nvSpPr>
        <p:spPr>
          <a:xfrm>
            <a:off x="411480" y="4846320"/>
            <a:ext cx="8321040" cy="0"/>
          </a:xfrm>
          <a:prstGeom prst="line">
            <a:avLst/>
          </a:prstGeom>
          <a:noFill/>
          <a:ln w="9525">
            <a:solidFill>
              <a:srgbClr val="C9A84C"/>
            </a:solidFill>
            <a:prstDash val="solid"/>
          </a:ln>
        </p:spPr>
      </p:sp>
      <p:sp>
        <p:nvSpPr>
          <p:cNvPr id="26" name="Text 24"/>
          <p:cNvSpPr/>
          <p:nvPr/>
        </p:nvSpPr>
        <p:spPr>
          <a:xfrm>
            <a:off x="411480" y="4892040"/>
            <a:ext cx="8321040" cy="201168"/>
          </a:xfrm>
          <a:prstGeom prst="rect">
            <a:avLst/>
          </a:prstGeom>
          <a:noFill/>
          <a:ln/>
        </p:spPr>
        <p:txBody>
          <a:bodyPr wrap="square" lIns="0" tIns="0" rIns="0" bIns="0" rtlCol="0" anchor="ctr"/>
          <a:lstStyle/>
          <a:p>
            <a:pPr algn="ctr" indent="0" marL="0">
              <a:buNone/>
            </a:pPr>
            <a:r>
              <a:rPr lang="en-US" sz="1100" i="1" dirty="0">
                <a:solidFill>
                  <a:srgbClr val="E8D5A3"/>
                </a:solidFill>
              </a:rPr>
              <a:t>Bonne chance, Elaine. Vous êtes prête.  ✦  Good luck — you've got this.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L'Oréal Interview Prep – Power BI Strategy Architect</dc:title>
  <dc:subject>PptxGenJS Presentation</dc:subject>
  <dc:creator>PptxGenJS</dc:creator>
  <cp:lastModifiedBy>PptxGenJS</cp:lastModifiedBy>
  <cp:revision>1</cp:revision>
  <dcterms:created xsi:type="dcterms:W3CDTF">2026-05-26T22:38:17Z</dcterms:created>
  <dcterms:modified xsi:type="dcterms:W3CDTF">2026-05-26T22:38:17Z</dcterms:modified>
</cp:coreProperties>
</file>