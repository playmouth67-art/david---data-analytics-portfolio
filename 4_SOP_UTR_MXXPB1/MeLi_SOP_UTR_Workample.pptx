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HC Peak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Lunes</c:v>
                  </c:pt>
                  <c:pt idx="1">
                    <c:v>Martes</c:v>
                  </c:pt>
                  <c:pt idx="2">
                    <c:v>Miércoles</c:v>
                  </c:pt>
                  <c:pt idx="3">
                    <c:v>Jueves</c:v>
                  </c:pt>
                  <c:pt idx="4">
                    <c:v>Viernes</c:v>
                  </c:pt>
                  <c:pt idx="5">
                    <c:v>Sábado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37</c:v>
                </c:pt>
                <c:pt idx="2">
                  <c:v>36</c:v>
                </c:pt>
                <c:pt idx="3">
                  <c:v>37</c:v>
                </c:pt>
                <c:pt idx="4">
                  <c:v>37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502920" cy="49789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Workample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S&amp;OP UTR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de Headcount · Optimización de Jornadas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12 Semanas · SQL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840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E600"/>
                </a:solidFill>
              </a:rPr>
              <a:t>Site: MXXPB1  ·  Semana 27  ·  Zona Metropolitana CDMX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MercadoLibre Envíos  ·  Analista Sr S&amp;OP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822960"/>
            <a:ext cx="1645920" cy="1645920"/>
          </a:xfrm>
          <a:prstGeom prst="ellipse">
            <a:avLst/>
          </a:prstGeom>
          <a:solidFill>
            <a:srgbClr val="FFE600">
              <a:alpha val="15000"/>
            </a:srgbClr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2926080"/>
            <a:ext cx="1005840" cy="1005840"/>
          </a:xfrm>
          <a:prstGeom prst="ellipse">
            <a:avLst/>
          </a:prstGeom>
          <a:solidFill>
            <a:srgbClr val="FFE600">
              <a:alpha val="25000"/>
            </a:srgbClr>
          </a:solidFill>
          <a:ln w="1270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6642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280160"/>
            <a:ext cx="548640" cy="548640"/>
          </a:xfrm>
          <a:prstGeom prst="ellipse">
            <a:avLst/>
          </a:prstGeom>
          <a:solidFill>
            <a:srgbClr val="00B2A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1261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Hora × Hora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66420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headcount necesario por posición y hora usando productividades y curvas de procesamiento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16642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2" name="Shape 10"/>
          <p:cNvSpPr/>
          <p:nvPr/>
        </p:nvSpPr>
        <p:spPr>
          <a:xfrm>
            <a:off x="7818120" y="1280160"/>
            <a:ext cx="548640" cy="54864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1261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Jornadas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66420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 mezcla óptima de FT 6x1, FT 5x2 y Diaristas para cubrir la demanda al menor costo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39319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73152" cy="1664208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12 Semanas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5387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+ Flex para gestionar volatilidad de ±10% sin impactar engagement ni costos de rotación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39319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71800"/>
            <a:ext cx="73152" cy="1664208"/>
          </a:xfrm>
          <a:prstGeom prst="rect">
            <a:avLst/>
          </a:prstGeom>
          <a:solidFill>
            <a:srgbClr val="E6891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18120" y="3154680"/>
            <a:ext cx="548640" cy="548640"/>
          </a:xfrm>
          <a:prstGeom prst="ellipse">
            <a:avLst/>
          </a:prstGeom>
          <a:solidFill>
            <a:srgbClr val="E6891A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64608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5387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 identificar países con ventas &gt; $500 en 2024 usando JOIN, GROUP BY y HAVING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 Metodología — HC Hora × Hora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 necesario =  TECHO ( Volumen_diario  ×  Curva[día][hora]  ×  Split  /  Productividad 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2651760" cy="26060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94560"/>
            <a:ext cx="2651760" cy="640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Diario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semanal por tipo de paquete.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= Conveyable (chicos/medianos)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= V3+V4 (grandes/pesados)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194560"/>
            <a:ext cx="2651760" cy="26060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194560"/>
            <a:ext cx="2651760" cy="640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Procesamiento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volumen diario que llega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proceso en cada hora.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 del site.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2651760" cy="26060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194560"/>
            <a:ext cx="2651760" cy="64008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7889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Paquetes/hora que procesa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por posición.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Sorter Conv = 300 pkg/hr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Insight: El peak no lo determina el volumen total del día — sino la concentración del volumen en la hora pico.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 Resultados — Peak HC por Día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26187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261872" cy="640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Lunes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HC peak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2A9"/>
                </a:solidFill>
              </a:rPr>
              <a:t>15:00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Vol: 18,400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37360" y="1097280"/>
            <a:ext cx="1261872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37360" y="1097280"/>
            <a:ext cx="1261872" cy="640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00"/>
                </a:solidFill>
              </a:rPr>
              <a:t>Martes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737360" y="2148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HC peak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3736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</a:rPr>
              <a:t>14:00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37360" y="2651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Vol: 13,987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54680" y="1097280"/>
            <a:ext cx="126187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097280"/>
            <a:ext cx="1261872" cy="640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Miércoles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154680" y="2148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HC peak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5468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2A9"/>
                </a:solidFill>
              </a:rPr>
              <a:t>14:00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54680" y="2651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Vol: 12,869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1261872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97280"/>
            <a:ext cx="1261872" cy="640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00"/>
                </a:solidFill>
              </a:rPr>
              <a:t>Jueves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15087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572000" y="2148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HC peak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</a:rPr>
              <a:t>14:00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2651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Vol: 11,380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89320" y="1097280"/>
            <a:ext cx="1261872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1097280"/>
            <a:ext cx="1261872" cy="640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00"/>
                </a:solidFill>
              </a:rPr>
              <a:t>Viernes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15087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989320" y="2148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HC peak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8932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</a:rPr>
              <a:t>15:00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89320" y="2651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Vol: 10,557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06640" y="1097280"/>
            <a:ext cx="126187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06640" y="1097280"/>
            <a:ext cx="1261872" cy="640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Sábado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15087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7406640" y="2148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HC peak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0664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2A9"/>
                </a:solidFill>
              </a:rPr>
              <a:t>14:00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06640" y="2651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Vol: 4,442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365760" y="3246120"/>
          <a:ext cx="84124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  Optimización de Jornadas — Solución Óptima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640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6128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76753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FT 6x1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(Lun–Sáb)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2011680" cy="640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6128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11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76753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FT 5x2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(Lun–Vie)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2011680" cy="64008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6128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15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76753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Diaristas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(días peak)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105156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51560"/>
            <a:ext cx="2011680" cy="640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6128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$143,600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76753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Costo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Semanal Total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Cobertura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16352"/>
          <a:ext cx="5212080" cy="214884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731520"/>
                <a:gridCol w="731520"/>
                <a:gridCol w="822960"/>
                <a:gridCol w="640080"/>
                <a:gridCol w="457200"/>
              </a:tblGrid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Día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Necesario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FT 6x1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FT 5x2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Diaristas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65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89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65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Miércoles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89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65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Jueves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89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65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Viernes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89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65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Sábado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65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715000" y="2468880"/>
            <a:ext cx="3154680" cy="25146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15000" y="2468880"/>
            <a:ext cx="3154680" cy="640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2542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Lógica de la Solución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52160" y="29260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FT 6x1 (día libre = Domingo)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Cubre los 6 días activos. Dimensionado al
peak del Sábado (22 HC).
</a:t>
            </a:r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FT 5x2 (libres = Dom + Sáb)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Cubre Lunes–Viernes. Combinado con FT
6x1: base de 33 HC diarios.
</a:t>
            </a:r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Diaristas → solo días peak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Cubren el delta en Mar/Mié/Jue/Vie donde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 demanda supera 33 HC.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 Estrategia 12 Semanas + KPI de Seguimiento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Modelo Base Estable + Capa Flex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502920" cy="50292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27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FT base al percentil P60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Calcular HC requerido para las 12 semanas del forecast. Dimensionar el FT al P60 — cubre el 60% de escenarios sin Diaristas. No al máximo (desperdicio) ni al promedio (riesgo).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502920" cy="502920"/>
          </a:xfrm>
          <a:prstGeom prst="ellipse">
            <a:avLst/>
          </a:prstGeom>
          <a:solidFill>
            <a:srgbClr val="00B2A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Diaristas como capa flex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Todo HC por encima del FT base se cubre con Diaristas. Máximo 20% del total. Se activan/desactivan semanalmente sin impacto de rotación.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794760"/>
            <a:ext cx="502920" cy="50292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13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Revisión cada 4 semanas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069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El plan FT solo se ajusta si el forecast se desvía &gt;15% por 2 semanas consecutivas. Semana a semana solo se ajustan los Diaristas.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3108960" cy="3931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051560"/>
            <a:ext cx="3108960" cy="640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143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</a:rPr>
              <a:t>KPI: Staffing Efficiency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1572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 = HC Real / HC Planeado × 100%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2057400"/>
            <a:ext cx="777240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057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&gt; 115%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Overstaffed — revisar forecast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2587752"/>
            <a:ext cx="777240" cy="38404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25877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105–115%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20840" y="2587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Alerta — costo innecesario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97880" y="3118104"/>
            <a:ext cx="777240" cy="384048"/>
          </a:xfrm>
          <a:prstGeom prst="rect">
            <a:avLst/>
          </a:prstGeom>
          <a:solidFill>
            <a:srgbClr val="6BCB77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311810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95–105%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20840" y="3118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 Zona óptima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97880" y="3648456"/>
            <a:ext cx="777240" cy="38404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1" name="Text 29"/>
          <p:cNvSpPr/>
          <p:nvPr/>
        </p:nvSpPr>
        <p:spPr>
          <a:xfrm>
            <a:off x="5897880" y="36484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90–95%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20840" y="36484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Alerta — monitorear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4178808"/>
            <a:ext cx="777240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4178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&lt; 90%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20840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Understaffed — backlog risk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4526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Frecuencia: diaria por turno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Reporte: semanal al Director de Site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 SQL — Ventas por País &gt; $500 en 2024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49240" cy="38862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(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'Juan Pérez', 'México'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UNION ALL ...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101, 1, DATE(...), 250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 ...
)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c.pais,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(p.total) AS total_ventas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 p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c 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p.id_cliente = c.id_cliente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p.fecha BETWEEN '2024-01-01' AND '2024-12-31'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c.pais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(p.total) &gt;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total_ventas DESC;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Resultado — BigQuery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389888"/>
          <a:ext cx="2926080" cy="109728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país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total_ventas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México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</a:rPr>
                        <a:t>$700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Colombia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</a:rPr>
                        <a:t>$600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España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</a:rPr>
                        <a:t>$550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2651760"/>
            <a:ext cx="658368" cy="34747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2651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01968" y="2651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Une pedidos con clientes para traer el país de cada pedido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97880" y="3127248"/>
            <a:ext cx="658368" cy="34747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12724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01968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Filtra filas individuales — solo pedidos de 2024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97880" y="3602736"/>
            <a:ext cx="658368" cy="34747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3602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01968" y="36027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Agrupa resultados por país para sumar ventas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97880" y="4078224"/>
            <a:ext cx="658368" cy="34747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Text 15"/>
          <p:cNvSpPr/>
          <p:nvPr/>
        </p:nvSpPr>
        <p:spPr>
          <a:xfrm>
            <a:off x="5897880" y="40782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01968" y="40782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Filtra grupos (≠ WHERE) — países con suma &gt; $500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 Clave del Ejercicio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502920" cy="502920"/>
          </a:xfrm>
          <a:prstGeom prst="ellipse">
            <a:avLst/>
          </a:prstGeom>
          <a:solidFill>
            <a:srgbClr val="00B2A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&gt; Volumen Total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Lunes tiene 18,400 paquetes pero solo necesita 33 HC. El Martes con 13,987 necesita 37 HC. El peak lo determina la concentración del volumen en la hora pico — no el volumen total del día.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7528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sorter siempre opera ambos carriles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split 85%/15% es un parámetro empírico del sitio. Aunque el día tenga volumen NC = 0, el carril manual siempre procesa ~15% del flujo total. Water Spider NC nunca baja de 9 personas con volumen activo.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91840"/>
            <a:ext cx="502920" cy="50292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3101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libre = cobertura 100% sin costo extra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7947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el día libre de todos los FT al Domingo (volumen = 0) convierte la disponibilidad teórica 6/7 en cobertura real del 100% los 6 días activos. Clave para minimizar Diaristas.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6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91840"/>
            <a:ext cx="502920" cy="502920"/>
          </a:xfrm>
          <a:prstGeom prst="ellipse">
            <a:avLst/>
          </a:prstGeom>
          <a:solidFill>
            <a:srgbClr val="E6891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7528" y="33101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plantilla &gt; tight staffing semanal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947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FT cada semana genera costos de rotación y bajo engagement. El modelo Base P60 + Flex Diaristas absorbe la volatilidad de ±10% sin contratar ni dar de baja FT cada semana.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502920" cy="49789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E600"/>
                </a:solidFill>
              </a:rPr>
              <a:t>Herramientas utilizadas: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(math, loops, dict)  ·  BigQuery (CTE, JOIN, GROUP BY, HAVING)  ·  Claude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E600"/>
                </a:solidFill>
              </a:rPr>
              <a:t>Site MXXPB1  ·  Semana 27  ·  Zona Metropolitana CDMX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MercadoLibre Envíos  ·  S&amp;OP UTR Workample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0" y="822960"/>
            <a:ext cx="1645920" cy="1645920"/>
          </a:xfrm>
          <a:prstGeom prst="ellipse">
            <a:avLst/>
          </a:prstGeom>
          <a:solidFill>
            <a:srgbClr val="FFE600">
              <a:alpha val="15000"/>
            </a:srgbClr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2743200"/>
            <a:ext cx="914400" cy="914400"/>
          </a:xfrm>
          <a:prstGeom prst="ellipse">
            <a:avLst/>
          </a:prstGeom>
          <a:solidFill>
            <a:srgbClr val="FFE600">
              <a:alpha val="25000"/>
            </a:srgbClr>
          </a:solidFill>
          <a:ln w="1270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S&amp;OP UTR Workample — MXXPB1</dc:title>
  <dc:subject>PptxGenJS Presentation</dc:subject>
  <dc:creator>PptxGenJS</dc:creator>
  <cp:lastModifiedBy>PptxGenJS</cp:lastModifiedBy>
  <cp:revision>1</cp:revision>
  <dcterms:created xsi:type="dcterms:W3CDTF">2026-06-03T06:18:37Z</dcterms:created>
  <dcterms:modified xsi:type="dcterms:W3CDTF">2026-06-03T06:18:37Z</dcterms:modified>
</cp:coreProperties>
</file>