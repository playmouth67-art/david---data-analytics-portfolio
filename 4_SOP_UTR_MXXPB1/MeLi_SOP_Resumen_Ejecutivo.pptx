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502920" cy="4978908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005840"/>
            <a:ext cx="2377440" cy="347472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005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RESUMEN EJECUTIVO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Caso Práctico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S&amp;OP UTR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777240" y="3337560"/>
            <a:ext cx="2606040" cy="347472"/>
          </a:xfrm>
          <a:prstGeom prst="rect">
            <a:avLst/>
          </a:prstGeom>
          <a:solidFill>
            <a:srgbClr val="00B2A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3375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1.1  HC Hora × Hora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566160" y="3337560"/>
            <a:ext cx="2606040" cy="347472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33375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1.2  Optimización Jornadas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355080" y="3337560"/>
            <a:ext cx="2606040" cy="347472"/>
          </a:xfrm>
          <a:prstGeom prst="rect">
            <a:avLst/>
          </a:prstGeom>
          <a:solidFill>
            <a:srgbClr val="00A650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33375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1.3  Estrategia 12 Semanas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77240" y="3749040"/>
            <a:ext cx="1645920" cy="329184"/>
          </a:xfrm>
          <a:prstGeom prst="rect">
            <a:avLst/>
          </a:prstGeom>
          <a:solidFill>
            <a:srgbClr val="E6891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7490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  SQL Analytics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77240" y="422452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E600"/>
                </a:solidFill>
              </a:rPr>
              <a:t>Site MXXPB1  ·  Semana 27  ·  Zona Metropolitana CDMX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828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MercadoLibre Envíos  ·  Analista Sr S&amp;OP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40880" y="731520"/>
            <a:ext cx="1828800" cy="1828800"/>
          </a:xfrm>
          <a:prstGeom prst="ellipse">
            <a:avLst/>
          </a:prstGeom>
          <a:solidFill>
            <a:srgbClr val="FFE600">
              <a:alpha val="13000"/>
            </a:srgbClr>
          </a:solidFill>
          <a:ln w="19050">
            <a:solidFill>
              <a:srgbClr val="FFE6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0" y="4160520"/>
            <a:ext cx="822960" cy="822960"/>
          </a:xfrm>
          <a:prstGeom prst="ellipse">
            <a:avLst/>
          </a:prstGeom>
          <a:solidFill>
            <a:srgbClr val="FFE600">
              <a:alpha val="22000"/>
            </a:srgbClr>
          </a:solidFill>
          <a:ln w="12700">
            <a:solidFill>
              <a:srgbClr val="FFE6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Resultados Clave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0" y="914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E600"/>
                </a:solidFill>
              </a:rPr>
              <a:t>Site MXXPB1 · Semana 27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301752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3017520" cy="64008"/>
          </a:xfrm>
          <a:prstGeom prst="rect">
            <a:avLst/>
          </a:prstGeom>
          <a:solidFill>
            <a:srgbClr val="00B2A9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241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HC Peak por Día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444752"/>
            <a:ext cx="868680" cy="107899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1444752"/>
            <a:ext cx="868680" cy="45720"/>
          </a:xfrm>
          <a:prstGeom prst="rect">
            <a:avLst/>
          </a:prstGeom>
          <a:solidFill>
            <a:srgbClr val="00B2A9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49961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Lun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173736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308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0040" y="224942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HC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298448" y="1444752"/>
            <a:ext cx="868680" cy="107899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1298448" y="1444752"/>
            <a:ext cx="868680" cy="4572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15" name="Text 13"/>
          <p:cNvSpPr/>
          <p:nvPr/>
        </p:nvSpPr>
        <p:spPr>
          <a:xfrm>
            <a:off x="1298448" y="149961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E600"/>
                </a:solidFill>
              </a:rPr>
              <a:t>Mar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98448" y="173736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E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37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298448" y="224942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HC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276856" y="1444752"/>
            <a:ext cx="868680" cy="107899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9" name="Shape 17"/>
          <p:cNvSpPr/>
          <p:nvPr/>
        </p:nvSpPr>
        <p:spPr>
          <a:xfrm>
            <a:off x="2276856" y="1444752"/>
            <a:ext cx="868680" cy="45720"/>
          </a:xfrm>
          <a:prstGeom prst="rect">
            <a:avLst/>
          </a:prstGeom>
          <a:solidFill>
            <a:srgbClr val="00B2A9"/>
          </a:solidFill>
          <a:ln/>
        </p:spPr>
      </p:sp>
      <p:sp>
        <p:nvSpPr>
          <p:cNvPr id="20" name="Text 18"/>
          <p:cNvSpPr/>
          <p:nvPr/>
        </p:nvSpPr>
        <p:spPr>
          <a:xfrm>
            <a:off x="2276856" y="149961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Mié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76856" y="173736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308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2276856" y="224942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HC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20040" y="2679192"/>
            <a:ext cx="868680" cy="107899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" y="2679192"/>
            <a:ext cx="868680" cy="4572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27340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E600"/>
                </a:solidFill>
              </a:rPr>
              <a:t>Jue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0040" y="297180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E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37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20040" y="348386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HC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298448" y="2679192"/>
            <a:ext cx="868680" cy="107899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9" name="Shape 27"/>
          <p:cNvSpPr/>
          <p:nvPr/>
        </p:nvSpPr>
        <p:spPr>
          <a:xfrm>
            <a:off x="1298448" y="2679192"/>
            <a:ext cx="868680" cy="4572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0" name="Text 28"/>
          <p:cNvSpPr/>
          <p:nvPr/>
        </p:nvSpPr>
        <p:spPr>
          <a:xfrm>
            <a:off x="1298448" y="27340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E600"/>
                </a:solidFill>
              </a:rPr>
              <a:t>Vie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298448" y="297180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E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37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1298448" y="348386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HC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276856" y="2679192"/>
            <a:ext cx="868680" cy="107899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4" name="Shape 32"/>
          <p:cNvSpPr/>
          <p:nvPr/>
        </p:nvSpPr>
        <p:spPr>
          <a:xfrm>
            <a:off x="2276856" y="2679192"/>
            <a:ext cx="868680" cy="45720"/>
          </a:xfrm>
          <a:prstGeom prst="rect">
            <a:avLst/>
          </a:prstGeom>
          <a:solidFill>
            <a:srgbClr val="00B2A9"/>
          </a:solidFill>
          <a:ln/>
        </p:spPr>
      </p:sp>
      <p:sp>
        <p:nvSpPr>
          <p:cNvPr id="35" name="Text 33"/>
          <p:cNvSpPr/>
          <p:nvPr/>
        </p:nvSpPr>
        <p:spPr>
          <a:xfrm>
            <a:off x="2276856" y="27340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Sáb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276856" y="297180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308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2276856" y="348386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HC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20040" y="4251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37 HC (Mar / Jue / Vie)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20040" y="4526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Lunes tiene +31% más volumen que Martes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necesita 11% menos HC → concentración &gt; total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429000" y="960120"/>
            <a:ext cx="256032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429000" y="960120"/>
            <a:ext cx="2560320" cy="64008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42" name="Text 40"/>
          <p:cNvSpPr/>
          <p:nvPr/>
        </p:nvSpPr>
        <p:spPr>
          <a:xfrm>
            <a:off x="3566160" y="10241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Mix Óptimo de Jornadas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566160" y="1444752"/>
            <a:ext cx="2286000" cy="86868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44" name="Shape 42"/>
          <p:cNvSpPr/>
          <p:nvPr/>
        </p:nvSpPr>
        <p:spPr>
          <a:xfrm>
            <a:off x="3566160" y="1444752"/>
            <a:ext cx="54864" cy="86868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45" name="Text 43"/>
          <p:cNvSpPr/>
          <p:nvPr/>
        </p:nvSpPr>
        <p:spPr>
          <a:xfrm>
            <a:off x="3703320" y="1444752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308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</a:t>
            </a:r>
            <a:endParaRPr lang="en-US" sz="3400" dirty="0"/>
          </a:p>
        </p:txBody>
      </p:sp>
      <p:sp>
        <p:nvSpPr>
          <p:cNvPr id="46" name="Text 44"/>
          <p:cNvSpPr/>
          <p:nvPr/>
        </p:nvSpPr>
        <p:spPr>
          <a:xfrm>
            <a:off x="4407408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FT 6x1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407408" y="188366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Día libre: Domingo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566160" y="2450592"/>
            <a:ext cx="2286000" cy="86868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49" name="Shape 47"/>
          <p:cNvSpPr/>
          <p:nvPr/>
        </p:nvSpPr>
        <p:spPr>
          <a:xfrm>
            <a:off x="3566160" y="2450592"/>
            <a:ext cx="54864" cy="868680"/>
          </a:xfrm>
          <a:prstGeom prst="rect">
            <a:avLst/>
          </a:prstGeom>
          <a:solidFill>
            <a:srgbClr val="00B2A9"/>
          </a:solidFill>
          <a:ln/>
        </p:spPr>
      </p:sp>
      <p:sp>
        <p:nvSpPr>
          <p:cNvPr id="50" name="Text 48"/>
          <p:cNvSpPr/>
          <p:nvPr/>
        </p:nvSpPr>
        <p:spPr>
          <a:xfrm>
            <a:off x="3703320" y="2450592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2A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3400" dirty="0"/>
          </a:p>
        </p:txBody>
      </p:sp>
      <p:sp>
        <p:nvSpPr>
          <p:cNvPr id="51" name="Text 49"/>
          <p:cNvSpPr/>
          <p:nvPr/>
        </p:nvSpPr>
        <p:spPr>
          <a:xfrm>
            <a:off x="4407408" y="2560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FT 5x2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407408" y="28895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Libres: Dom + Sáb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566160" y="3456432"/>
            <a:ext cx="2286000" cy="86868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54" name="Shape 52"/>
          <p:cNvSpPr/>
          <p:nvPr/>
        </p:nvSpPr>
        <p:spPr>
          <a:xfrm>
            <a:off x="3566160" y="3456432"/>
            <a:ext cx="54864" cy="868680"/>
          </a:xfrm>
          <a:prstGeom prst="rect">
            <a:avLst/>
          </a:prstGeom>
          <a:solidFill>
            <a:srgbClr val="00A650"/>
          </a:solidFill>
          <a:ln/>
        </p:spPr>
      </p:sp>
      <p:sp>
        <p:nvSpPr>
          <p:cNvPr id="55" name="Text 53"/>
          <p:cNvSpPr/>
          <p:nvPr/>
        </p:nvSpPr>
        <p:spPr>
          <a:xfrm>
            <a:off x="3703320" y="3456432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6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3400" dirty="0"/>
          </a:p>
        </p:txBody>
      </p:sp>
      <p:sp>
        <p:nvSpPr>
          <p:cNvPr id="56" name="Text 54"/>
          <p:cNvSpPr/>
          <p:nvPr/>
        </p:nvSpPr>
        <p:spPr>
          <a:xfrm>
            <a:off x="4407408" y="3566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Diaristas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4407408" y="38953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Solo días peak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566160" y="4251960"/>
            <a:ext cx="2286000" cy="56692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9" name="Text 57"/>
          <p:cNvSpPr/>
          <p:nvPr/>
        </p:nvSpPr>
        <p:spPr>
          <a:xfrm>
            <a:off x="3566160" y="4251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E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$143,600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3566160" y="45537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AAAA"/>
                </a:solidFill>
              </a:rPr>
              <a:t>costo semanal total · cobertura 100%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172200" y="960120"/>
            <a:ext cx="274320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172200" y="960120"/>
            <a:ext cx="2743200" cy="64008"/>
          </a:xfrm>
          <a:prstGeom prst="rect">
            <a:avLst/>
          </a:prstGeom>
          <a:solidFill>
            <a:srgbClr val="00A650"/>
          </a:solidFill>
          <a:ln/>
        </p:spPr>
      </p:sp>
      <p:sp>
        <p:nvSpPr>
          <p:cNvPr id="63" name="Text 61"/>
          <p:cNvSpPr/>
          <p:nvPr/>
        </p:nvSpPr>
        <p:spPr>
          <a:xfrm>
            <a:off x="6309360" y="10241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 Estrategia 12 Semanas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309360" y="1417320"/>
            <a:ext cx="502920" cy="502920"/>
          </a:xfrm>
          <a:prstGeom prst="rect">
            <a:avLst/>
          </a:prstGeom>
          <a:solidFill>
            <a:srgbClr val="00A650"/>
          </a:solidFill>
          <a:ln/>
        </p:spPr>
      </p:sp>
      <p:sp>
        <p:nvSpPr>
          <p:cNvPr id="65" name="Text 63"/>
          <p:cNvSpPr/>
          <p:nvPr/>
        </p:nvSpPr>
        <p:spPr>
          <a:xfrm>
            <a:off x="630936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P60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876288" y="14447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FT base al P60 del forecast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876288" y="16916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Cubre el 60% de escenarios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sin activar Diaristas.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6309360" y="2258568"/>
            <a:ext cx="502920" cy="502920"/>
          </a:xfrm>
          <a:prstGeom prst="rect">
            <a:avLst/>
          </a:prstGeom>
          <a:solidFill>
            <a:srgbClr val="00B2A9"/>
          </a:solidFill>
          <a:ln/>
        </p:spPr>
      </p:sp>
      <p:sp>
        <p:nvSpPr>
          <p:cNvPr id="69" name="Text 67"/>
          <p:cNvSpPr/>
          <p:nvPr/>
        </p:nvSpPr>
        <p:spPr>
          <a:xfrm>
            <a:off x="6309360" y="2258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876288" y="2286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Diaristas como capa flex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876288" y="25328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Máx. 20% del HC total.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Activación/desactivación semanal.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6309360" y="3099816"/>
            <a:ext cx="502920" cy="50292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73" name="Text 71"/>
          <p:cNvSpPr/>
          <p:nvPr/>
        </p:nvSpPr>
        <p:spPr>
          <a:xfrm>
            <a:off x="6309360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4S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6876288" y="31272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Revisión FT cada 4 semanas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6876288" y="33741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Solo si forecast desvía &gt;15%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</a:rPr>
              <a:t>por 2 semanas consecutivas.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6309360" y="3977640"/>
            <a:ext cx="2468880" cy="8686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7" name="Shape 75"/>
          <p:cNvSpPr/>
          <p:nvPr/>
        </p:nvSpPr>
        <p:spPr>
          <a:xfrm>
            <a:off x="6309360" y="3977640"/>
            <a:ext cx="2468880" cy="4572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78" name="Text 76"/>
          <p:cNvSpPr/>
          <p:nvPr/>
        </p:nvSpPr>
        <p:spPr>
          <a:xfrm>
            <a:off x="6309360" y="40233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E600"/>
                </a:solidFill>
              </a:rPr>
              <a:t>KPI · SER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6309360" y="42062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HC Real / HC Planeado × 100%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6309360" y="44165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CB77"/>
                </a:solidFill>
              </a:rPr>
              <a:t>Zona óptima: 95–105%  ·  Diario × turno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E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SQL + Insights de Negocio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846320" cy="384048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SQL — BigQuery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</a:t>
            </a:r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</a:t>
            </a:r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 (...),
</a:t>
            </a:r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pedidos</a:t>
            </a:r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 (...)
</a:t>
            </a:r>
            <a:pPr indent="0" marL="0">
              <a:buNone/>
            </a:pPr>
            <a:r>
              <a:rPr lang="en-US" sz="9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c.pais, </a:t>
            </a:r>
            <a:pPr indent="0" marL="0"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(p.total) AS total_ventas
</a:t>
            </a:r>
            <a:pPr indent="0" marL="0">
              <a:buNone/>
            </a:pPr>
            <a:r>
              <a:rPr lang="en-US" sz="9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pedidos p
</a:t>
            </a:r>
            <a:pPr indent="0" marL="0">
              <a:buNone/>
            </a:pPr>
            <a:r>
              <a:rPr lang="en-US" sz="9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 c ON p.id_cliente = c.id_cliente
</a:t>
            </a:r>
            <a:pPr indent="0" marL="0">
              <a:buNone/>
            </a:pPr>
            <a:r>
              <a:rPr lang="en-US" sz="9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</a:t>
            </a:r>
            <a:pPr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p.fecha BETWEEN '2024-01-01' AND '2024-12-31'
</a:t>
            </a:r>
            <a:pPr indent="0" marL="0">
              <a:buNone/>
            </a:pPr>
            <a:r>
              <a:rPr lang="en-US" sz="9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c.pais
</a:t>
            </a:r>
            <a:pPr indent="0" marL="0">
              <a:buNone/>
            </a:pPr>
            <a:r>
              <a:rPr lang="en-US" sz="9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</a:t>
            </a:r>
            <a:pPr indent="0" marL="0">
              <a:buNone/>
            </a:pPr>
            <a:r>
              <a:rPr lang="en-US" sz="9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SUM(p.total) &gt; </a:t>
            </a:r>
            <a:pPr indent="0" marL="0">
              <a:buNone/>
            </a:pPr>
            <a:r>
              <a:rPr lang="en-US" sz="9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  </a:t>
            </a:r>
            <a:pPr indent="0" marL="0">
              <a:buNone/>
            </a:pPr>
            <a:r>
              <a:rPr lang="en-US" sz="9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total_ventas DESC;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3035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E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Resultado: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91840"/>
          <a:ext cx="4572000" cy="594360"/>
        </p:xfrm>
        <a:graphic>
          <a:graphicData uri="http://schemas.openxmlformats.org/drawingml/2006/table">
            <a:tbl>
              <a:tblPr/>
              <a:tblGrid>
                <a:gridCol w="2560320"/>
                <a:gridCol w="2011680"/>
              </a:tblGrid>
              <a:tr h="1485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país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total_ventas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00"/>
                    </a:solidFill>
                  </a:tcPr>
                </a:tc>
              </a:tr>
              <a:tr h="1485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México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A650"/>
                          </a:solidFill>
                        </a:rPr>
                        <a:t>$700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1485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Colombia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A650"/>
                          </a:solidFill>
                        </a:rPr>
                        <a:t>$600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1485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España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A650"/>
                          </a:solidFill>
                        </a:rPr>
                        <a:t>$550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257800" y="960120"/>
            <a:ext cx="3611880" cy="1170432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257800" y="960120"/>
            <a:ext cx="54864" cy="1170432"/>
          </a:xfrm>
          <a:prstGeom prst="rect">
            <a:avLst/>
          </a:prstGeom>
          <a:solidFill>
            <a:srgbClr val="00B2A9"/>
          </a:solidFill>
          <a:ln/>
        </p:spPr>
      </p:sp>
      <p:sp>
        <p:nvSpPr>
          <p:cNvPr id="11" name="Shape 8"/>
          <p:cNvSpPr/>
          <p:nvPr/>
        </p:nvSpPr>
        <p:spPr>
          <a:xfrm>
            <a:off x="5376672" y="1069848"/>
            <a:ext cx="420624" cy="420624"/>
          </a:xfrm>
          <a:prstGeom prst="ellipse">
            <a:avLst/>
          </a:prstGeom>
          <a:solidFill>
            <a:srgbClr val="00B2A9"/>
          </a:solidFill>
          <a:ln/>
        </p:spPr>
      </p:sp>
      <p:sp>
        <p:nvSpPr>
          <p:cNvPr id="12" name="Text 9"/>
          <p:cNvSpPr/>
          <p:nvPr/>
        </p:nvSpPr>
        <p:spPr>
          <a:xfrm>
            <a:off x="5376672" y="1069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870448" y="1088136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Concentración &gt; Volumen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376672" y="147218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peak HC lo define la curva de procesamiento, no el total de paquetes del día. Lunes: 18,400 pkgs → 33 HC. Martes: 13,987 pkgs → 37 HC.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257800" y="2240280"/>
            <a:ext cx="3611880" cy="1170432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257800" y="2240280"/>
            <a:ext cx="54864" cy="1170432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17" name="Shape 14"/>
          <p:cNvSpPr/>
          <p:nvPr/>
        </p:nvSpPr>
        <p:spPr>
          <a:xfrm>
            <a:off x="5376672" y="2350008"/>
            <a:ext cx="420624" cy="420624"/>
          </a:xfrm>
          <a:prstGeom prst="ellipse">
            <a:avLst/>
          </a:prstGeom>
          <a:solidFill>
            <a:srgbClr val="003087"/>
          </a:solidFill>
          <a:ln/>
        </p:spPr>
      </p:sp>
      <p:sp>
        <p:nvSpPr>
          <p:cNvPr id="18" name="Text 15"/>
          <p:cNvSpPr/>
          <p:nvPr/>
        </p:nvSpPr>
        <p:spPr>
          <a:xfrm>
            <a:off x="5376672" y="2350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870448" y="2368296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Domingo libre = 100% cobertura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376672" y="275234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el día libre al único día sin operación elimina huecos de cobertura sin costo adicional de Diaristas.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257800" y="3520440"/>
            <a:ext cx="3611880" cy="1170432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257800" y="3520440"/>
            <a:ext cx="54864" cy="1170432"/>
          </a:xfrm>
          <a:prstGeom prst="rect">
            <a:avLst/>
          </a:prstGeom>
          <a:solidFill>
            <a:srgbClr val="00A650"/>
          </a:solidFill>
          <a:ln/>
        </p:spPr>
      </p:sp>
      <p:sp>
        <p:nvSpPr>
          <p:cNvPr id="23" name="Shape 20"/>
          <p:cNvSpPr/>
          <p:nvPr/>
        </p:nvSpPr>
        <p:spPr>
          <a:xfrm>
            <a:off x="5376672" y="3630168"/>
            <a:ext cx="420624" cy="420624"/>
          </a:xfrm>
          <a:prstGeom prst="ellipse">
            <a:avLst/>
          </a:prstGeom>
          <a:solidFill>
            <a:srgbClr val="00A650"/>
          </a:solidFill>
          <a:ln/>
        </p:spPr>
      </p:sp>
      <p:sp>
        <p:nvSpPr>
          <p:cNvPr id="24" name="Text 21"/>
          <p:cNvSpPr/>
          <p:nvPr/>
        </p:nvSpPr>
        <p:spPr>
          <a:xfrm>
            <a:off x="5376672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870448" y="3648456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 &gt; tight staffing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376672" y="403250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P60 + Flex Diaristas absorbe ±10% de volatilidad de forecast sin rotación de FT ni pérdida de engagement.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257800" y="4773168"/>
            <a:ext cx="3611880" cy="3657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8" name="Text 25"/>
          <p:cNvSpPr/>
          <p:nvPr/>
        </p:nvSpPr>
        <p:spPr>
          <a:xfrm>
            <a:off x="5257800" y="47731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E600"/>
                </a:solidFill>
              </a:rPr>
              <a:t>Python · BigQuery · Excel  ·  MXXPB1 S27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S&amp;OP UTR — Resumen Ejecutivo</dc:title>
  <dc:subject>PptxGenJS Presentation</dc:subject>
  <dc:creator>PptxGenJS</dc:creator>
  <cp:lastModifiedBy>PptxGenJS</cp:lastModifiedBy>
  <cp:revision>1</cp:revision>
  <dcterms:created xsi:type="dcterms:W3CDTF">2026-06-03T06:51:35Z</dcterms:created>
  <dcterms:modified xsi:type="dcterms:W3CDTF">2026-06-03T06:51:35Z</dcterms:modified>
</cp:coreProperties>
</file>